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6"/>
  </p:notesMasterIdLst>
  <p:handoutMasterIdLst>
    <p:handoutMasterId r:id="rId57"/>
  </p:handoutMasterIdLst>
  <p:sldIdLst>
    <p:sldId id="256" r:id="rId2"/>
    <p:sldId id="443" r:id="rId3"/>
    <p:sldId id="471" r:id="rId4"/>
    <p:sldId id="472" r:id="rId5"/>
    <p:sldId id="480" r:id="rId6"/>
    <p:sldId id="473" r:id="rId7"/>
    <p:sldId id="469" r:id="rId8"/>
    <p:sldId id="470" r:id="rId9"/>
    <p:sldId id="479" r:id="rId10"/>
    <p:sldId id="466" r:id="rId11"/>
    <p:sldId id="467" r:id="rId12"/>
    <p:sldId id="468" r:id="rId13"/>
    <p:sldId id="477" r:id="rId14"/>
    <p:sldId id="478" r:id="rId15"/>
    <p:sldId id="475" r:id="rId16"/>
    <p:sldId id="476" r:id="rId17"/>
    <p:sldId id="451" r:id="rId18"/>
    <p:sldId id="272" r:id="rId19"/>
    <p:sldId id="269" r:id="rId20"/>
    <p:sldId id="430" r:id="rId21"/>
    <p:sldId id="263" r:id="rId22"/>
    <p:sldId id="433" r:id="rId23"/>
    <p:sldId id="265" r:id="rId24"/>
    <p:sldId id="427" r:id="rId25"/>
    <p:sldId id="291" r:id="rId26"/>
    <p:sldId id="275" r:id="rId27"/>
    <p:sldId id="292" r:id="rId28"/>
    <p:sldId id="277" r:id="rId29"/>
    <p:sldId id="278" r:id="rId30"/>
    <p:sldId id="481" r:id="rId31"/>
    <p:sldId id="482" r:id="rId32"/>
    <p:sldId id="483" r:id="rId33"/>
    <p:sldId id="484" r:id="rId34"/>
    <p:sldId id="485" r:id="rId35"/>
    <p:sldId id="486" r:id="rId36"/>
    <p:sldId id="487" r:id="rId37"/>
    <p:sldId id="488" r:id="rId38"/>
    <p:sldId id="489" r:id="rId39"/>
    <p:sldId id="490" r:id="rId40"/>
    <p:sldId id="491" r:id="rId41"/>
    <p:sldId id="492" r:id="rId42"/>
    <p:sldId id="493" r:id="rId43"/>
    <p:sldId id="494" r:id="rId44"/>
    <p:sldId id="495" r:id="rId45"/>
    <p:sldId id="496" r:id="rId46"/>
    <p:sldId id="497" r:id="rId47"/>
    <p:sldId id="498" r:id="rId48"/>
    <p:sldId id="499" r:id="rId49"/>
    <p:sldId id="500" r:id="rId50"/>
    <p:sldId id="501" r:id="rId51"/>
    <p:sldId id="502" r:id="rId52"/>
    <p:sldId id="503" r:id="rId53"/>
    <p:sldId id="504" r:id="rId54"/>
    <p:sldId id="505" r:id="rId5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D60093"/>
    <a:srgbClr val="008000"/>
    <a:srgbClr val="CC0066"/>
    <a:srgbClr val="FF00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673" autoAdjust="0"/>
  </p:normalViewPr>
  <p:slideViewPr>
    <p:cSldViewPr>
      <p:cViewPr varScale="1">
        <p:scale>
          <a:sx n="74" d="100"/>
          <a:sy n="74" d="100"/>
        </p:scale>
        <p:origin x="1742" y="4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AF4A99-25E1-44F9-90C0-EA66CF00B3B6}"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en-US"/>
        </a:p>
      </dgm:t>
    </dgm:pt>
    <dgm:pt modelId="{B28448BA-C9A8-43EB-A9DB-A0137196E3B9}">
      <dgm:prSet phldrT="[Text]" custT="1"/>
      <dgm:spPr/>
      <dgm:t>
        <a:bodyPr/>
        <a:lstStyle/>
        <a:p>
          <a:r>
            <a:rPr lang="en-US" sz="2400" b="1" dirty="0"/>
            <a:t>High dim. data</a:t>
          </a:r>
        </a:p>
      </dgm:t>
    </dgm:pt>
    <dgm:pt modelId="{3A37FA3F-0269-460F-ACCD-01DD513605A2}" type="parTrans" cxnId="{721BA034-D2BB-4F5E-AD28-4CD4B0B4FA35}">
      <dgm:prSet/>
      <dgm:spPr/>
      <dgm:t>
        <a:bodyPr/>
        <a:lstStyle/>
        <a:p>
          <a:endParaRPr lang="en-US"/>
        </a:p>
      </dgm:t>
    </dgm:pt>
    <dgm:pt modelId="{20234B47-CD57-4C94-B27A-16836C4AA9A8}" type="sibTrans" cxnId="{721BA034-D2BB-4F5E-AD28-4CD4B0B4FA35}">
      <dgm:prSet/>
      <dgm:spPr/>
      <dgm:t>
        <a:bodyPr/>
        <a:lstStyle/>
        <a:p>
          <a:endParaRPr lang="en-US"/>
        </a:p>
      </dgm:t>
    </dgm:pt>
    <dgm:pt modelId="{E9F388D8-C9C2-45F4-B532-779E8C2CB5E8}">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Locality sensitive hashing</a:t>
          </a:r>
        </a:p>
      </dgm:t>
    </dgm:pt>
    <dgm:pt modelId="{F2F7FB25-05F2-4ED0-B376-8372ACCE43FB}" type="parTrans" cxnId="{95C3269C-8E66-454E-90E4-64EBD4DB49A5}">
      <dgm:prSet/>
      <dgm:spPr/>
      <dgm:t>
        <a:bodyPr/>
        <a:lstStyle/>
        <a:p>
          <a:endParaRPr lang="en-US"/>
        </a:p>
      </dgm:t>
    </dgm:pt>
    <dgm:pt modelId="{1AE97BAD-F576-4336-A510-388E6942CDAC}" type="sibTrans" cxnId="{95C3269C-8E66-454E-90E4-64EBD4DB49A5}">
      <dgm:prSet/>
      <dgm:spPr/>
      <dgm:t>
        <a:bodyPr/>
        <a:lstStyle/>
        <a:p>
          <a:endParaRPr lang="en-US"/>
        </a:p>
      </dgm:t>
    </dgm:pt>
    <dgm:pt modelId="{E12CEE09-DEBB-4435-B911-A40A12F7930D}">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Clustering</a:t>
          </a:r>
        </a:p>
      </dgm:t>
    </dgm:pt>
    <dgm:pt modelId="{A642C0CA-D97F-4EA3-928C-13F990F569A1}" type="parTrans" cxnId="{751DC194-11AC-4068-BA1C-4404C839BDBA}">
      <dgm:prSet/>
      <dgm:spPr/>
      <dgm:t>
        <a:bodyPr/>
        <a:lstStyle/>
        <a:p>
          <a:endParaRPr lang="en-US"/>
        </a:p>
      </dgm:t>
    </dgm:pt>
    <dgm:pt modelId="{CF3DF39F-9248-4761-840A-28F131DA740D}" type="sibTrans" cxnId="{751DC194-11AC-4068-BA1C-4404C839BDBA}">
      <dgm:prSet/>
      <dgm:spPr/>
      <dgm:t>
        <a:bodyPr/>
        <a:lstStyle/>
        <a:p>
          <a:endParaRPr lang="en-US"/>
        </a:p>
      </dgm:t>
    </dgm:pt>
    <dgm:pt modelId="{5FC74589-1769-4EB4-9E51-9D82632D2E02}">
      <dgm:prSet phldrT="[Text]" custT="1"/>
      <dgm:spPr/>
      <dgm:t>
        <a:bodyPr/>
        <a:lstStyle/>
        <a:p>
          <a:r>
            <a:rPr lang="en-US" sz="2400" b="1" dirty="0"/>
            <a:t>Graph </a:t>
          </a:r>
          <a:br>
            <a:rPr lang="en-US" sz="2400" b="1" dirty="0"/>
          </a:br>
          <a:r>
            <a:rPr lang="en-US" sz="2400" b="1" dirty="0"/>
            <a:t>data</a:t>
          </a:r>
        </a:p>
      </dgm:t>
    </dgm:pt>
    <dgm:pt modelId="{4D0CCF7E-4481-42D2-95B3-0CB4029368E1}" type="parTrans" cxnId="{EA2FD3B8-722B-4877-B8F1-EEA7710C1B84}">
      <dgm:prSet/>
      <dgm:spPr/>
      <dgm:t>
        <a:bodyPr/>
        <a:lstStyle/>
        <a:p>
          <a:endParaRPr lang="en-US"/>
        </a:p>
      </dgm:t>
    </dgm:pt>
    <dgm:pt modelId="{8EB806C9-A9BC-450F-B9C3-AC2ED6D3AF68}" type="sibTrans" cxnId="{EA2FD3B8-722B-4877-B8F1-EEA7710C1B84}">
      <dgm:prSet/>
      <dgm:spPr/>
      <dgm:t>
        <a:bodyPr/>
        <a:lstStyle/>
        <a:p>
          <a:endParaRPr lang="en-US"/>
        </a:p>
      </dgm:t>
    </dgm:pt>
    <dgm:pt modelId="{B8FE7A32-1B20-4D46-8242-6C91907A490E}">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PageRank, </a:t>
          </a:r>
          <a:r>
            <a:rPr lang="en-US" sz="1800" dirty="0" err="1">
              <a:latin typeface="Calibri" pitchFamily="34" charset="0"/>
              <a:cs typeface="Calibri" pitchFamily="34" charset="0"/>
            </a:rPr>
            <a:t>SimRank</a:t>
          </a:r>
          <a:endParaRPr lang="en-US" sz="1800" dirty="0">
            <a:latin typeface="Calibri" pitchFamily="34" charset="0"/>
            <a:cs typeface="Calibri" pitchFamily="34" charset="0"/>
          </a:endParaRPr>
        </a:p>
      </dgm:t>
    </dgm:pt>
    <dgm:pt modelId="{86CD367E-951E-4F4B-BFC7-6603B931690A}" type="parTrans" cxnId="{35679A9F-A9C0-40B5-BA5C-B5D89AD516EE}">
      <dgm:prSet/>
      <dgm:spPr/>
      <dgm:t>
        <a:bodyPr/>
        <a:lstStyle/>
        <a:p>
          <a:endParaRPr lang="en-US"/>
        </a:p>
      </dgm:t>
    </dgm:pt>
    <dgm:pt modelId="{03DB6E86-A49B-4AF5-9791-CBACA4C5335D}" type="sibTrans" cxnId="{35679A9F-A9C0-40B5-BA5C-B5D89AD516EE}">
      <dgm:prSet/>
      <dgm:spPr/>
      <dgm:t>
        <a:bodyPr/>
        <a:lstStyle/>
        <a:p>
          <a:endParaRPr lang="en-US"/>
        </a:p>
      </dgm:t>
    </dgm:pt>
    <dgm:pt modelId="{EFD7AB2D-81E2-448E-B54E-4F3622AF7EF9}">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Community Detection</a:t>
          </a:r>
        </a:p>
      </dgm:t>
    </dgm:pt>
    <dgm:pt modelId="{36574C9A-C9D9-41B3-A499-07AB4199CF7F}" type="parTrans" cxnId="{E8E1CBC2-E886-44D5-B930-C0A4D16118C4}">
      <dgm:prSet/>
      <dgm:spPr/>
      <dgm:t>
        <a:bodyPr/>
        <a:lstStyle/>
        <a:p>
          <a:endParaRPr lang="en-US"/>
        </a:p>
      </dgm:t>
    </dgm:pt>
    <dgm:pt modelId="{0FFBD1E1-7F1E-48F7-8092-88463CF1F65B}" type="sibTrans" cxnId="{E8E1CBC2-E886-44D5-B930-C0A4D16118C4}">
      <dgm:prSet/>
      <dgm:spPr/>
      <dgm:t>
        <a:bodyPr/>
        <a:lstStyle/>
        <a:p>
          <a:endParaRPr lang="en-US"/>
        </a:p>
      </dgm:t>
    </dgm:pt>
    <dgm:pt modelId="{A0A9AC20-5EC1-4862-BFC8-870928838544}">
      <dgm:prSet phldrT="[Text]" custT="1"/>
      <dgm:spPr/>
      <dgm:t>
        <a:bodyPr/>
        <a:lstStyle/>
        <a:p>
          <a:r>
            <a:rPr lang="en-US" sz="2400" b="1" dirty="0"/>
            <a:t>Infinite </a:t>
          </a:r>
          <a:br>
            <a:rPr lang="en-US" sz="2400" b="1" dirty="0"/>
          </a:br>
          <a:r>
            <a:rPr lang="en-US" sz="2400" b="1" dirty="0"/>
            <a:t>data</a:t>
          </a:r>
        </a:p>
      </dgm:t>
    </dgm:pt>
    <dgm:pt modelId="{69D52F25-6ACE-45DA-A9E8-1893E3A26C8C}" type="parTrans" cxnId="{E39A2E7D-4B01-443C-A093-8728A9F528A1}">
      <dgm:prSet/>
      <dgm:spPr/>
      <dgm:t>
        <a:bodyPr/>
        <a:lstStyle/>
        <a:p>
          <a:endParaRPr lang="en-US"/>
        </a:p>
      </dgm:t>
    </dgm:pt>
    <dgm:pt modelId="{FF5EAA6B-D3D9-4221-A79F-E9B4930D1CEF}" type="sibTrans" cxnId="{E39A2E7D-4B01-443C-A093-8728A9F528A1}">
      <dgm:prSet/>
      <dgm:spPr/>
      <dgm:t>
        <a:bodyPr/>
        <a:lstStyle/>
        <a:p>
          <a:endParaRPr lang="en-US"/>
        </a:p>
      </dgm:t>
    </dgm:pt>
    <dgm:pt modelId="{6856B0CF-FE68-485F-BF49-CA4A93F4F38C}">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Filtering data streams</a:t>
          </a:r>
        </a:p>
      </dgm:t>
    </dgm:pt>
    <dgm:pt modelId="{B52856D9-283B-499D-AE83-3A1B0694F8DA}" type="parTrans" cxnId="{1151B3DC-BFA5-46C2-A674-0EE40A938C5A}">
      <dgm:prSet/>
      <dgm:spPr/>
      <dgm:t>
        <a:bodyPr/>
        <a:lstStyle/>
        <a:p>
          <a:endParaRPr lang="en-US"/>
        </a:p>
      </dgm:t>
    </dgm:pt>
    <dgm:pt modelId="{60145AD2-C0A0-4426-8839-F8800D94963F}" type="sibTrans" cxnId="{1151B3DC-BFA5-46C2-A674-0EE40A938C5A}">
      <dgm:prSet/>
      <dgm:spPr/>
      <dgm:t>
        <a:bodyPr/>
        <a:lstStyle/>
        <a:p>
          <a:endParaRPr lang="en-US"/>
        </a:p>
      </dgm:t>
    </dgm:pt>
    <dgm:pt modelId="{5DA147F9-347F-4A9B-99C6-4679CBA742BD}">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Web advertising</a:t>
          </a:r>
        </a:p>
      </dgm:t>
    </dgm:pt>
    <dgm:pt modelId="{0DD651B9-CD26-4B12-B47E-A345F5C781A5}" type="parTrans" cxnId="{D2E71B6A-2ED0-4063-83D4-B7F1634C0332}">
      <dgm:prSet/>
      <dgm:spPr/>
      <dgm:t>
        <a:bodyPr/>
        <a:lstStyle/>
        <a:p>
          <a:endParaRPr lang="en-US"/>
        </a:p>
      </dgm:t>
    </dgm:pt>
    <dgm:pt modelId="{A279CC5C-DF39-4624-BFA5-ADC04410EA91}" type="sibTrans" cxnId="{D2E71B6A-2ED0-4063-83D4-B7F1634C0332}">
      <dgm:prSet/>
      <dgm:spPr/>
      <dgm:t>
        <a:bodyPr/>
        <a:lstStyle/>
        <a:p>
          <a:endParaRPr lang="en-US"/>
        </a:p>
      </dgm:t>
    </dgm:pt>
    <dgm:pt modelId="{91B14D9B-61DF-4421-AF43-318BB0021BDF}">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Dimensionality reduction</a:t>
          </a:r>
        </a:p>
      </dgm:t>
    </dgm:pt>
    <dgm:pt modelId="{6B1A9D79-1E1A-438E-9974-41204E573EDC}" type="parTrans" cxnId="{CDF2CC16-ED87-4552-8B18-DAAA2A151437}">
      <dgm:prSet/>
      <dgm:spPr/>
      <dgm:t>
        <a:bodyPr/>
        <a:lstStyle/>
        <a:p>
          <a:endParaRPr lang="en-US"/>
        </a:p>
      </dgm:t>
    </dgm:pt>
    <dgm:pt modelId="{5E874D73-6215-4109-909C-386CFCBBE123}" type="sibTrans" cxnId="{CDF2CC16-ED87-4552-8B18-DAAA2A151437}">
      <dgm:prSet/>
      <dgm:spPr/>
      <dgm:t>
        <a:bodyPr/>
        <a:lstStyle/>
        <a:p>
          <a:endParaRPr lang="en-US"/>
        </a:p>
      </dgm:t>
    </dgm:pt>
    <dgm:pt modelId="{FF0CDCCC-6F78-4064-A419-5EC5C753206F}">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Spam Detection</a:t>
          </a:r>
        </a:p>
      </dgm:t>
    </dgm:pt>
    <dgm:pt modelId="{C96EA5C7-A653-4A83-8F75-8585A07C9C8F}" type="parTrans" cxnId="{CD174D1A-F576-42A5-8360-9F1F6FB5C8D5}">
      <dgm:prSet/>
      <dgm:spPr/>
      <dgm:t>
        <a:bodyPr/>
        <a:lstStyle/>
        <a:p>
          <a:endParaRPr lang="en-US"/>
        </a:p>
      </dgm:t>
    </dgm:pt>
    <dgm:pt modelId="{8E668476-E60C-485B-B9C7-8F9496C26DF3}" type="sibTrans" cxnId="{CD174D1A-F576-42A5-8360-9F1F6FB5C8D5}">
      <dgm:prSet/>
      <dgm:spPr/>
      <dgm:t>
        <a:bodyPr/>
        <a:lstStyle/>
        <a:p>
          <a:endParaRPr lang="en-US"/>
        </a:p>
      </dgm:t>
    </dgm:pt>
    <dgm:pt modelId="{06D87D35-A66C-427C-B6DB-AF958D65D6B3}">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Queries on streams</a:t>
          </a:r>
        </a:p>
      </dgm:t>
    </dgm:pt>
    <dgm:pt modelId="{9A4B31E9-014C-4B63-A219-5A63A8ACB829}" type="parTrans" cxnId="{03033C8E-546A-4636-B996-DCA3A7F5D692}">
      <dgm:prSet/>
      <dgm:spPr/>
      <dgm:t>
        <a:bodyPr/>
        <a:lstStyle/>
        <a:p>
          <a:endParaRPr lang="en-US"/>
        </a:p>
      </dgm:t>
    </dgm:pt>
    <dgm:pt modelId="{AC1F3899-4696-4923-97F3-8D3FBB96254A}" type="sibTrans" cxnId="{03033C8E-546A-4636-B996-DCA3A7F5D692}">
      <dgm:prSet/>
      <dgm:spPr/>
      <dgm:t>
        <a:bodyPr/>
        <a:lstStyle/>
        <a:p>
          <a:endParaRPr lang="en-US"/>
        </a:p>
      </dgm:t>
    </dgm:pt>
    <dgm:pt modelId="{EA22DC01-B1C3-4425-86ED-5B66953397A8}">
      <dgm:prSet phldrT="[Text]" custT="1"/>
      <dgm:spPr/>
      <dgm:t>
        <a:bodyPr/>
        <a:lstStyle/>
        <a:p>
          <a:r>
            <a:rPr lang="en-US" sz="2400" b="1" dirty="0"/>
            <a:t>Machine learning</a:t>
          </a:r>
        </a:p>
      </dgm:t>
    </dgm:pt>
    <dgm:pt modelId="{5D0A80B1-3E50-448A-A64D-AD1355ED3022}" type="parTrans" cxnId="{6DB72DBE-E82A-47EF-ACEA-E04B7B517F26}">
      <dgm:prSet/>
      <dgm:spPr/>
      <dgm:t>
        <a:bodyPr/>
        <a:lstStyle/>
        <a:p>
          <a:endParaRPr lang="en-US"/>
        </a:p>
      </dgm:t>
    </dgm:pt>
    <dgm:pt modelId="{A9D991C7-41FC-48B5-87C1-98EB407695FE}" type="sibTrans" cxnId="{6DB72DBE-E82A-47EF-ACEA-E04B7B517F26}">
      <dgm:prSet/>
      <dgm:spPr/>
      <dgm:t>
        <a:bodyPr/>
        <a:lstStyle/>
        <a:p>
          <a:endParaRPr lang="en-US"/>
        </a:p>
      </dgm:t>
    </dgm:pt>
    <dgm:pt modelId="{BC15291E-510A-4A20-8D69-B0F2ACBA3CC6}">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SVM</a:t>
          </a:r>
        </a:p>
      </dgm:t>
    </dgm:pt>
    <dgm:pt modelId="{DDAF1636-99A0-4E4C-BF8B-7A50EC838E24}" type="parTrans" cxnId="{53D00FBE-0B8C-44B8-BD7B-FF723D810987}">
      <dgm:prSet/>
      <dgm:spPr/>
      <dgm:t>
        <a:bodyPr/>
        <a:lstStyle/>
        <a:p>
          <a:endParaRPr lang="en-US"/>
        </a:p>
      </dgm:t>
    </dgm:pt>
    <dgm:pt modelId="{25F65FF3-A145-4450-BC4A-2BD6189C0F89}" type="sibTrans" cxnId="{53D00FBE-0B8C-44B8-BD7B-FF723D810987}">
      <dgm:prSet/>
      <dgm:spPr/>
      <dgm:t>
        <a:bodyPr/>
        <a:lstStyle/>
        <a:p>
          <a:endParaRPr lang="en-US"/>
        </a:p>
      </dgm:t>
    </dgm:pt>
    <dgm:pt modelId="{86AB53FA-67D7-4EE7-8555-3EE8EB6FA4C8}">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Decision Trees</a:t>
          </a:r>
        </a:p>
      </dgm:t>
    </dgm:pt>
    <dgm:pt modelId="{EA03EBDD-B26B-4044-993F-F3F8F5C83B54}" type="parTrans" cxnId="{6723F50B-AA47-4273-81EA-65E1F5EA34FA}">
      <dgm:prSet/>
      <dgm:spPr/>
      <dgm:t>
        <a:bodyPr/>
        <a:lstStyle/>
        <a:p>
          <a:endParaRPr lang="en-US"/>
        </a:p>
      </dgm:t>
    </dgm:pt>
    <dgm:pt modelId="{AD9FF113-925C-46F3-AC17-3E3C7A57FE37}" type="sibTrans" cxnId="{6723F50B-AA47-4273-81EA-65E1F5EA34FA}">
      <dgm:prSet/>
      <dgm:spPr/>
      <dgm:t>
        <a:bodyPr/>
        <a:lstStyle/>
        <a:p>
          <a:endParaRPr lang="en-US"/>
        </a:p>
      </dgm:t>
    </dgm:pt>
    <dgm:pt modelId="{67EC18BA-DB21-4AAD-BE8A-067C85A9B73E}">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Perceptron, </a:t>
          </a:r>
          <a:r>
            <a:rPr lang="en-US" sz="1800" dirty="0" err="1">
              <a:latin typeface="Calibri" pitchFamily="34" charset="0"/>
              <a:cs typeface="Calibri" pitchFamily="34" charset="0"/>
            </a:rPr>
            <a:t>kNN</a:t>
          </a:r>
          <a:endParaRPr lang="en-US" sz="1800" dirty="0">
            <a:latin typeface="Calibri" pitchFamily="34" charset="0"/>
            <a:cs typeface="Calibri" pitchFamily="34" charset="0"/>
          </a:endParaRPr>
        </a:p>
      </dgm:t>
    </dgm:pt>
    <dgm:pt modelId="{8918E5B2-4513-4EC4-8164-E88158F78E11}" type="parTrans" cxnId="{090367F2-2F9D-429E-8090-D374C3282399}">
      <dgm:prSet/>
      <dgm:spPr/>
      <dgm:t>
        <a:bodyPr/>
        <a:lstStyle/>
        <a:p>
          <a:endParaRPr lang="en-US"/>
        </a:p>
      </dgm:t>
    </dgm:pt>
    <dgm:pt modelId="{FAC02AF5-6F72-4EED-98CA-D68C7F3B5D5A}" type="sibTrans" cxnId="{090367F2-2F9D-429E-8090-D374C3282399}">
      <dgm:prSet/>
      <dgm:spPr/>
      <dgm:t>
        <a:bodyPr/>
        <a:lstStyle/>
        <a:p>
          <a:endParaRPr lang="en-US"/>
        </a:p>
      </dgm:t>
    </dgm:pt>
    <dgm:pt modelId="{7D17D413-1C96-46A5-9E85-72C6636AE3C5}">
      <dgm:prSet phldrT="[Text]" custT="1"/>
      <dgm:spPr/>
      <dgm:t>
        <a:bodyPr/>
        <a:lstStyle/>
        <a:p>
          <a:r>
            <a:rPr lang="en-US" sz="2400" b="1" dirty="0"/>
            <a:t>Apps</a:t>
          </a:r>
        </a:p>
      </dgm:t>
    </dgm:pt>
    <dgm:pt modelId="{91A59BF2-53A7-4244-ADC4-8913701DE4BA}" type="parTrans" cxnId="{D9E35F5C-9C04-4B00-BAD8-AD36F1DD39DE}">
      <dgm:prSet/>
      <dgm:spPr/>
      <dgm:t>
        <a:bodyPr/>
        <a:lstStyle/>
        <a:p>
          <a:endParaRPr lang="en-US"/>
        </a:p>
      </dgm:t>
    </dgm:pt>
    <dgm:pt modelId="{06AA36B4-E14B-4E14-B273-C8197A0B582E}" type="sibTrans" cxnId="{D9E35F5C-9C04-4B00-BAD8-AD36F1DD39DE}">
      <dgm:prSet/>
      <dgm:spPr/>
      <dgm:t>
        <a:bodyPr/>
        <a:lstStyle/>
        <a:p>
          <a:endParaRPr lang="en-US"/>
        </a:p>
      </dgm:t>
    </dgm:pt>
    <dgm:pt modelId="{A9A35E3D-01EA-46C6-AED8-865E91E9D6C9}">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Recommender systems</a:t>
          </a:r>
        </a:p>
      </dgm:t>
    </dgm:pt>
    <dgm:pt modelId="{0C34515A-9947-4AC4-8E07-6D77FB8F1E95}" type="parTrans" cxnId="{5018CE96-E6CC-471E-9B9C-30F70F6B8CE7}">
      <dgm:prSet/>
      <dgm:spPr/>
      <dgm:t>
        <a:bodyPr/>
        <a:lstStyle/>
        <a:p>
          <a:endParaRPr lang="en-US"/>
        </a:p>
      </dgm:t>
    </dgm:pt>
    <dgm:pt modelId="{3C0EBF76-BD27-4964-B79F-79CC6413DFD1}" type="sibTrans" cxnId="{5018CE96-E6CC-471E-9B9C-30F70F6B8CE7}">
      <dgm:prSet/>
      <dgm:spPr/>
      <dgm:t>
        <a:bodyPr/>
        <a:lstStyle/>
        <a:p>
          <a:endParaRPr lang="en-US"/>
        </a:p>
      </dgm:t>
    </dgm:pt>
    <dgm:pt modelId="{A5325020-A43F-4DC5-B91A-865612236E1B}">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Association Rules</a:t>
          </a:r>
        </a:p>
      </dgm:t>
    </dgm:pt>
    <dgm:pt modelId="{B397B1E6-BB15-4DF4-B38A-02A5DF7C7E5D}" type="parTrans" cxnId="{0949B049-F928-4520-A037-C172C962E0C9}">
      <dgm:prSet/>
      <dgm:spPr/>
      <dgm:t>
        <a:bodyPr/>
        <a:lstStyle/>
        <a:p>
          <a:endParaRPr lang="en-US"/>
        </a:p>
      </dgm:t>
    </dgm:pt>
    <dgm:pt modelId="{E5885318-4367-4D45-A1BC-C2768E0C5F2B}" type="sibTrans" cxnId="{0949B049-F928-4520-A037-C172C962E0C9}">
      <dgm:prSet/>
      <dgm:spPr/>
      <dgm:t>
        <a:bodyPr/>
        <a:lstStyle/>
        <a:p>
          <a:endParaRPr lang="en-US"/>
        </a:p>
      </dgm:t>
    </dgm:pt>
    <dgm:pt modelId="{63784350-6FB5-4F39-A0AA-A76D20385A1A}">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Duplicate document detection</a:t>
          </a:r>
        </a:p>
      </dgm:t>
    </dgm:pt>
    <dgm:pt modelId="{02F99CF5-BE6F-4557-8BB4-68B7181CCBA5}" type="parTrans" cxnId="{CDAE2543-0EE1-4B34-B52E-A8EEEA699492}">
      <dgm:prSet/>
      <dgm:spPr/>
      <dgm:t>
        <a:bodyPr/>
        <a:lstStyle/>
        <a:p>
          <a:endParaRPr lang="en-US"/>
        </a:p>
      </dgm:t>
    </dgm:pt>
    <dgm:pt modelId="{E47CBEBB-6EFF-43F4-952B-B6C93B5E9493}" type="sibTrans" cxnId="{CDAE2543-0EE1-4B34-B52E-A8EEEA699492}">
      <dgm:prSet/>
      <dgm:spPr/>
      <dgm:t>
        <a:bodyPr/>
        <a:lstStyle/>
        <a:p>
          <a:endParaRPr lang="en-US"/>
        </a:p>
      </dgm:t>
    </dgm:pt>
    <dgm:pt modelId="{5473F14B-8F21-412E-B8DE-EADF32D6F521}" type="pres">
      <dgm:prSet presAssocID="{7DAF4A99-25E1-44F9-90C0-EA66CF00B3B6}" presName="theList" presStyleCnt="0">
        <dgm:presLayoutVars>
          <dgm:dir/>
          <dgm:animLvl val="lvl"/>
          <dgm:resizeHandles val="exact"/>
        </dgm:presLayoutVars>
      </dgm:prSet>
      <dgm:spPr/>
    </dgm:pt>
    <dgm:pt modelId="{C0D74A84-CA9B-4A55-82D3-C4473BCAB74F}" type="pres">
      <dgm:prSet presAssocID="{B28448BA-C9A8-43EB-A9DB-A0137196E3B9}" presName="compNode" presStyleCnt="0"/>
      <dgm:spPr/>
    </dgm:pt>
    <dgm:pt modelId="{F5FB40AB-A8F0-43CC-AED2-A0B6D3491F03}" type="pres">
      <dgm:prSet presAssocID="{B28448BA-C9A8-43EB-A9DB-A0137196E3B9}" presName="aNode" presStyleLbl="bgShp" presStyleIdx="0" presStyleCnt="5"/>
      <dgm:spPr/>
    </dgm:pt>
    <dgm:pt modelId="{189EA2CD-99B4-4604-BDBC-34AEB91058A9}" type="pres">
      <dgm:prSet presAssocID="{B28448BA-C9A8-43EB-A9DB-A0137196E3B9}" presName="textNode" presStyleLbl="bgShp" presStyleIdx="0" presStyleCnt="5"/>
      <dgm:spPr/>
    </dgm:pt>
    <dgm:pt modelId="{051CD919-C14E-4FF7-A82B-674D57B30AF8}" type="pres">
      <dgm:prSet presAssocID="{B28448BA-C9A8-43EB-A9DB-A0137196E3B9}" presName="compChildNode" presStyleCnt="0"/>
      <dgm:spPr/>
    </dgm:pt>
    <dgm:pt modelId="{151EFC3A-4B26-48D8-87A4-D28DC0264B02}" type="pres">
      <dgm:prSet presAssocID="{B28448BA-C9A8-43EB-A9DB-A0137196E3B9}" presName="theInnerList" presStyleCnt="0"/>
      <dgm:spPr/>
    </dgm:pt>
    <dgm:pt modelId="{D6B8C86D-B5C5-4707-BB1C-60E6EB9E4EBA}" type="pres">
      <dgm:prSet presAssocID="{E9F388D8-C9C2-45F4-B532-779E8C2CB5E8}" presName="childNode" presStyleLbl="node1" presStyleIdx="0" presStyleCnt="15">
        <dgm:presLayoutVars>
          <dgm:bulletEnabled val="1"/>
        </dgm:presLayoutVars>
      </dgm:prSet>
      <dgm:spPr/>
    </dgm:pt>
    <dgm:pt modelId="{FEA7308F-F292-4734-BC92-11C7BB5AF5E5}" type="pres">
      <dgm:prSet presAssocID="{E9F388D8-C9C2-45F4-B532-779E8C2CB5E8}" presName="aSpace2" presStyleCnt="0"/>
      <dgm:spPr/>
    </dgm:pt>
    <dgm:pt modelId="{20F65450-B565-4F6E-8CBD-65CD2502E3B0}" type="pres">
      <dgm:prSet presAssocID="{E12CEE09-DEBB-4435-B911-A40A12F7930D}" presName="childNode" presStyleLbl="node1" presStyleIdx="1" presStyleCnt="15">
        <dgm:presLayoutVars>
          <dgm:bulletEnabled val="1"/>
        </dgm:presLayoutVars>
      </dgm:prSet>
      <dgm:spPr/>
    </dgm:pt>
    <dgm:pt modelId="{1943ED51-E95A-4F6E-A717-80400DEEEE20}" type="pres">
      <dgm:prSet presAssocID="{E12CEE09-DEBB-4435-B911-A40A12F7930D}" presName="aSpace2" presStyleCnt="0"/>
      <dgm:spPr/>
    </dgm:pt>
    <dgm:pt modelId="{80F88CB8-4B64-4172-B897-E8F8383812F7}" type="pres">
      <dgm:prSet presAssocID="{91B14D9B-61DF-4421-AF43-318BB0021BDF}" presName="childNode" presStyleLbl="node1" presStyleIdx="2" presStyleCnt="15">
        <dgm:presLayoutVars>
          <dgm:bulletEnabled val="1"/>
        </dgm:presLayoutVars>
      </dgm:prSet>
      <dgm:spPr/>
    </dgm:pt>
    <dgm:pt modelId="{DC9EA69A-B885-4DA4-818F-1748672594CF}" type="pres">
      <dgm:prSet presAssocID="{B28448BA-C9A8-43EB-A9DB-A0137196E3B9}" presName="aSpace" presStyleCnt="0"/>
      <dgm:spPr/>
    </dgm:pt>
    <dgm:pt modelId="{3A6F3D38-6FA6-469E-B3C3-234BD62E4CCA}" type="pres">
      <dgm:prSet presAssocID="{5FC74589-1769-4EB4-9E51-9D82632D2E02}" presName="compNode" presStyleCnt="0"/>
      <dgm:spPr/>
    </dgm:pt>
    <dgm:pt modelId="{C1CD2EAA-2E66-4BDA-BB6E-F99B46E1B919}" type="pres">
      <dgm:prSet presAssocID="{5FC74589-1769-4EB4-9E51-9D82632D2E02}" presName="aNode" presStyleLbl="bgShp" presStyleIdx="1" presStyleCnt="5"/>
      <dgm:spPr/>
    </dgm:pt>
    <dgm:pt modelId="{727186A0-986E-40DF-85B7-ACC6191E0924}" type="pres">
      <dgm:prSet presAssocID="{5FC74589-1769-4EB4-9E51-9D82632D2E02}" presName="textNode" presStyleLbl="bgShp" presStyleIdx="1" presStyleCnt="5"/>
      <dgm:spPr/>
    </dgm:pt>
    <dgm:pt modelId="{F4329E4E-5431-4760-B147-9E77700EF61A}" type="pres">
      <dgm:prSet presAssocID="{5FC74589-1769-4EB4-9E51-9D82632D2E02}" presName="compChildNode" presStyleCnt="0"/>
      <dgm:spPr/>
    </dgm:pt>
    <dgm:pt modelId="{B5C22EF8-EBFA-4704-BF77-C1B26E178B0D}" type="pres">
      <dgm:prSet presAssocID="{5FC74589-1769-4EB4-9E51-9D82632D2E02}" presName="theInnerList" presStyleCnt="0"/>
      <dgm:spPr/>
    </dgm:pt>
    <dgm:pt modelId="{EFE71110-9F14-440A-945D-9BFF90054013}" type="pres">
      <dgm:prSet presAssocID="{B8FE7A32-1B20-4D46-8242-6C91907A490E}" presName="childNode" presStyleLbl="node1" presStyleIdx="3" presStyleCnt="15">
        <dgm:presLayoutVars>
          <dgm:bulletEnabled val="1"/>
        </dgm:presLayoutVars>
      </dgm:prSet>
      <dgm:spPr/>
    </dgm:pt>
    <dgm:pt modelId="{35EA0CEB-E637-4D3C-96EF-C8D3B04060F2}" type="pres">
      <dgm:prSet presAssocID="{B8FE7A32-1B20-4D46-8242-6C91907A490E}" presName="aSpace2" presStyleCnt="0"/>
      <dgm:spPr/>
    </dgm:pt>
    <dgm:pt modelId="{9E190C18-AEDE-45E1-8A46-924B1190ACB6}" type="pres">
      <dgm:prSet presAssocID="{EFD7AB2D-81E2-448E-B54E-4F3622AF7EF9}" presName="childNode" presStyleLbl="node1" presStyleIdx="4" presStyleCnt="15">
        <dgm:presLayoutVars>
          <dgm:bulletEnabled val="1"/>
        </dgm:presLayoutVars>
      </dgm:prSet>
      <dgm:spPr/>
    </dgm:pt>
    <dgm:pt modelId="{1E1AD27B-2438-4D0B-AB02-AF912F764D09}" type="pres">
      <dgm:prSet presAssocID="{EFD7AB2D-81E2-448E-B54E-4F3622AF7EF9}" presName="aSpace2" presStyleCnt="0"/>
      <dgm:spPr/>
    </dgm:pt>
    <dgm:pt modelId="{EB498954-62A4-422D-9DE3-1FA74DD1D37F}" type="pres">
      <dgm:prSet presAssocID="{FF0CDCCC-6F78-4064-A419-5EC5C753206F}" presName="childNode" presStyleLbl="node1" presStyleIdx="5" presStyleCnt="15">
        <dgm:presLayoutVars>
          <dgm:bulletEnabled val="1"/>
        </dgm:presLayoutVars>
      </dgm:prSet>
      <dgm:spPr/>
    </dgm:pt>
    <dgm:pt modelId="{BB3C6D49-326B-48DE-AC1D-9DC877BB01DD}" type="pres">
      <dgm:prSet presAssocID="{5FC74589-1769-4EB4-9E51-9D82632D2E02}" presName="aSpace" presStyleCnt="0"/>
      <dgm:spPr/>
    </dgm:pt>
    <dgm:pt modelId="{EF090B29-38A2-4F08-90FA-7BB67BE8B3E2}" type="pres">
      <dgm:prSet presAssocID="{A0A9AC20-5EC1-4862-BFC8-870928838544}" presName="compNode" presStyleCnt="0"/>
      <dgm:spPr/>
    </dgm:pt>
    <dgm:pt modelId="{9A6AB0E7-12CE-4F4C-9194-CFD62AA0E26B}" type="pres">
      <dgm:prSet presAssocID="{A0A9AC20-5EC1-4862-BFC8-870928838544}" presName="aNode" presStyleLbl="bgShp" presStyleIdx="2" presStyleCnt="5"/>
      <dgm:spPr/>
    </dgm:pt>
    <dgm:pt modelId="{4735A497-84C1-49AD-B2D7-A0E2E20F2536}" type="pres">
      <dgm:prSet presAssocID="{A0A9AC20-5EC1-4862-BFC8-870928838544}" presName="textNode" presStyleLbl="bgShp" presStyleIdx="2" presStyleCnt="5"/>
      <dgm:spPr/>
    </dgm:pt>
    <dgm:pt modelId="{5235814C-D240-476B-A6EA-F820ADA9F290}" type="pres">
      <dgm:prSet presAssocID="{A0A9AC20-5EC1-4862-BFC8-870928838544}" presName="compChildNode" presStyleCnt="0"/>
      <dgm:spPr/>
    </dgm:pt>
    <dgm:pt modelId="{F8C87951-0BEC-442E-BD13-E67FB71AC42B}" type="pres">
      <dgm:prSet presAssocID="{A0A9AC20-5EC1-4862-BFC8-870928838544}" presName="theInnerList" presStyleCnt="0"/>
      <dgm:spPr/>
    </dgm:pt>
    <dgm:pt modelId="{DECF7DEE-4FD4-4CE5-AEDF-10353AC11531}" type="pres">
      <dgm:prSet presAssocID="{6856B0CF-FE68-485F-BF49-CA4A93F4F38C}" presName="childNode" presStyleLbl="node1" presStyleIdx="6" presStyleCnt="15">
        <dgm:presLayoutVars>
          <dgm:bulletEnabled val="1"/>
        </dgm:presLayoutVars>
      </dgm:prSet>
      <dgm:spPr/>
    </dgm:pt>
    <dgm:pt modelId="{739A0DE6-D28A-493F-A1CB-4B3CCAC72873}" type="pres">
      <dgm:prSet presAssocID="{6856B0CF-FE68-485F-BF49-CA4A93F4F38C}" presName="aSpace2" presStyleCnt="0"/>
      <dgm:spPr/>
    </dgm:pt>
    <dgm:pt modelId="{02FBE83C-F7E3-4AC9-9A61-66BF67D7D8B6}" type="pres">
      <dgm:prSet presAssocID="{5DA147F9-347F-4A9B-99C6-4679CBA742BD}" presName="childNode" presStyleLbl="node1" presStyleIdx="7" presStyleCnt="15">
        <dgm:presLayoutVars>
          <dgm:bulletEnabled val="1"/>
        </dgm:presLayoutVars>
      </dgm:prSet>
      <dgm:spPr/>
    </dgm:pt>
    <dgm:pt modelId="{87C5B8B3-4388-4867-AA6C-4B2D717EAAF2}" type="pres">
      <dgm:prSet presAssocID="{5DA147F9-347F-4A9B-99C6-4679CBA742BD}" presName="aSpace2" presStyleCnt="0"/>
      <dgm:spPr/>
    </dgm:pt>
    <dgm:pt modelId="{1EC52667-0754-4666-9083-6E56A0F9B67B}" type="pres">
      <dgm:prSet presAssocID="{06D87D35-A66C-427C-B6DB-AF958D65D6B3}" presName="childNode" presStyleLbl="node1" presStyleIdx="8" presStyleCnt="15">
        <dgm:presLayoutVars>
          <dgm:bulletEnabled val="1"/>
        </dgm:presLayoutVars>
      </dgm:prSet>
      <dgm:spPr/>
    </dgm:pt>
    <dgm:pt modelId="{9C67C073-8031-4FB8-83D0-BB3987979FB7}" type="pres">
      <dgm:prSet presAssocID="{A0A9AC20-5EC1-4862-BFC8-870928838544}" presName="aSpace" presStyleCnt="0"/>
      <dgm:spPr/>
    </dgm:pt>
    <dgm:pt modelId="{3D53649F-3A9D-48AC-B3B4-F9359FF49907}" type="pres">
      <dgm:prSet presAssocID="{EA22DC01-B1C3-4425-86ED-5B66953397A8}" presName="compNode" presStyleCnt="0"/>
      <dgm:spPr/>
    </dgm:pt>
    <dgm:pt modelId="{18B77C7D-672C-4358-9CA6-BD8FA6E2302A}" type="pres">
      <dgm:prSet presAssocID="{EA22DC01-B1C3-4425-86ED-5B66953397A8}" presName="aNode" presStyleLbl="bgShp" presStyleIdx="3" presStyleCnt="5"/>
      <dgm:spPr/>
    </dgm:pt>
    <dgm:pt modelId="{AB95B1F2-DB60-4BC5-81D3-1FA274FF69C7}" type="pres">
      <dgm:prSet presAssocID="{EA22DC01-B1C3-4425-86ED-5B66953397A8}" presName="textNode" presStyleLbl="bgShp" presStyleIdx="3" presStyleCnt="5"/>
      <dgm:spPr/>
    </dgm:pt>
    <dgm:pt modelId="{9D4EF955-0664-47BE-890F-75DA470A2A2E}" type="pres">
      <dgm:prSet presAssocID="{EA22DC01-B1C3-4425-86ED-5B66953397A8}" presName="compChildNode" presStyleCnt="0"/>
      <dgm:spPr/>
    </dgm:pt>
    <dgm:pt modelId="{CCD58064-6258-410C-B1E0-023DF3946A43}" type="pres">
      <dgm:prSet presAssocID="{EA22DC01-B1C3-4425-86ED-5B66953397A8}" presName="theInnerList" presStyleCnt="0"/>
      <dgm:spPr/>
    </dgm:pt>
    <dgm:pt modelId="{204F3481-2F4C-45A5-A0A1-C088684F0126}" type="pres">
      <dgm:prSet presAssocID="{BC15291E-510A-4A20-8D69-B0F2ACBA3CC6}" presName="childNode" presStyleLbl="node1" presStyleIdx="9" presStyleCnt="15">
        <dgm:presLayoutVars>
          <dgm:bulletEnabled val="1"/>
        </dgm:presLayoutVars>
      </dgm:prSet>
      <dgm:spPr/>
    </dgm:pt>
    <dgm:pt modelId="{B768FAA9-E2C4-4A6B-82D8-EF54C53E14D8}" type="pres">
      <dgm:prSet presAssocID="{BC15291E-510A-4A20-8D69-B0F2ACBA3CC6}" presName="aSpace2" presStyleCnt="0"/>
      <dgm:spPr/>
    </dgm:pt>
    <dgm:pt modelId="{0F3CAB81-CF76-498F-9619-BAF8144FA3C3}" type="pres">
      <dgm:prSet presAssocID="{86AB53FA-67D7-4EE7-8555-3EE8EB6FA4C8}" presName="childNode" presStyleLbl="node1" presStyleIdx="10" presStyleCnt="15">
        <dgm:presLayoutVars>
          <dgm:bulletEnabled val="1"/>
        </dgm:presLayoutVars>
      </dgm:prSet>
      <dgm:spPr/>
    </dgm:pt>
    <dgm:pt modelId="{0E0C811E-F3C5-4F24-A485-437F0C0EAD6A}" type="pres">
      <dgm:prSet presAssocID="{86AB53FA-67D7-4EE7-8555-3EE8EB6FA4C8}" presName="aSpace2" presStyleCnt="0"/>
      <dgm:spPr/>
    </dgm:pt>
    <dgm:pt modelId="{80762C44-FA02-441A-8A8D-FC00E4F372F1}" type="pres">
      <dgm:prSet presAssocID="{67EC18BA-DB21-4AAD-BE8A-067C85A9B73E}" presName="childNode" presStyleLbl="node1" presStyleIdx="11" presStyleCnt="15">
        <dgm:presLayoutVars>
          <dgm:bulletEnabled val="1"/>
        </dgm:presLayoutVars>
      </dgm:prSet>
      <dgm:spPr/>
    </dgm:pt>
    <dgm:pt modelId="{1EEF13C7-AF43-4380-A8A5-F72A5D476D05}" type="pres">
      <dgm:prSet presAssocID="{EA22DC01-B1C3-4425-86ED-5B66953397A8}" presName="aSpace" presStyleCnt="0"/>
      <dgm:spPr/>
    </dgm:pt>
    <dgm:pt modelId="{0618492F-D453-4601-9C36-8CE6AA153D1B}" type="pres">
      <dgm:prSet presAssocID="{7D17D413-1C96-46A5-9E85-72C6636AE3C5}" presName="compNode" presStyleCnt="0"/>
      <dgm:spPr/>
    </dgm:pt>
    <dgm:pt modelId="{5A591EE2-4B7B-40DB-B051-D75F7BFEDDD6}" type="pres">
      <dgm:prSet presAssocID="{7D17D413-1C96-46A5-9E85-72C6636AE3C5}" presName="aNode" presStyleLbl="bgShp" presStyleIdx="4" presStyleCnt="5"/>
      <dgm:spPr/>
    </dgm:pt>
    <dgm:pt modelId="{34BAB90F-F3E5-4FFB-A339-2946D1CD0CCB}" type="pres">
      <dgm:prSet presAssocID="{7D17D413-1C96-46A5-9E85-72C6636AE3C5}" presName="textNode" presStyleLbl="bgShp" presStyleIdx="4" presStyleCnt="5"/>
      <dgm:spPr/>
    </dgm:pt>
    <dgm:pt modelId="{BA794F96-F89B-483A-BF3A-9118CA9CCDA4}" type="pres">
      <dgm:prSet presAssocID="{7D17D413-1C96-46A5-9E85-72C6636AE3C5}" presName="compChildNode" presStyleCnt="0"/>
      <dgm:spPr/>
    </dgm:pt>
    <dgm:pt modelId="{76BCF6F8-619E-4477-AF5E-3CC45345624F}" type="pres">
      <dgm:prSet presAssocID="{7D17D413-1C96-46A5-9E85-72C6636AE3C5}" presName="theInnerList" presStyleCnt="0"/>
      <dgm:spPr/>
    </dgm:pt>
    <dgm:pt modelId="{F0B767F2-4C7E-481B-967C-8FE0CB529397}" type="pres">
      <dgm:prSet presAssocID="{A9A35E3D-01EA-46C6-AED8-865E91E9D6C9}" presName="childNode" presStyleLbl="node1" presStyleIdx="12" presStyleCnt="15">
        <dgm:presLayoutVars>
          <dgm:bulletEnabled val="1"/>
        </dgm:presLayoutVars>
      </dgm:prSet>
      <dgm:spPr/>
    </dgm:pt>
    <dgm:pt modelId="{B342BD1C-A54C-4F1C-A099-03A03E61088D}" type="pres">
      <dgm:prSet presAssocID="{A9A35E3D-01EA-46C6-AED8-865E91E9D6C9}" presName="aSpace2" presStyleCnt="0"/>
      <dgm:spPr/>
    </dgm:pt>
    <dgm:pt modelId="{6F277C00-29F7-4ECD-8C97-37788C7BA770}" type="pres">
      <dgm:prSet presAssocID="{A5325020-A43F-4DC5-B91A-865612236E1B}" presName="childNode" presStyleLbl="node1" presStyleIdx="13" presStyleCnt="15">
        <dgm:presLayoutVars>
          <dgm:bulletEnabled val="1"/>
        </dgm:presLayoutVars>
      </dgm:prSet>
      <dgm:spPr/>
    </dgm:pt>
    <dgm:pt modelId="{3945A699-1DD4-41EF-B849-687FF56CB987}" type="pres">
      <dgm:prSet presAssocID="{A5325020-A43F-4DC5-B91A-865612236E1B}" presName="aSpace2" presStyleCnt="0"/>
      <dgm:spPr/>
    </dgm:pt>
    <dgm:pt modelId="{6C9EBB1C-8DC1-467B-832A-DCA29AD54F62}" type="pres">
      <dgm:prSet presAssocID="{63784350-6FB5-4F39-A0AA-A76D20385A1A}" presName="childNode" presStyleLbl="node1" presStyleIdx="14" presStyleCnt="15">
        <dgm:presLayoutVars>
          <dgm:bulletEnabled val="1"/>
        </dgm:presLayoutVars>
      </dgm:prSet>
      <dgm:spPr/>
    </dgm:pt>
  </dgm:ptLst>
  <dgm:cxnLst>
    <dgm:cxn modelId="{ECFFCF01-16F8-4984-9A67-A7434A24DBAE}" type="presOf" srcId="{5FC74589-1769-4EB4-9E51-9D82632D2E02}" destId="{727186A0-986E-40DF-85B7-ACC6191E0924}" srcOrd="1" destOrd="0" presId="urn:microsoft.com/office/officeart/2005/8/layout/lProcess2"/>
    <dgm:cxn modelId="{2BC26304-38F0-445D-AE41-3A37BCFA49C0}" type="presOf" srcId="{B8FE7A32-1B20-4D46-8242-6C91907A490E}" destId="{EFE71110-9F14-440A-945D-9BFF90054013}" srcOrd="0" destOrd="0" presId="urn:microsoft.com/office/officeart/2005/8/layout/lProcess2"/>
    <dgm:cxn modelId="{51954F0A-D86B-4E87-B59A-0BC67301C500}" type="presOf" srcId="{EA22DC01-B1C3-4425-86ED-5B66953397A8}" destId="{AB95B1F2-DB60-4BC5-81D3-1FA274FF69C7}" srcOrd="1" destOrd="0" presId="urn:microsoft.com/office/officeart/2005/8/layout/lProcess2"/>
    <dgm:cxn modelId="{6723F50B-AA47-4273-81EA-65E1F5EA34FA}" srcId="{EA22DC01-B1C3-4425-86ED-5B66953397A8}" destId="{86AB53FA-67D7-4EE7-8555-3EE8EB6FA4C8}" srcOrd="1" destOrd="0" parTransId="{EA03EBDD-B26B-4044-993F-F3F8F5C83B54}" sibTransId="{AD9FF113-925C-46F3-AC17-3E3C7A57FE37}"/>
    <dgm:cxn modelId="{CDF2CC16-ED87-4552-8B18-DAAA2A151437}" srcId="{B28448BA-C9A8-43EB-A9DB-A0137196E3B9}" destId="{91B14D9B-61DF-4421-AF43-318BB0021BDF}" srcOrd="2" destOrd="0" parTransId="{6B1A9D79-1E1A-438E-9974-41204E573EDC}" sibTransId="{5E874D73-6215-4109-909C-386CFCBBE123}"/>
    <dgm:cxn modelId="{CD174D1A-F576-42A5-8360-9F1F6FB5C8D5}" srcId="{5FC74589-1769-4EB4-9E51-9D82632D2E02}" destId="{FF0CDCCC-6F78-4064-A419-5EC5C753206F}" srcOrd="2" destOrd="0" parTransId="{C96EA5C7-A653-4A83-8F75-8585A07C9C8F}" sibTransId="{8E668476-E60C-485B-B9C7-8F9496C26DF3}"/>
    <dgm:cxn modelId="{7357A128-EC9F-4D5C-B736-EB7D6F761B43}" type="presOf" srcId="{5DA147F9-347F-4A9B-99C6-4679CBA742BD}" destId="{02FBE83C-F7E3-4AC9-9A61-66BF67D7D8B6}" srcOrd="0" destOrd="0" presId="urn:microsoft.com/office/officeart/2005/8/layout/lProcess2"/>
    <dgm:cxn modelId="{60DB6929-CDB2-4E16-95A9-9A0494A92074}" type="presOf" srcId="{EA22DC01-B1C3-4425-86ED-5B66953397A8}" destId="{18B77C7D-672C-4358-9CA6-BD8FA6E2302A}" srcOrd="0" destOrd="0" presId="urn:microsoft.com/office/officeart/2005/8/layout/lProcess2"/>
    <dgm:cxn modelId="{721BA034-D2BB-4F5E-AD28-4CD4B0B4FA35}" srcId="{7DAF4A99-25E1-44F9-90C0-EA66CF00B3B6}" destId="{B28448BA-C9A8-43EB-A9DB-A0137196E3B9}" srcOrd="0" destOrd="0" parTransId="{3A37FA3F-0269-460F-ACCD-01DD513605A2}" sibTransId="{20234B47-CD57-4C94-B27A-16836C4AA9A8}"/>
    <dgm:cxn modelId="{F3163A37-3AE2-467C-BD38-3FE504E967A2}" type="presOf" srcId="{67EC18BA-DB21-4AAD-BE8A-067C85A9B73E}" destId="{80762C44-FA02-441A-8A8D-FC00E4F372F1}" srcOrd="0" destOrd="0" presId="urn:microsoft.com/office/officeart/2005/8/layout/lProcess2"/>
    <dgm:cxn modelId="{D4CFB93A-5F16-4E47-84B2-79DE4EA0903D}" type="presOf" srcId="{A0A9AC20-5EC1-4862-BFC8-870928838544}" destId="{9A6AB0E7-12CE-4F4C-9194-CFD62AA0E26B}" srcOrd="0" destOrd="0" presId="urn:microsoft.com/office/officeart/2005/8/layout/lProcess2"/>
    <dgm:cxn modelId="{38A8835B-72EC-411C-B725-1E76378A592C}" type="presOf" srcId="{E12CEE09-DEBB-4435-B911-A40A12F7930D}" destId="{20F65450-B565-4F6E-8CBD-65CD2502E3B0}" srcOrd="0" destOrd="0" presId="urn:microsoft.com/office/officeart/2005/8/layout/lProcess2"/>
    <dgm:cxn modelId="{D9E35F5C-9C04-4B00-BAD8-AD36F1DD39DE}" srcId="{7DAF4A99-25E1-44F9-90C0-EA66CF00B3B6}" destId="{7D17D413-1C96-46A5-9E85-72C6636AE3C5}" srcOrd="4" destOrd="0" parTransId="{91A59BF2-53A7-4244-ADC4-8913701DE4BA}" sibTransId="{06AA36B4-E14B-4E14-B273-C8197A0B582E}"/>
    <dgm:cxn modelId="{2A2D6A5E-7EBE-425D-AE13-7806B7102077}" type="presOf" srcId="{A9A35E3D-01EA-46C6-AED8-865E91E9D6C9}" destId="{F0B767F2-4C7E-481B-967C-8FE0CB529397}" srcOrd="0" destOrd="0" presId="urn:microsoft.com/office/officeart/2005/8/layout/lProcess2"/>
    <dgm:cxn modelId="{CDAE2543-0EE1-4B34-B52E-A8EEEA699492}" srcId="{7D17D413-1C96-46A5-9E85-72C6636AE3C5}" destId="{63784350-6FB5-4F39-A0AA-A76D20385A1A}" srcOrd="2" destOrd="0" parTransId="{02F99CF5-BE6F-4557-8BB4-68B7181CCBA5}" sibTransId="{E47CBEBB-6EFF-43F4-952B-B6C93B5E9493}"/>
    <dgm:cxn modelId="{A998F044-8FDD-4CE8-95A1-4D927DE91897}" type="presOf" srcId="{91B14D9B-61DF-4421-AF43-318BB0021BDF}" destId="{80F88CB8-4B64-4172-B897-E8F8383812F7}" srcOrd="0" destOrd="0" presId="urn:microsoft.com/office/officeart/2005/8/layout/lProcess2"/>
    <dgm:cxn modelId="{0949B049-F928-4520-A037-C172C962E0C9}" srcId="{7D17D413-1C96-46A5-9E85-72C6636AE3C5}" destId="{A5325020-A43F-4DC5-B91A-865612236E1B}" srcOrd="1" destOrd="0" parTransId="{B397B1E6-BB15-4DF4-B38A-02A5DF7C7E5D}" sibTransId="{E5885318-4367-4D45-A1BC-C2768E0C5F2B}"/>
    <dgm:cxn modelId="{D2E71B6A-2ED0-4063-83D4-B7F1634C0332}" srcId="{A0A9AC20-5EC1-4862-BFC8-870928838544}" destId="{5DA147F9-347F-4A9B-99C6-4679CBA742BD}" srcOrd="1" destOrd="0" parTransId="{0DD651B9-CD26-4B12-B47E-A345F5C781A5}" sibTransId="{A279CC5C-DF39-4624-BFA5-ADC04410EA91}"/>
    <dgm:cxn modelId="{762CB34A-B7BB-4F03-8AEE-D8F5A066DAA2}" type="presOf" srcId="{86AB53FA-67D7-4EE7-8555-3EE8EB6FA4C8}" destId="{0F3CAB81-CF76-498F-9619-BAF8144FA3C3}" srcOrd="0" destOrd="0" presId="urn:microsoft.com/office/officeart/2005/8/layout/lProcess2"/>
    <dgm:cxn modelId="{F5D81D7B-D725-4952-932B-22EA350225C2}" type="presOf" srcId="{A0A9AC20-5EC1-4862-BFC8-870928838544}" destId="{4735A497-84C1-49AD-B2D7-A0E2E20F2536}" srcOrd="1" destOrd="0" presId="urn:microsoft.com/office/officeart/2005/8/layout/lProcess2"/>
    <dgm:cxn modelId="{E39A2E7D-4B01-443C-A093-8728A9F528A1}" srcId="{7DAF4A99-25E1-44F9-90C0-EA66CF00B3B6}" destId="{A0A9AC20-5EC1-4862-BFC8-870928838544}" srcOrd="2" destOrd="0" parTransId="{69D52F25-6ACE-45DA-A9E8-1893E3A26C8C}" sibTransId="{FF5EAA6B-D3D9-4221-A79F-E9B4930D1CEF}"/>
    <dgm:cxn modelId="{03033C8E-546A-4636-B996-DCA3A7F5D692}" srcId="{A0A9AC20-5EC1-4862-BFC8-870928838544}" destId="{06D87D35-A66C-427C-B6DB-AF958D65D6B3}" srcOrd="2" destOrd="0" parTransId="{9A4B31E9-014C-4B63-A219-5A63A8ACB829}" sibTransId="{AC1F3899-4696-4923-97F3-8D3FBB96254A}"/>
    <dgm:cxn modelId="{C6D9E08E-67C9-45FF-AE9A-737F8243E159}" type="presOf" srcId="{FF0CDCCC-6F78-4064-A419-5EC5C753206F}" destId="{EB498954-62A4-422D-9DE3-1FA74DD1D37F}" srcOrd="0" destOrd="0" presId="urn:microsoft.com/office/officeart/2005/8/layout/lProcess2"/>
    <dgm:cxn modelId="{A06BFD8E-9EFF-4EC8-8F6A-EF438C19CE2A}" type="presOf" srcId="{BC15291E-510A-4A20-8D69-B0F2ACBA3CC6}" destId="{204F3481-2F4C-45A5-A0A1-C088684F0126}" srcOrd="0" destOrd="0" presId="urn:microsoft.com/office/officeart/2005/8/layout/lProcess2"/>
    <dgm:cxn modelId="{751DC194-11AC-4068-BA1C-4404C839BDBA}" srcId="{B28448BA-C9A8-43EB-A9DB-A0137196E3B9}" destId="{E12CEE09-DEBB-4435-B911-A40A12F7930D}" srcOrd="1" destOrd="0" parTransId="{A642C0CA-D97F-4EA3-928C-13F990F569A1}" sibTransId="{CF3DF39F-9248-4761-840A-28F131DA740D}"/>
    <dgm:cxn modelId="{5018CE96-E6CC-471E-9B9C-30F70F6B8CE7}" srcId="{7D17D413-1C96-46A5-9E85-72C6636AE3C5}" destId="{A9A35E3D-01EA-46C6-AED8-865E91E9D6C9}" srcOrd="0" destOrd="0" parTransId="{0C34515A-9947-4AC4-8E07-6D77FB8F1E95}" sibTransId="{3C0EBF76-BD27-4964-B79F-79CC6413DFD1}"/>
    <dgm:cxn modelId="{95C3269C-8E66-454E-90E4-64EBD4DB49A5}" srcId="{B28448BA-C9A8-43EB-A9DB-A0137196E3B9}" destId="{E9F388D8-C9C2-45F4-B532-779E8C2CB5E8}" srcOrd="0" destOrd="0" parTransId="{F2F7FB25-05F2-4ED0-B376-8372ACCE43FB}" sibTransId="{1AE97BAD-F576-4336-A510-388E6942CDAC}"/>
    <dgm:cxn modelId="{C3342E9D-E24E-4DAA-AAFA-C8A6E228D1A0}" type="presOf" srcId="{6856B0CF-FE68-485F-BF49-CA4A93F4F38C}" destId="{DECF7DEE-4FD4-4CE5-AEDF-10353AC11531}" srcOrd="0" destOrd="0" presId="urn:microsoft.com/office/officeart/2005/8/layout/lProcess2"/>
    <dgm:cxn modelId="{35679A9F-A9C0-40B5-BA5C-B5D89AD516EE}" srcId="{5FC74589-1769-4EB4-9E51-9D82632D2E02}" destId="{B8FE7A32-1B20-4D46-8242-6C91907A490E}" srcOrd="0" destOrd="0" parTransId="{86CD367E-951E-4F4B-BFC7-6603B931690A}" sibTransId="{03DB6E86-A49B-4AF5-9791-CBACA4C5335D}"/>
    <dgm:cxn modelId="{286571A2-CBBB-41C2-A100-9D30255B4006}" type="presOf" srcId="{E9F388D8-C9C2-45F4-B532-779E8C2CB5E8}" destId="{D6B8C86D-B5C5-4707-BB1C-60E6EB9E4EBA}" srcOrd="0" destOrd="0" presId="urn:microsoft.com/office/officeart/2005/8/layout/lProcess2"/>
    <dgm:cxn modelId="{0C3F2AA5-37C9-446D-889F-7D9CE30AC47B}" type="presOf" srcId="{63784350-6FB5-4F39-A0AA-A76D20385A1A}" destId="{6C9EBB1C-8DC1-467B-832A-DCA29AD54F62}" srcOrd="0" destOrd="0" presId="urn:microsoft.com/office/officeart/2005/8/layout/lProcess2"/>
    <dgm:cxn modelId="{96A78BB8-D8C9-48D9-AD40-D00DE30F4E47}" type="presOf" srcId="{7D17D413-1C96-46A5-9E85-72C6636AE3C5}" destId="{5A591EE2-4B7B-40DB-B051-D75F7BFEDDD6}" srcOrd="0" destOrd="0" presId="urn:microsoft.com/office/officeart/2005/8/layout/lProcess2"/>
    <dgm:cxn modelId="{EA2FD3B8-722B-4877-B8F1-EEA7710C1B84}" srcId="{7DAF4A99-25E1-44F9-90C0-EA66CF00B3B6}" destId="{5FC74589-1769-4EB4-9E51-9D82632D2E02}" srcOrd="1" destOrd="0" parTransId="{4D0CCF7E-4481-42D2-95B3-0CB4029368E1}" sibTransId="{8EB806C9-A9BC-450F-B9C3-AC2ED6D3AF68}"/>
    <dgm:cxn modelId="{53D00FBE-0B8C-44B8-BD7B-FF723D810987}" srcId="{EA22DC01-B1C3-4425-86ED-5B66953397A8}" destId="{BC15291E-510A-4A20-8D69-B0F2ACBA3CC6}" srcOrd="0" destOrd="0" parTransId="{DDAF1636-99A0-4E4C-BF8B-7A50EC838E24}" sibTransId="{25F65FF3-A145-4450-BC4A-2BD6189C0F89}"/>
    <dgm:cxn modelId="{6DB72DBE-E82A-47EF-ACEA-E04B7B517F26}" srcId="{7DAF4A99-25E1-44F9-90C0-EA66CF00B3B6}" destId="{EA22DC01-B1C3-4425-86ED-5B66953397A8}" srcOrd="3" destOrd="0" parTransId="{5D0A80B1-3E50-448A-A64D-AD1355ED3022}" sibTransId="{A9D991C7-41FC-48B5-87C1-98EB407695FE}"/>
    <dgm:cxn modelId="{786343C0-ADEE-485D-9FD7-2489DA81BBF7}" type="presOf" srcId="{A5325020-A43F-4DC5-B91A-865612236E1B}" destId="{6F277C00-29F7-4ECD-8C97-37788C7BA770}" srcOrd="0" destOrd="0" presId="urn:microsoft.com/office/officeart/2005/8/layout/lProcess2"/>
    <dgm:cxn modelId="{E8E1CBC2-E886-44D5-B930-C0A4D16118C4}" srcId="{5FC74589-1769-4EB4-9E51-9D82632D2E02}" destId="{EFD7AB2D-81E2-448E-B54E-4F3622AF7EF9}" srcOrd="1" destOrd="0" parTransId="{36574C9A-C9D9-41B3-A499-07AB4199CF7F}" sibTransId="{0FFBD1E1-7F1E-48F7-8092-88463CF1F65B}"/>
    <dgm:cxn modelId="{47A1AFC6-DAE6-4385-9FC2-2688215FFD01}" type="presOf" srcId="{EFD7AB2D-81E2-448E-B54E-4F3622AF7EF9}" destId="{9E190C18-AEDE-45E1-8A46-924B1190ACB6}" srcOrd="0" destOrd="0" presId="urn:microsoft.com/office/officeart/2005/8/layout/lProcess2"/>
    <dgm:cxn modelId="{A9C4A8D6-E1E7-4047-8187-0A88998D3066}" type="presOf" srcId="{5FC74589-1769-4EB4-9E51-9D82632D2E02}" destId="{C1CD2EAA-2E66-4BDA-BB6E-F99B46E1B919}" srcOrd="0" destOrd="0" presId="urn:microsoft.com/office/officeart/2005/8/layout/lProcess2"/>
    <dgm:cxn modelId="{00B707D9-F7B2-4E44-B102-77C5E741CB3D}" type="presOf" srcId="{7D17D413-1C96-46A5-9E85-72C6636AE3C5}" destId="{34BAB90F-F3E5-4FFB-A339-2946D1CD0CCB}" srcOrd="1" destOrd="0" presId="urn:microsoft.com/office/officeart/2005/8/layout/lProcess2"/>
    <dgm:cxn modelId="{1151B3DC-BFA5-46C2-A674-0EE40A938C5A}" srcId="{A0A9AC20-5EC1-4862-BFC8-870928838544}" destId="{6856B0CF-FE68-485F-BF49-CA4A93F4F38C}" srcOrd="0" destOrd="0" parTransId="{B52856D9-283B-499D-AE83-3A1B0694F8DA}" sibTransId="{60145AD2-C0A0-4426-8839-F8800D94963F}"/>
    <dgm:cxn modelId="{C953FADE-CD17-4DF0-83A6-EF8CE0F9D33F}" type="presOf" srcId="{06D87D35-A66C-427C-B6DB-AF958D65D6B3}" destId="{1EC52667-0754-4666-9083-6E56A0F9B67B}" srcOrd="0" destOrd="0" presId="urn:microsoft.com/office/officeart/2005/8/layout/lProcess2"/>
    <dgm:cxn modelId="{090367F2-2F9D-429E-8090-D374C3282399}" srcId="{EA22DC01-B1C3-4425-86ED-5B66953397A8}" destId="{67EC18BA-DB21-4AAD-BE8A-067C85A9B73E}" srcOrd="2" destOrd="0" parTransId="{8918E5B2-4513-4EC4-8164-E88158F78E11}" sibTransId="{FAC02AF5-6F72-4EED-98CA-D68C7F3B5D5A}"/>
    <dgm:cxn modelId="{6ED2BEF2-3311-4488-BCEA-FCD66306DFA7}" type="presOf" srcId="{7DAF4A99-25E1-44F9-90C0-EA66CF00B3B6}" destId="{5473F14B-8F21-412E-B8DE-EADF32D6F521}" srcOrd="0" destOrd="0" presId="urn:microsoft.com/office/officeart/2005/8/layout/lProcess2"/>
    <dgm:cxn modelId="{16E10DF4-D4F7-4EBD-A056-7C6C16C2F38B}" type="presOf" srcId="{B28448BA-C9A8-43EB-A9DB-A0137196E3B9}" destId="{189EA2CD-99B4-4604-BDBC-34AEB91058A9}" srcOrd="1" destOrd="0" presId="urn:microsoft.com/office/officeart/2005/8/layout/lProcess2"/>
    <dgm:cxn modelId="{9C11A9F8-C4A3-49D7-8FDB-9C8A46A985AC}" type="presOf" srcId="{B28448BA-C9A8-43EB-A9DB-A0137196E3B9}" destId="{F5FB40AB-A8F0-43CC-AED2-A0B6D3491F03}" srcOrd="0" destOrd="0" presId="urn:microsoft.com/office/officeart/2005/8/layout/lProcess2"/>
    <dgm:cxn modelId="{8BBCC796-CDE2-4047-9ECE-8D8A9B99FAD0}" type="presParOf" srcId="{5473F14B-8F21-412E-B8DE-EADF32D6F521}" destId="{C0D74A84-CA9B-4A55-82D3-C4473BCAB74F}" srcOrd="0" destOrd="0" presId="urn:microsoft.com/office/officeart/2005/8/layout/lProcess2"/>
    <dgm:cxn modelId="{161CF457-1770-4F71-8EFC-11814D5EB742}" type="presParOf" srcId="{C0D74A84-CA9B-4A55-82D3-C4473BCAB74F}" destId="{F5FB40AB-A8F0-43CC-AED2-A0B6D3491F03}" srcOrd="0" destOrd="0" presId="urn:microsoft.com/office/officeart/2005/8/layout/lProcess2"/>
    <dgm:cxn modelId="{BF575377-E369-4AAE-AB8F-6562B33A530C}" type="presParOf" srcId="{C0D74A84-CA9B-4A55-82D3-C4473BCAB74F}" destId="{189EA2CD-99B4-4604-BDBC-34AEB91058A9}" srcOrd="1" destOrd="0" presId="urn:microsoft.com/office/officeart/2005/8/layout/lProcess2"/>
    <dgm:cxn modelId="{5F76818D-36D7-4F22-A27B-341E39609FE5}" type="presParOf" srcId="{C0D74A84-CA9B-4A55-82D3-C4473BCAB74F}" destId="{051CD919-C14E-4FF7-A82B-674D57B30AF8}" srcOrd="2" destOrd="0" presId="urn:microsoft.com/office/officeart/2005/8/layout/lProcess2"/>
    <dgm:cxn modelId="{B6C2BD2B-60AA-46E6-A29E-122947F21F1B}" type="presParOf" srcId="{051CD919-C14E-4FF7-A82B-674D57B30AF8}" destId="{151EFC3A-4B26-48D8-87A4-D28DC0264B02}" srcOrd="0" destOrd="0" presId="urn:microsoft.com/office/officeart/2005/8/layout/lProcess2"/>
    <dgm:cxn modelId="{DDBDB741-B70F-4AB1-9F31-3C1625F273C9}" type="presParOf" srcId="{151EFC3A-4B26-48D8-87A4-D28DC0264B02}" destId="{D6B8C86D-B5C5-4707-BB1C-60E6EB9E4EBA}" srcOrd="0" destOrd="0" presId="urn:microsoft.com/office/officeart/2005/8/layout/lProcess2"/>
    <dgm:cxn modelId="{32D77E3C-528C-4BD0-B9A0-0D6DEF99208D}" type="presParOf" srcId="{151EFC3A-4B26-48D8-87A4-D28DC0264B02}" destId="{FEA7308F-F292-4734-BC92-11C7BB5AF5E5}" srcOrd="1" destOrd="0" presId="urn:microsoft.com/office/officeart/2005/8/layout/lProcess2"/>
    <dgm:cxn modelId="{7C10D60B-9DE5-4D7E-AC9E-28367B2ACA73}" type="presParOf" srcId="{151EFC3A-4B26-48D8-87A4-D28DC0264B02}" destId="{20F65450-B565-4F6E-8CBD-65CD2502E3B0}" srcOrd="2" destOrd="0" presId="urn:microsoft.com/office/officeart/2005/8/layout/lProcess2"/>
    <dgm:cxn modelId="{F899D649-637A-45BF-898B-A1249D6A5ABC}" type="presParOf" srcId="{151EFC3A-4B26-48D8-87A4-D28DC0264B02}" destId="{1943ED51-E95A-4F6E-A717-80400DEEEE20}" srcOrd="3" destOrd="0" presId="urn:microsoft.com/office/officeart/2005/8/layout/lProcess2"/>
    <dgm:cxn modelId="{F30077C4-88EC-4115-9872-D41C4FB630E4}" type="presParOf" srcId="{151EFC3A-4B26-48D8-87A4-D28DC0264B02}" destId="{80F88CB8-4B64-4172-B897-E8F8383812F7}" srcOrd="4" destOrd="0" presId="urn:microsoft.com/office/officeart/2005/8/layout/lProcess2"/>
    <dgm:cxn modelId="{725DAEFA-3358-4431-AF86-C6F0E2CC9914}" type="presParOf" srcId="{5473F14B-8F21-412E-B8DE-EADF32D6F521}" destId="{DC9EA69A-B885-4DA4-818F-1748672594CF}" srcOrd="1" destOrd="0" presId="urn:microsoft.com/office/officeart/2005/8/layout/lProcess2"/>
    <dgm:cxn modelId="{CABC9362-7251-42AD-AC56-CC62AF76E7F2}" type="presParOf" srcId="{5473F14B-8F21-412E-B8DE-EADF32D6F521}" destId="{3A6F3D38-6FA6-469E-B3C3-234BD62E4CCA}" srcOrd="2" destOrd="0" presId="urn:microsoft.com/office/officeart/2005/8/layout/lProcess2"/>
    <dgm:cxn modelId="{BE0DA4E2-34AA-4B8F-ACA5-FFA681A84F03}" type="presParOf" srcId="{3A6F3D38-6FA6-469E-B3C3-234BD62E4CCA}" destId="{C1CD2EAA-2E66-4BDA-BB6E-F99B46E1B919}" srcOrd="0" destOrd="0" presId="urn:microsoft.com/office/officeart/2005/8/layout/lProcess2"/>
    <dgm:cxn modelId="{E72963E8-E743-457C-B285-5D0C03786F04}" type="presParOf" srcId="{3A6F3D38-6FA6-469E-B3C3-234BD62E4CCA}" destId="{727186A0-986E-40DF-85B7-ACC6191E0924}" srcOrd="1" destOrd="0" presId="urn:microsoft.com/office/officeart/2005/8/layout/lProcess2"/>
    <dgm:cxn modelId="{A7D0BE3A-BE7C-42CD-BE76-06E7D0E88DA9}" type="presParOf" srcId="{3A6F3D38-6FA6-469E-B3C3-234BD62E4CCA}" destId="{F4329E4E-5431-4760-B147-9E77700EF61A}" srcOrd="2" destOrd="0" presId="urn:microsoft.com/office/officeart/2005/8/layout/lProcess2"/>
    <dgm:cxn modelId="{B255EDAD-610D-41C4-9844-746E31A88EE5}" type="presParOf" srcId="{F4329E4E-5431-4760-B147-9E77700EF61A}" destId="{B5C22EF8-EBFA-4704-BF77-C1B26E178B0D}" srcOrd="0" destOrd="0" presId="urn:microsoft.com/office/officeart/2005/8/layout/lProcess2"/>
    <dgm:cxn modelId="{62E2E8AB-3FF9-49B3-817A-0DC0A3EBB7FD}" type="presParOf" srcId="{B5C22EF8-EBFA-4704-BF77-C1B26E178B0D}" destId="{EFE71110-9F14-440A-945D-9BFF90054013}" srcOrd="0" destOrd="0" presId="urn:microsoft.com/office/officeart/2005/8/layout/lProcess2"/>
    <dgm:cxn modelId="{11D574B2-499E-4530-B38E-E02B42457B6C}" type="presParOf" srcId="{B5C22EF8-EBFA-4704-BF77-C1B26E178B0D}" destId="{35EA0CEB-E637-4D3C-96EF-C8D3B04060F2}" srcOrd="1" destOrd="0" presId="urn:microsoft.com/office/officeart/2005/8/layout/lProcess2"/>
    <dgm:cxn modelId="{F4F00268-F79B-4252-9657-B7E90093CB47}" type="presParOf" srcId="{B5C22EF8-EBFA-4704-BF77-C1B26E178B0D}" destId="{9E190C18-AEDE-45E1-8A46-924B1190ACB6}" srcOrd="2" destOrd="0" presId="urn:microsoft.com/office/officeart/2005/8/layout/lProcess2"/>
    <dgm:cxn modelId="{BBE7E126-9231-4CD5-A223-3BDEEB9BA9DE}" type="presParOf" srcId="{B5C22EF8-EBFA-4704-BF77-C1B26E178B0D}" destId="{1E1AD27B-2438-4D0B-AB02-AF912F764D09}" srcOrd="3" destOrd="0" presId="urn:microsoft.com/office/officeart/2005/8/layout/lProcess2"/>
    <dgm:cxn modelId="{ECB731B5-4534-44C2-A3F3-7D911154BD14}" type="presParOf" srcId="{B5C22EF8-EBFA-4704-BF77-C1B26E178B0D}" destId="{EB498954-62A4-422D-9DE3-1FA74DD1D37F}" srcOrd="4" destOrd="0" presId="urn:microsoft.com/office/officeart/2005/8/layout/lProcess2"/>
    <dgm:cxn modelId="{A167C93E-9E4E-49C3-A60A-15396C4ACC7B}" type="presParOf" srcId="{5473F14B-8F21-412E-B8DE-EADF32D6F521}" destId="{BB3C6D49-326B-48DE-AC1D-9DC877BB01DD}" srcOrd="3" destOrd="0" presId="urn:microsoft.com/office/officeart/2005/8/layout/lProcess2"/>
    <dgm:cxn modelId="{AD388390-521B-4BE5-B24E-FB16750B1EEF}" type="presParOf" srcId="{5473F14B-8F21-412E-B8DE-EADF32D6F521}" destId="{EF090B29-38A2-4F08-90FA-7BB67BE8B3E2}" srcOrd="4" destOrd="0" presId="urn:microsoft.com/office/officeart/2005/8/layout/lProcess2"/>
    <dgm:cxn modelId="{DBCC7A7A-CC99-4BDF-98D7-0FBF13A8F25A}" type="presParOf" srcId="{EF090B29-38A2-4F08-90FA-7BB67BE8B3E2}" destId="{9A6AB0E7-12CE-4F4C-9194-CFD62AA0E26B}" srcOrd="0" destOrd="0" presId="urn:microsoft.com/office/officeart/2005/8/layout/lProcess2"/>
    <dgm:cxn modelId="{24F16597-28B6-415F-A358-DB98D0D555F4}" type="presParOf" srcId="{EF090B29-38A2-4F08-90FA-7BB67BE8B3E2}" destId="{4735A497-84C1-49AD-B2D7-A0E2E20F2536}" srcOrd="1" destOrd="0" presId="urn:microsoft.com/office/officeart/2005/8/layout/lProcess2"/>
    <dgm:cxn modelId="{0A334A08-28E6-4497-AC92-DB521CA0C8B2}" type="presParOf" srcId="{EF090B29-38A2-4F08-90FA-7BB67BE8B3E2}" destId="{5235814C-D240-476B-A6EA-F820ADA9F290}" srcOrd="2" destOrd="0" presId="urn:microsoft.com/office/officeart/2005/8/layout/lProcess2"/>
    <dgm:cxn modelId="{5995FEF7-31EC-4475-B3EC-76CC287F4D5C}" type="presParOf" srcId="{5235814C-D240-476B-A6EA-F820ADA9F290}" destId="{F8C87951-0BEC-442E-BD13-E67FB71AC42B}" srcOrd="0" destOrd="0" presId="urn:microsoft.com/office/officeart/2005/8/layout/lProcess2"/>
    <dgm:cxn modelId="{2F8FDC40-C556-4B7B-84F8-3E19A87F6767}" type="presParOf" srcId="{F8C87951-0BEC-442E-BD13-E67FB71AC42B}" destId="{DECF7DEE-4FD4-4CE5-AEDF-10353AC11531}" srcOrd="0" destOrd="0" presId="urn:microsoft.com/office/officeart/2005/8/layout/lProcess2"/>
    <dgm:cxn modelId="{7508E8E8-4820-4E59-ACF2-41C6378442E2}" type="presParOf" srcId="{F8C87951-0BEC-442E-BD13-E67FB71AC42B}" destId="{739A0DE6-D28A-493F-A1CB-4B3CCAC72873}" srcOrd="1" destOrd="0" presId="urn:microsoft.com/office/officeart/2005/8/layout/lProcess2"/>
    <dgm:cxn modelId="{7719794E-93CC-427B-A4CB-B864AA7155E9}" type="presParOf" srcId="{F8C87951-0BEC-442E-BD13-E67FB71AC42B}" destId="{02FBE83C-F7E3-4AC9-9A61-66BF67D7D8B6}" srcOrd="2" destOrd="0" presId="urn:microsoft.com/office/officeart/2005/8/layout/lProcess2"/>
    <dgm:cxn modelId="{DF759989-F7AC-48DF-990B-7B70D502065B}" type="presParOf" srcId="{F8C87951-0BEC-442E-BD13-E67FB71AC42B}" destId="{87C5B8B3-4388-4867-AA6C-4B2D717EAAF2}" srcOrd="3" destOrd="0" presId="urn:microsoft.com/office/officeart/2005/8/layout/lProcess2"/>
    <dgm:cxn modelId="{101056E5-716B-4F7A-8368-5C20B51A07A0}" type="presParOf" srcId="{F8C87951-0BEC-442E-BD13-E67FB71AC42B}" destId="{1EC52667-0754-4666-9083-6E56A0F9B67B}" srcOrd="4" destOrd="0" presId="urn:microsoft.com/office/officeart/2005/8/layout/lProcess2"/>
    <dgm:cxn modelId="{ED6B0EAB-0585-4855-95CD-0F22E5348642}" type="presParOf" srcId="{5473F14B-8F21-412E-B8DE-EADF32D6F521}" destId="{9C67C073-8031-4FB8-83D0-BB3987979FB7}" srcOrd="5" destOrd="0" presId="urn:microsoft.com/office/officeart/2005/8/layout/lProcess2"/>
    <dgm:cxn modelId="{E2761FC9-EB8D-429A-BAC4-494A0B365247}" type="presParOf" srcId="{5473F14B-8F21-412E-B8DE-EADF32D6F521}" destId="{3D53649F-3A9D-48AC-B3B4-F9359FF49907}" srcOrd="6" destOrd="0" presId="urn:microsoft.com/office/officeart/2005/8/layout/lProcess2"/>
    <dgm:cxn modelId="{7A9A2B52-B27D-4E27-8DA7-ED1C9A2FFA11}" type="presParOf" srcId="{3D53649F-3A9D-48AC-B3B4-F9359FF49907}" destId="{18B77C7D-672C-4358-9CA6-BD8FA6E2302A}" srcOrd="0" destOrd="0" presId="urn:microsoft.com/office/officeart/2005/8/layout/lProcess2"/>
    <dgm:cxn modelId="{842BF580-99F6-4611-9763-AE9923B0CB1D}" type="presParOf" srcId="{3D53649F-3A9D-48AC-B3B4-F9359FF49907}" destId="{AB95B1F2-DB60-4BC5-81D3-1FA274FF69C7}" srcOrd="1" destOrd="0" presId="urn:microsoft.com/office/officeart/2005/8/layout/lProcess2"/>
    <dgm:cxn modelId="{B567D9EB-1411-457D-9842-6A7BD2075664}" type="presParOf" srcId="{3D53649F-3A9D-48AC-B3B4-F9359FF49907}" destId="{9D4EF955-0664-47BE-890F-75DA470A2A2E}" srcOrd="2" destOrd="0" presId="urn:microsoft.com/office/officeart/2005/8/layout/lProcess2"/>
    <dgm:cxn modelId="{5174CF1A-59A6-4077-91AC-E61762D21B04}" type="presParOf" srcId="{9D4EF955-0664-47BE-890F-75DA470A2A2E}" destId="{CCD58064-6258-410C-B1E0-023DF3946A43}" srcOrd="0" destOrd="0" presId="urn:microsoft.com/office/officeart/2005/8/layout/lProcess2"/>
    <dgm:cxn modelId="{76C174F9-9235-42ED-9D4F-746C4834DF1C}" type="presParOf" srcId="{CCD58064-6258-410C-B1E0-023DF3946A43}" destId="{204F3481-2F4C-45A5-A0A1-C088684F0126}" srcOrd="0" destOrd="0" presId="urn:microsoft.com/office/officeart/2005/8/layout/lProcess2"/>
    <dgm:cxn modelId="{6E99F985-05FD-4228-8FBE-C78389937DC3}" type="presParOf" srcId="{CCD58064-6258-410C-B1E0-023DF3946A43}" destId="{B768FAA9-E2C4-4A6B-82D8-EF54C53E14D8}" srcOrd="1" destOrd="0" presId="urn:microsoft.com/office/officeart/2005/8/layout/lProcess2"/>
    <dgm:cxn modelId="{6D2466CB-F8E3-4831-A6B8-25CAB34909F7}" type="presParOf" srcId="{CCD58064-6258-410C-B1E0-023DF3946A43}" destId="{0F3CAB81-CF76-498F-9619-BAF8144FA3C3}" srcOrd="2" destOrd="0" presId="urn:microsoft.com/office/officeart/2005/8/layout/lProcess2"/>
    <dgm:cxn modelId="{74326A1B-FC28-447B-8350-57F9AE20E21E}" type="presParOf" srcId="{CCD58064-6258-410C-B1E0-023DF3946A43}" destId="{0E0C811E-F3C5-4F24-A485-437F0C0EAD6A}" srcOrd="3" destOrd="0" presId="urn:microsoft.com/office/officeart/2005/8/layout/lProcess2"/>
    <dgm:cxn modelId="{49941AF4-CA06-4889-85D6-6DD98D2DD2CA}" type="presParOf" srcId="{CCD58064-6258-410C-B1E0-023DF3946A43}" destId="{80762C44-FA02-441A-8A8D-FC00E4F372F1}" srcOrd="4" destOrd="0" presId="urn:microsoft.com/office/officeart/2005/8/layout/lProcess2"/>
    <dgm:cxn modelId="{F0D6AD8D-67C7-40F1-8513-B523A0967F21}" type="presParOf" srcId="{5473F14B-8F21-412E-B8DE-EADF32D6F521}" destId="{1EEF13C7-AF43-4380-A8A5-F72A5D476D05}" srcOrd="7" destOrd="0" presId="urn:microsoft.com/office/officeart/2005/8/layout/lProcess2"/>
    <dgm:cxn modelId="{0D3FAC14-1BD1-44A9-9B50-B29FA6CFE258}" type="presParOf" srcId="{5473F14B-8F21-412E-B8DE-EADF32D6F521}" destId="{0618492F-D453-4601-9C36-8CE6AA153D1B}" srcOrd="8" destOrd="0" presId="urn:microsoft.com/office/officeart/2005/8/layout/lProcess2"/>
    <dgm:cxn modelId="{B788709F-0524-44CB-8776-31F2CA6C03E9}" type="presParOf" srcId="{0618492F-D453-4601-9C36-8CE6AA153D1B}" destId="{5A591EE2-4B7B-40DB-B051-D75F7BFEDDD6}" srcOrd="0" destOrd="0" presId="urn:microsoft.com/office/officeart/2005/8/layout/lProcess2"/>
    <dgm:cxn modelId="{54986E37-F887-4EBA-A68B-BAECCC4DB826}" type="presParOf" srcId="{0618492F-D453-4601-9C36-8CE6AA153D1B}" destId="{34BAB90F-F3E5-4FFB-A339-2946D1CD0CCB}" srcOrd="1" destOrd="0" presId="urn:microsoft.com/office/officeart/2005/8/layout/lProcess2"/>
    <dgm:cxn modelId="{18C55C7D-D063-478B-8736-0EF63C47167C}" type="presParOf" srcId="{0618492F-D453-4601-9C36-8CE6AA153D1B}" destId="{BA794F96-F89B-483A-BF3A-9118CA9CCDA4}" srcOrd="2" destOrd="0" presId="urn:microsoft.com/office/officeart/2005/8/layout/lProcess2"/>
    <dgm:cxn modelId="{8E74EC32-E962-4143-93B6-B42DE454A74F}" type="presParOf" srcId="{BA794F96-F89B-483A-BF3A-9118CA9CCDA4}" destId="{76BCF6F8-619E-4477-AF5E-3CC45345624F}" srcOrd="0" destOrd="0" presId="urn:microsoft.com/office/officeart/2005/8/layout/lProcess2"/>
    <dgm:cxn modelId="{34DDC6F3-7270-4566-B46B-09920A121B75}" type="presParOf" srcId="{76BCF6F8-619E-4477-AF5E-3CC45345624F}" destId="{F0B767F2-4C7E-481B-967C-8FE0CB529397}" srcOrd="0" destOrd="0" presId="urn:microsoft.com/office/officeart/2005/8/layout/lProcess2"/>
    <dgm:cxn modelId="{055D4CEC-AA0A-4CDD-9AFB-3B855E724888}" type="presParOf" srcId="{76BCF6F8-619E-4477-AF5E-3CC45345624F}" destId="{B342BD1C-A54C-4F1C-A099-03A03E61088D}" srcOrd="1" destOrd="0" presId="urn:microsoft.com/office/officeart/2005/8/layout/lProcess2"/>
    <dgm:cxn modelId="{B6DD3A76-33AA-4690-8865-3DA2BC838B34}" type="presParOf" srcId="{76BCF6F8-619E-4477-AF5E-3CC45345624F}" destId="{6F277C00-29F7-4ECD-8C97-37788C7BA770}" srcOrd="2" destOrd="0" presId="urn:microsoft.com/office/officeart/2005/8/layout/lProcess2"/>
    <dgm:cxn modelId="{690B6B03-BC83-43A1-A20F-24011EE66252}" type="presParOf" srcId="{76BCF6F8-619E-4477-AF5E-3CC45345624F}" destId="{3945A699-1DD4-41EF-B849-687FF56CB987}" srcOrd="3" destOrd="0" presId="urn:microsoft.com/office/officeart/2005/8/layout/lProcess2"/>
    <dgm:cxn modelId="{AC50EDF9-FE56-4AEE-8984-B79D2AE1043D}" type="presParOf" srcId="{76BCF6F8-619E-4477-AF5E-3CC45345624F}" destId="{6C9EBB1C-8DC1-467B-832A-DCA29AD54F62}"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B40AB-A8F0-43CC-AED2-A0B6D3491F03}">
      <dsp:nvSpPr>
        <dsp:cNvPr id="0" name=""/>
        <dsp:cNvSpPr/>
      </dsp:nvSpPr>
      <dsp:spPr>
        <a:xfrm>
          <a:off x="4665"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High dim. data</a:t>
          </a:r>
        </a:p>
      </dsp:txBody>
      <dsp:txXfrm>
        <a:off x="4665" y="0"/>
        <a:ext cx="1637258" cy="1577340"/>
      </dsp:txXfrm>
    </dsp:sp>
    <dsp:sp modelId="{D6B8C86D-B5C5-4707-BB1C-60E6EB9E4EBA}">
      <dsp:nvSpPr>
        <dsp:cNvPr id="0" name=""/>
        <dsp:cNvSpPr/>
      </dsp:nvSpPr>
      <dsp:spPr>
        <a:xfrm>
          <a:off x="168391" y="1577789"/>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Locality sensitive hashing</a:t>
          </a:r>
        </a:p>
      </dsp:txBody>
      <dsp:txXfrm>
        <a:off x="198645" y="1608043"/>
        <a:ext cx="1249298" cy="972439"/>
      </dsp:txXfrm>
    </dsp:sp>
    <dsp:sp modelId="{20F65450-B565-4F6E-8CBD-65CD2502E3B0}">
      <dsp:nvSpPr>
        <dsp:cNvPr id="0" name=""/>
        <dsp:cNvSpPr/>
      </dsp:nvSpPr>
      <dsp:spPr>
        <a:xfrm>
          <a:off x="168391" y="2769651"/>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Clustering</a:t>
          </a:r>
        </a:p>
      </dsp:txBody>
      <dsp:txXfrm>
        <a:off x="198645" y="2799905"/>
        <a:ext cx="1249298" cy="972439"/>
      </dsp:txXfrm>
    </dsp:sp>
    <dsp:sp modelId="{80F88CB8-4B64-4172-B897-E8F8383812F7}">
      <dsp:nvSpPr>
        <dsp:cNvPr id="0" name=""/>
        <dsp:cNvSpPr/>
      </dsp:nvSpPr>
      <dsp:spPr>
        <a:xfrm>
          <a:off x="168391" y="3961513"/>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Dimensionality reduction</a:t>
          </a:r>
        </a:p>
      </dsp:txBody>
      <dsp:txXfrm>
        <a:off x="198645" y="3991767"/>
        <a:ext cx="1249298" cy="972439"/>
      </dsp:txXfrm>
    </dsp:sp>
    <dsp:sp modelId="{C1CD2EAA-2E66-4BDA-BB6E-F99B46E1B919}">
      <dsp:nvSpPr>
        <dsp:cNvPr id="0" name=""/>
        <dsp:cNvSpPr/>
      </dsp:nvSpPr>
      <dsp:spPr>
        <a:xfrm>
          <a:off x="1764718"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Graph </a:t>
          </a:r>
          <a:br>
            <a:rPr lang="en-US" sz="2400" b="1" kern="1200" dirty="0"/>
          </a:br>
          <a:r>
            <a:rPr lang="en-US" sz="2400" b="1" kern="1200" dirty="0"/>
            <a:t>data</a:t>
          </a:r>
        </a:p>
      </dsp:txBody>
      <dsp:txXfrm>
        <a:off x="1764718" y="0"/>
        <a:ext cx="1637258" cy="1577340"/>
      </dsp:txXfrm>
    </dsp:sp>
    <dsp:sp modelId="{EFE71110-9F14-440A-945D-9BFF90054013}">
      <dsp:nvSpPr>
        <dsp:cNvPr id="0" name=""/>
        <dsp:cNvSpPr/>
      </dsp:nvSpPr>
      <dsp:spPr>
        <a:xfrm>
          <a:off x="1928444" y="1577789"/>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PageRank, </a:t>
          </a:r>
          <a:r>
            <a:rPr lang="en-US" sz="1800" kern="1200" dirty="0" err="1">
              <a:latin typeface="Calibri" pitchFamily="34" charset="0"/>
              <a:cs typeface="Calibri" pitchFamily="34" charset="0"/>
            </a:rPr>
            <a:t>SimRank</a:t>
          </a:r>
          <a:endParaRPr lang="en-US" sz="1800" kern="1200" dirty="0">
            <a:latin typeface="Calibri" pitchFamily="34" charset="0"/>
            <a:cs typeface="Calibri" pitchFamily="34" charset="0"/>
          </a:endParaRPr>
        </a:p>
      </dsp:txBody>
      <dsp:txXfrm>
        <a:off x="1958698" y="1608043"/>
        <a:ext cx="1249298" cy="972439"/>
      </dsp:txXfrm>
    </dsp:sp>
    <dsp:sp modelId="{9E190C18-AEDE-45E1-8A46-924B1190ACB6}">
      <dsp:nvSpPr>
        <dsp:cNvPr id="0" name=""/>
        <dsp:cNvSpPr/>
      </dsp:nvSpPr>
      <dsp:spPr>
        <a:xfrm>
          <a:off x="1928444" y="2769651"/>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Community Detection</a:t>
          </a:r>
        </a:p>
      </dsp:txBody>
      <dsp:txXfrm>
        <a:off x="1958698" y="2799905"/>
        <a:ext cx="1249298" cy="972439"/>
      </dsp:txXfrm>
    </dsp:sp>
    <dsp:sp modelId="{EB498954-62A4-422D-9DE3-1FA74DD1D37F}">
      <dsp:nvSpPr>
        <dsp:cNvPr id="0" name=""/>
        <dsp:cNvSpPr/>
      </dsp:nvSpPr>
      <dsp:spPr>
        <a:xfrm>
          <a:off x="1928444" y="3961513"/>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Spam Detection</a:t>
          </a:r>
        </a:p>
      </dsp:txBody>
      <dsp:txXfrm>
        <a:off x="1958698" y="3991767"/>
        <a:ext cx="1249298" cy="972439"/>
      </dsp:txXfrm>
    </dsp:sp>
    <dsp:sp modelId="{9A6AB0E7-12CE-4F4C-9194-CFD62AA0E26B}">
      <dsp:nvSpPr>
        <dsp:cNvPr id="0" name=""/>
        <dsp:cNvSpPr/>
      </dsp:nvSpPr>
      <dsp:spPr>
        <a:xfrm>
          <a:off x="3524770"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Infinite </a:t>
          </a:r>
          <a:br>
            <a:rPr lang="en-US" sz="2400" b="1" kern="1200" dirty="0"/>
          </a:br>
          <a:r>
            <a:rPr lang="en-US" sz="2400" b="1" kern="1200" dirty="0"/>
            <a:t>data</a:t>
          </a:r>
        </a:p>
      </dsp:txBody>
      <dsp:txXfrm>
        <a:off x="3524770" y="0"/>
        <a:ext cx="1637258" cy="1577340"/>
      </dsp:txXfrm>
    </dsp:sp>
    <dsp:sp modelId="{DECF7DEE-4FD4-4CE5-AEDF-10353AC11531}">
      <dsp:nvSpPr>
        <dsp:cNvPr id="0" name=""/>
        <dsp:cNvSpPr/>
      </dsp:nvSpPr>
      <dsp:spPr>
        <a:xfrm>
          <a:off x="3688496" y="1577789"/>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Filtering data streams</a:t>
          </a:r>
        </a:p>
      </dsp:txBody>
      <dsp:txXfrm>
        <a:off x="3718750" y="1608043"/>
        <a:ext cx="1249298" cy="972439"/>
      </dsp:txXfrm>
    </dsp:sp>
    <dsp:sp modelId="{02FBE83C-F7E3-4AC9-9A61-66BF67D7D8B6}">
      <dsp:nvSpPr>
        <dsp:cNvPr id="0" name=""/>
        <dsp:cNvSpPr/>
      </dsp:nvSpPr>
      <dsp:spPr>
        <a:xfrm>
          <a:off x="3688496" y="2769651"/>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Web advertising</a:t>
          </a:r>
        </a:p>
      </dsp:txBody>
      <dsp:txXfrm>
        <a:off x="3718750" y="2799905"/>
        <a:ext cx="1249298" cy="972439"/>
      </dsp:txXfrm>
    </dsp:sp>
    <dsp:sp modelId="{1EC52667-0754-4666-9083-6E56A0F9B67B}">
      <dsp:nvSpPr>
        <dsp:cNvPr id="0" name=""/>
        <dsp:cNvSpPr/>
      </dsp:nvSpPr>
      <dsp:spPr>
        <a:xfrm>
          <a:off x="3688496" y="3961513"/>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Queries on streams</a:t>
          </a:r>
        </a:p>
      </dsp:txBody>
      <dsp:txXfrm>
        <a:off x="3718750" y="3991767"/>
        <a:ext cx="1249298" cy="972439"/>
      </dsp:txXfrm>
    </dsp:sp>
    <dsp:sp modelId="{18B77C7D-672C-4358-9CA6-BD8FA6E2302A}">
      <dsp:nvSpPr>
        <dsp:cNvPr id="0" name=""/>
        <dsp:cNvSpPr/>
      </dsp:nvSpPr>
      <dsp:spPr>
        <a:xfrm>
          <a:off x="5284823"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Machine learning</a:t>
          </a:r>
        </a:p>
      </dsp:txBody>
      <dsp:txXfrm>
        <a:off x="5284823" y="0"/>
        <a:ext cx="1637258" cy="1577340"/>
      </dsp:txXfrm>
    </dsp:sp>
    <dsp:sp modelId="{204F3481-2F4C-45A5-A0A1-C088684F0126}">
      <dsp:nvSpPr>
        <dsp:cNvPr id="0" name=""/>
        <dsp:cNvSpPr/>
      </dsp:nvSpPr>
      <dsp:spPr>
        <a:xfrm>
          <a:off x="5448549" y="1577789"/>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SVM</a:t>
          </a:r>
        </a:p>
      </dsp:txBody>
      <dsp:txXfrm>
        <a:off x="5478803" y="1608043"/>
        <a:ext cx="1249298" cy="972439"/>
      </dsp:txXfrm>
    </dsp:sp>
    <dsp:sp modelId="{0F3CAB81-CF76-498F-9619-BAF8144FA3C3}">
      <dsp:nvSpPr>
        <dsp:cNvPr id="0" name=""/>
        <dsp:cNvSpPr/>
      </dsp:nvSpPr>
      <dsp:spPr>
        <a:xfrm>
          <a:off x="5448549" y="2769651"/>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Decision Trees</a:t>
          </a:r>
        </a:p>
      </dsp:txBody>
      <dsp:txXfrm>
        <a:off x="5478803" y="2799905"/>
        <a:ext cx="1249298" cy="972439"/>
      </dsp:txXfrm>
    </dsp:sp>
    <dsp:sp modelId="{80762C44-FA02-441A-8A8D-FC00E4F372F1}">
      <dsp:nvSpPr>
        <dsp:cNvPr id="0" name=""/>
        <dsp:cNvSpPr/>
      </dsp:nvSpPr>
      <dsp:spPr>
        <a:xfrm>
          <a:off x="5448549" y="3961513"/>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Perceptron, </a:t>
          </a:r>
          <a:r>
            <a:rPr lang="en-US" sz="1800" kern="1200" dirty="0" err="1">
              <a:latin typeface="Calibri" pitchFamily="34" charset="0"/>
              <a:cs typeface="Calibri" pitchFamily="34" charset="0"/>
            </a:rPr>
            <a:t>kNN</a:t>
          </a:r>
          <a:endParaRPr lang="en-US" sz="1800" kern="1200" dirty="0">
            <a:latin typeface="Calibri" pitchFamily="34" charset="0"/>
            <a:cs typeface="Calibri" pitchFamily="34" charset="0"/>
          </a:endParaRPr>
        </a:p>
      </dsp:txBody>
      <dsp:txXfrm>
        <a:off x="5478803" y="3991767"/>
        <a:ext cx="1249298" cy="972439"/>
      </dsp:txXfrm>
    </dsp:sp>
    <dsp:sp modelId="{5A591EE2-4B7B-40DB-B051-D75F7BFEDDD6}">
      <dsp:nvSpPr>
        <dsp:cNvPr id="0" name=""/>
        <dsp:cNvSpPr/>
      </dsp:nvSpPr>
      <dsp:spPr>
        <a:xfrm>
          <a:off x="7044876"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Apps</a:t>
          </a:r>
        </a:p>
      </dsp:txBody>
      <dsp:txXfrm>
        <a:off x="7044876" y="0"/>
        <a:ext cx="1637258" cy="1577340"/>
      </dsp:txXfrm>
    </dsp:sp>
    <dsp:sp modelId="{F0B767F2-4C7E-481B-967C-8FE0CB529397}">
      <dsp:nvSpPr>
        <dsp:cNvPr id="0" name=""/>
        <dsp:cNvSpPr/>
      </dsp:nvSpPr>
      <dsp:spPr>
        <a:xfrm>
          <a:off x="7208601" y="1577789"/>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Recommender systems</a:t>
          </a:r>
        </a:p>
      </dsp:txBody>
      <dsp:txXfrm>
        <a:off x="7238855" y="1608043"/>
        <a:ext cx="1249298" cy="972439"/>
      </dsp:txXfrm>
    </dsp:sp>
    <dsp:sp modelId="{6F277C00-29F7-4ECD-8C97-37788C7BA770}">
      <dsp:nvSpPr>
        <dsp:cNvPr id="0" name=""/>
        <dsp:cNvSpPr/>
      </dsp:nvSpPr>
      <dsp:spPr>
        <a:xfrm>
          <a:off x="7208601" y="2769651"/>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Association Rules</a:t>
          </a:r>
        </a:p>
      </dsp:txBody>
      <dsp:txXfrm>
        <a:off x="7238855" y="2799905"/>
        <a:ext cx="1249298" cy="972439"/>
      </dsp:txXfrm>
    </dsp:sp>
    <dsp:sp modelId="{6C9EBB1C-8DC1-467B-832A-DCA29AD54F62}">
      <dsp:nvSpPr>
        <dsp:cNvPr id="0" name=""/>
        <dsp:cNvSpPr/>
      </dsp:nvSpPr>
      <dsp:spPr>
        <a:xfrm>
          <a:off x="7208601" y="3961513"/>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Duplicate document detection</a:t>
          </a:r>
        </a:p>
      </dsp:txBody>
      <dsp:txXfrm>
        <a:off x="7238855" y="3991767"/>
        <a:ext cx="1249298" cy="97243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7/28/2026</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7/28/2026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a:solidFill>
                  <a:schemeClr val="tx1"/>
                </a:solidFill>
                <a:latin typeface="+mn-lt"/>
                <a:ea typeface="+mn-ea"/>
                <a:cs typeface="+mn-cs"/>
              </a:rPr>
              <a:t>Around </a:t>
            </a:r>
            <a:r>
              <a:rPr lang="en-US" sz="1200" b="0" i="0" u="none" strike="noStrike" kern="1200" baseline="0" dirty="0">
                <a:solidFill>
                  <a:schemeClr val="tx1"/>
                </a:solidFill>
                <a:latin typeface="+mn-lt"/>
                <a:ea typeface="+mn-ea"/>
                <a:cs typeface="+mn-cs"/>
              </a:rPr>
              <a:t>2010, people instead started to speak of “big data.</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Today, the popular term is “data science.” However, during all this time, the concept remained the same:</a:t>
            </a:r>
          </a:p>
          <a:p>
            <a:r>
              <a:rPr lang="en-US" sz="1200" b="0" i="0" u="none" strike="noStrike" kern="1200" baseline="0" dirty="0">
                <a:solidFill>
                  <a:schemeClr val="tx1"/>
                </a:solidFill>
                <a:latin typeface="+mn-lt"/>
                <a:ea typeface="+mn-ea"/>
                <a:cs typeface="+mn-cs"/>
              </a:rPr>
              <a:t>use the most powerful hardware, the most powerful programming systems, and</a:t>
            </a:r>
          </a:p>
          <a:p>
            <a:r>
              <a:rPr lang="en-US" sz="1200" b="0" i="0" u="none" strike="noStrike" kern="1200" baseline="0" dirty="0">
                <a:solidFill>
                  <a:schemeClr val="tx1"/>
                </a:solidFill>
                <a:latin typeface="+mn-lt"/>
                <a:ea typeface="+mn-ea"/>
                <a:cs typeface="+mn-cs"/>
              </a:rPr>
              <a:t>the most efficient algorithms to solve problems in science, commerce, healthcare,</a:t>
            </a:r>
          </a:p>
          <a:p>
            <a:r>
              <a:rPr lang="en-US" sz="1200" b="0" i="0" u="none" strike="noStrike" kern="1200" baseline="0" dirty="0">
                <a:solidFill>
                  <a:schemeClr val="tx1"/>
                </a:solidFill>
                <a:latin typeface="+mn-lt"/>
                <a:ea typeface="+mn-ea"/>
                <a:cs typeface="+mn-cs"/>
              </a:rPr>
              <a:t>government, the humanities, and many other fields of human endeavor.</a:t>
            </a:r>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190556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ln/>
        </p:spPr>
        <p:txBody>
          <a:bodyPr/>
          <a:lstStyle/>
          <a:p>
            <a:fld id="{2552EC9B-4434-439B-A9C4-32E0F500F4D4}" type="slidenum">
              <a:rPr lang="en-US"/>
              <a:pPr/>
              <a:t>7</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r>
              <a:rPr lang="en-US" sz="1200" b="0" i="0" u="none" strike="noStrike" kern="1200" baseline="0" dirty="0">
                <a:solidFill>
                  <a:schemeClr val="tx1"/>
                </a:solidFill>
                <a:latin typeface="+mn-lt"/>
                <a:ea typeface="+mn-ea"/>
                <a:cs typeface="+mn-cs"/>
              </a:rPr>
              <a:t>To many, data mining is the process of creating a model from data, often by</a:t>
            </a:r>
          </a:p>
          <a:p>
            <a:r>
              <a:rPr lang="en-US" sz="1200" b="0" i="0" u="none" strike="noStrike" kern="1200" baseline="0" dirty="0">
                <a:solidFill>
                  <a:schemeClr val="tx1"/>
                </a:solidFill>
                <a:latin typeface="+mn-lt"/>
                <a:ea typeface="+mn-ea"/>
                <a:cs typeface="+mn-cs"/>
              </a:rPr>
              <a:t>the process of machine learning.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However, more generally, the objective of data mining</a:t>
            </a:r>
          </a:p>
          <a:p>
            <a:r>
              <a:rPr lang="en-IN" sz="1200" b="0" i="0" u="none" strike="noStrike" kern="1200" baseline="0" dirty="0">
                <a:solidFill>
                  <a:schemeClr val="tx1"/>
                </a:solidFill>
                <a:latin typeface="+mn-lt"/>
                <a:ea typeface="+mn-ea"/>
                <a:cs typeface="+mn-cs"/>
              </a:rPr>
              <a:t>is an algorithm.</a:t>
            </a:r>
          </a:p>
          <a:p>
            <a:endParaRPr lang="en-IN"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Consider the problem of detecting emails that are phishing</a:t>
            </a:r>
          </a:p>
          <a:p>
            <a:r>
              <a:rPr lang="en-US" sz="1200" b="0" i="0" u="none" strike="noStrike" kern="1200" baseline="0" dirty="0">
                <a:solidFill>
                  <a:schemeClr val="tx1"/>
                </a:solidFill>
                <a:latin typeface="+mn-lt"/>
                <a:ea typeface="+mn-ea"/>
                <a:cs typeface="+mn-cs"/>
              </a:rPr>
              <a:t>attacks. The most common approach is to build a model of phishing emails,</a:t>
            </a:r>
          </a:p>
          <a:p>
            <a:r>
              <a:rPr lang="en-US" sz="1200" b="0" i="0" u="none" strike="noStrike" kern="1200" baseline="0" dirty="0">
                <a:solidFill>
                  <a:schemeClr val="tx1"/>
                </a:solidFill>
                <a:latin typeface="+mn-lt"/>
                <a:ea typeface="+mn-ea"/>
                <a:cs typeface="+mn-cs"/>
              </a:rPr>
              <a:t>perhaps by examining emails that people have recently reported as phishing</a:t>
            </a:r>
          </a:p>
          <a:p>
            <a:r>
              <a:rPr lang="en-US" sz="1200" b="0" i="0" u="none" strike="noStrike" kern="1200" baseline="0" dirty="0">
                <a:solidFill>
                  <a:schemeClr val="tx1"/>
                </a:solidFill>
                <a:latin typeface="+mn-lt"/>
                <a:ea typeface="+mn-ea"/>
                <a:cs typeface="+mn-cs"/>
              </a:rPr>
              <a:t>attacks and looking for the words or phrases that appear unusually often in</a:t>
            </a:r>
          </a:p>
          <a:p>
            <a:r>
              <a:rPr lang="en-US" sz="1200" b="0" i="0" u="none" strike="noStrike" kern="1200" baseline="0" dirty="0">
                <a:solidFill>
                  <a:schemeClr val="tx1"/>
                </a:solidFill>
                <a:latin typeface="+mn-lt"/>
                <a:ea typeface="+mn-ea"/>
                <a:cs typeface="+mn-cs"/>
              </a:rPr>
              <a:t>those emails, such as “Nigerian prince” or “verify account.” The model could</a:t>
            </a:r>
          </a:p>
          <a:p>
            <a:r>
              <a:rPr lang="en-US" sz="1200" b="0" i="0" u="none" strike="noStrike" kern="1200" baseline="0" dirty="0">
                <a:solidFill>
                  <a:schemeClr val="tx1"/>
                </a:solidFill>
                <a:latin typeface="+mn-lt"/>
                <a:ea typeface="+mn-ea"/>
                <a:cs typeface="+mn-cs"/>
              </a:rPr>
              <a:t>be weights on words, with positive weights for words that appear frequently in</a:t>
            </a:r>
          </a:p>
          <a:p>
            <a:r>
              <a:rPr lang="en-US" sz="1200" b="0" i="0" u="none" strike="noStrike" kern="1200" baseline="0" dirty="0">
                <a:solidFill>
                  <a:schemeClr val="tx1"/>
                </a:solidFill>
                <a:latin typeface="+mn-lt"/>
                <a:ea typeface="+mn-ea"/>
                <a:cs typeface="+mn-cs"/>
              </a:rPr>
              <a:t>phishing emails and negative weights for words that do not. Then the algorithm</a:t>
            </a:r>
          </a:p>
          <a:p>
            <a:r>
              <a:rPr lang="en-US" sz="1200" b="0" i="0" u="none" strike="noStrike" kern="1200" baseline="0" dirty="0">
                <a:solidFill>
                  <a:schemeClr val="tx1"/>
                </a:solidFill>
                <a:latin typeface="+mn-lt"/>
                <a:ea typeface="+mn-ea"/>
                <a:cs typeface="+mn-cs"/>
              </a:rPr>
              <a:t>to detect phishing emails is simple. Apply the model to each email, that is, sum</a:t>
            </a:r>
          </a:p>
          <a:p>
            <a:r>
              <a:rPr lang="en-US" sz="1200" b="0" i="0" u="none" strike="noStrike" kern="1200" baseline="0" dirty="0">
                <a:solidFill>
                  <a:schemeClr val="tx1"/>
                </a:solidFill>
                <a:latin typeface="+mn-lt"/>
                <a:ea typeface="+mn-ea"/>
                <a:cs typeface="+mn-cs"/>
              </a:rPr>
              <a:t>the weights of the words in that email, and say the email is phishing if and only</a:t>
            </a:r>
          </a:p>
          <a:p>
            <a:r>
              <a:rPr lang="en-US" sz="1200" b="0" i="0" u="none" strike="noStrike" kern="1200" baseline="0" dirty="0">
                <a:solidFill>
                  <a:schemeClr val="tx1"/>
                </a:solidFill>
                <a:latin typeface="+mn-lt"/>
                <a:ea typeface="+mn-ea"/>
                <a:cs typeface="+mn-cs"/>
              </a:rPr>
              <a:t>if the sum is positive.</a:t>
            </a:r>
            <a:endParaRPr lang="en-IN"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Yet in many important applications, the hard part is creating the</a:t>
            </a:r>
          </a:p>
          <a:p>
            <a:r>
              <a:rPr lang="en-US" sz="1200" b="0" i="0" u="none" strike="noStrike" kern="1200" baseline="0" dirty="0">
                <a:solidFill>
                  <a:schemeClr val="tx1"/>
                </a:solidFill>
                <a:latin typeface="+mn-lt"/>
                <a:ea typeface="+mn-ea"/>
                <a:cs typeface="+mn-cs"/>
              </a:rPr>
              <a:t>model, and once the model is available, the algorithm to use the model is</a:t>
            </a:r>
          </a:p>
          <a:p>
            <a:r>
              <a:rPr lang="en-IN" sz="1200" b="0" i="0" u="none" strike="noStrike" kern="1200" baseline="0" dirty="0">
                <a:solidFill>
                  <a:schemeClr val="tx1"/>
                </a:solidFill>
                <a:latin typeface="+mn-lt"/>
                <a:ea typeface="+mn-ea"/>
                <a:cs typeface="+mn-cs"/>
              </a:rPr>
              <a:t>straightforward.</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Bonferroni’s Principle states that when searching large datasets, some unusual patterns will appear purely by chance, even if there is no real meaning behind them. If the number of random occurrences is much higher than the number of actual events you are trying to find, most of the detected results will be false positives. Therefore, to identify real events reliably, you should look for patterns that are very rare and unlikely to occur in random data.</a:t>
            </a:r>
          </a:p>
          <a:p>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705043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To find evil-doers in this data, we shall look for people who, on two different</a:t>
            </a:r>
          </a:p>
          <a:p>
            <a:r>
              <a:rPr lang="en-US" sz="1200" b="0" i="0" u="none" strike="noStrike" kern="1200" baseline="0" dirty="0">
                <a:solidFill>
                  <a:schemeClr val="tx1"/>
                </a:solidFill>
                <a:latin typeface="+mn-lt"/>
                <a:ea typeface="+mn-ea"/>
                <a:cs typeface="+mn-cs"/>
              </a:rPr>
              <a:t>days, were both at the same hotel.</a:t>
            </a:r>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1986904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Ontologies are semantic data models that define concepts and relationships, enabling machines to understand and reason about the meaning of data rather than just storing raw values.</a:t>
            </a:r>
          </a:p>
        </p:txBody>
      </p:sp>
      <p:sp>
        <p:nvSpPr>
          <p:cNvPr id="4" name="Slide Number Placeholder 3"/>
          <p:cNvSpPr>
            <a:spLocks noGrp="1"/>
          </p:cNvSpPr>
          <p:nvPr>
            <p:ph type="sldNum" sz="quarter" idx="5"/>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1646424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Rot="1" noChangeAspect="1" noChangeArrowheads="1"/>
          </p:cNvSpPr>
          <p:nvPr>
            <p:ph type="sldImg"/>
          </p:nvPr>
        </p:nvSpPr>
        <p:spPr bwMode="auto">
          <a:xfrm>
            <a:off x="1260475" y="722313"/>
            <a:ext cx="4797425" cy="3598862"/>
          </a:xfrm>
          <a:prstGeom prst="rect">
            <a:avLst/>
          </a:prstGeom>
          <a:solidFill>
            <a:srgbClr val="FFFFFF"/>
          </a:solidFill>
          <a:ln>
            <a:solidFill>
              <a:srgbClr val="000000"/>
            </a:solidFill>
            <a:miter lim="800000"/>
            <a:headEnd/>
            <a:tailEnd/>
          </a:ln>
        </p:spPr>
      </p:sp>
      <p:sp>
        <p:nvSpPr>
          <p:cNvPr id="659459" name="Rectangle 3"/>
          <p:cNvSpPr>
            <a:spLocks noGrp="1" noChangeArrowheads="1"/>
          </p:cNvSpPr>
          <p:nvPr>
            <p:ph type="body" idx="1"/>
          </p:nvPr>
        </p:nvSpPr>
        <p:spPr bwMode="auto">
          <a:xfrm>
            <a:off x="974726" y="4559301"/>
            <a:ext cx="5365750" cy="4319588"/>
          </a:xfrm>
          <a:prstGeom prst="rect">
            <a:avLst/>
          </a:prstGeom>
          <a:solidFill>
            <a:srgbClr val="FFFFFF"/>
          </a:solidFill>
          <a:ln>
            <a:solidFill>
              <a:srgbClr val="000000"/>
            </a:solidFill>
            <a:miter lim="800000"/>
            <a:headEnd/>
            <a:tailEnd/>
          </a:ln>
        </p:spPr>
        <p:txBody>
          <a:bodyPr lIns="95027" tIns="47512" rIns="95027" bIns="47512"/>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Rot="1" noChangeAspect="1" noChangeArrowheads="1"/>
          </p:cNvSpPr>
          <p:nvPr>
            <p:ph type="sldImg"/>
          </p:nvPr>
        </p:nvSpPr>
        <p:spPr bwMode="auto">
          <a:xfrm>
            <a:off x="1260475" y="722313"/>
            <a:ext cx="4797425" cy="3598862"/>
          </a:xfrm>
          <a:prstGeom prst="rect">
            <a:avLst/>
          </a:prstGeom>
          <a:solidFill>
            <a:srgbClr val="FFFFFF"/>
          </a:solidFill>
          <a:ln>
            <a:solidFill>
              <a:srgbClr val="000000"/>
            </a:solidFill>
            <a:miter lim="800000"/>
            <a:headEnd/>
            <a:tailEnd/>
          </a:ln>
        </p:spPr>
      </p:sp>
      <p:sp>
        <p:nvSpPr>
          <p:cNvPr id="659459" name="Rectangle 3"/>
          <p:cNvSpPr>
            <a:spLocks noGrp="1" noChangeArrowheads="1"/>
          </p:cNvSpPr>
          <p:nvPr>
            <p:ph type="body" idx="1"/>
          </p:nvPr>
        </p:nvSpPr>
        <p:spPr bwMode="auto">
          <a:xfrm>
            <a:off x="974726" y="4559301"/>
            <a:ext cx="5365750" cy="4319588"/>
          </a:xfrm>
          <a:prstGeom prst="rect">
            <a:avLst/>
          </a:prstGeom>
          <a:solidFill>
            <a:srgbClr val="FFFFFF"/>
          </a:solidFill>
          <a:ln>
            <a:solidFill>
              <a:srgbClr val="000000"/>
            </a:solidFill>
            <a:miter lim="800000"/>
            <a:headEnd/>
            <a:tailEnd/>
          </a:ln>
        </p:spPr>
        <p:txBody>
          <a:bodyPr lIns="95027" tIns="47512" rIns="95027" bIns="47512"/>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a:r>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166990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a:t>
            </a:r>
          </a:p>
          <a:p>
            <a:r>
              <a:rPr lang="en-IN" dirty="0"/>
              <a:t>Email Spam Detection</a:t>
            </a:r>
          </a:p>
          <a:p>
            <a:r>
              <a:rPr lang="en-IN" dirty="0"/>
              <a:t>Disease Diagnosis</a:t>
            </a:r>
          </a:p>
          <a:p>
            <a:r>
              <a:rPr lang="en-IN" dirty="0"/>
              <a:t>Student Performance Prediction</a:t>
            </a:r>
          </a:p>
          <a:p>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2639219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p>
          <a:p>
            <a:r>
              <a:rPr lang="en-IN" dirty="0"/>
              <a:t>Customer Segmentation</a:t>
            </a:r>
          </a:p>
          <a:p>
            <a:r>
              <a:rPr lang="en-IN" dirty="0"/>
              <a:t>Anomaly Detection</a:t>
            </a:r>
          </a:p>
          <a:p>
            <a:r>
              <a:rPr lang="en-IN" dirty="0"/>
              <a:t>Social Network Analysis</a:t>
            </a:r>
          </a:p>
        </p:txBody>
      </p:sp>
      <p:sp>
        <p:nvSpPr>
          <p:cNvPr id="4" name="Slide Number Placeholder 3"/>
          <p:cNvSpPr>
            <a:spLocks noGrp="1"/>
          </p:cNvSpPr>
          <p:nvPr>
            <p:ph type="sldNum" sz="quarter" idx="5"/>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1312834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TF-IDF (Term Frequency–Inverse Document Frequency) is a statistical measure that tells us how important a word is to a specific document, compared to how commonly it appears across all documents. </a:t>
            </a:r>
          </a:p>
          <a:p>
            <a:r>
              <a:rPr lang="en-US" b="0" dirty="0"/>
              <a:t>TF-IDF measures how unique and meaningful a word is in a document by checking:</a:t>
            </a:r>
          </a:p>
          <a:p>
            <a:r>
              <a:rPr lang="en-US" b="0" dirty="0"/>
              <a:t>How often the word appears in that document (TF), and</a:t>
            </a:r>
          </a:p>
          <a:p>
            <a:r>
              <a:rPr lang="en-US" b="0" dirty="0"/>
              <a:t>How rare or uncommon it is across all documents (IDF).</a:t>
            </a:r>
          </a:p>
          <a:p>
            <a:r>
              <a:rPr lang="en-US" b="0" dirty="0"/>
              <a:t>If a word appears often in one document but is rare in others, it gets a high TF-IDF score, meaning it's important for identifying the topic of that document.</a:t>
            </a:r>
          </a:p>
          <a:p>
            <a:endParaRPr lang="en-IN" b="0" dirty="0"/>
          </a:p>
          <a:p>
            <a:r>
              <a:rPr lang="en-US" b="0" dirty="0"/>
              <a:t>We want words that:</a:t>
            </a:r>
          </a:p>
          <a:p>
            <a:r>
              <a:rPr lang="en-US" b="0" dirty="0"/>
              <a:t>Are not too common across all documents, and</a:t>
            </a:r>
          </a:p>
          <a:p>
            <a:r>
              <a:rPr lang="en-US" b="0" dirty="0"/>
              <a:t>Occur more often in specific documents related to a topic.</a:t>
            </a:r>
          </a:p>
          <a:p>
            <a:r>
              <a:rPr lang="en-US" b="0" dirty="0"/>
              <a:t>These are the words that help identify the topic of a document.</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4174688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TFij</a:t>
            </a:r>
            <a:r>
              <a:rPr lang="en-US" b="0" dirty="0"/>
              <a:t>​: Term Frequency of word </a:t>
            </a:r>
            <a:r>
              <a:rPr lang="en-US" b="0" dirty="0" err="1"/>
              <a:t>i</a:t>
            </a:r>
            <a:r>
              <a:rPr lang="en-US" b="0" dirty="0"/>
              <a:t> in document j.</a:t>
            </a:r>
          </a:p>
          <a:p>
            <a:r>
              <a:rPr lang="en-US" b="0" dirty="0" err="1"/>
              <a:t>fij</a:t>
            </a:r>
            <a:r>
              <a:rPr lang="en-US" b="0" dirty="0"/>
              <a:t>​: The number of times word </a:t>
            </a:r>
            <a:r>
              <a:rPr lang="en-US" b="0" dirty="0" err="1"/>
              <a:t>i</a:t>
            </a:r>
            <a:r>
              <a:rPr lang="en-US" b="0" dirty="0"/>
              <a:t> appears in document j.</a:t>
            </a:r>
          </a:p>
          <a:p>
            <a:endParaRPr lang="en-US" b="0" dirty="0"/>
          </a:p>
          <a:p>
            <a:r>
              <a:rPr lang="en-US" b="0" dirty="0"/>
              <a:t>This formula normalizes how often a word appears in a document — it compares it to the most frequent word in that same document.</a:t>
            </a:r>
          </a:p>
          <a:p>
            <a:r>
              <a:rPr lang="en-US" b="0" dirty="0"/>
              <a:t>So,</a:t>
            </a:r>
          </a:p>
          <a:p>
            <a:r>
              <a:rPr lang="en-US" b="0" dirty="0"/>
              <a:t>If word </a:t>
            </a:r>
            <a:r>
              <a:rPr lang="en-US" b="0" dirty="0" err="1"/>
              <a:t>i</a:t>
            </a:r>
            <a:r>
              <a:rPr lang="en-US" b="0" dirty="0"/>
              <a:t> is the most frequent word → TF=1</a:t>
            </a:r>
          </a:p>
          <a:p>
            <a:r>
              <a:rPr lang="en-US" b="0" dirty="0"/>
              <a:t>If it appears less frequently → TF is a fraction &lt; 1</a:t>
            </a:r>
          </a:p>
          <a:p>
            <a:endParaRPr lang="en-US" b="0" dirty="0"/>
          </a:p>
          <a:p>
            <a:r>
              <a:rPr lang="en-US" b="0" dirty="0"/>
              <a:t>Why normalize?</a:t>
            </a:r>
          </a:p>
          <a:p>
            <a:r>
              <a:rPr lang="en-US" b="0" dirty="0"/>
              <a:t>To make sure long documents don’t unfairly favor frequently occurring words.</a:t>
            </a:r>
          </a:p>
          <a:p>
            <a:endParaRPr lang="en-US" b="0" dirty="0"/>
          </a:p>
          <a:p>
            <a:r>
              <a:rPr lang="en-US" b="0" dirty="0" err="1"/>
              <a:t>max_k</a:t>
            </a:r>
            <a:r>
              <a:rPr lang="en-US" b="0" dirty="0"/>
              <a:t> f_{</a:t>
            </a:r>
            <a:r>
              <a:rPr lang="en-US" b="0" dirty="0" err="1"/>
              <a:t>kj</a:t>
            </a:r>
            <a:r>
              <a:rPr lang="en-US" b="0" dirty="0"/>
              <a:t>}​: The maximum frequency of any word in document j.</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232501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IDFi</a:t>
            </a:r>
            <a:r>
              <a:rPr lang="en-US" b="0" dirty="0"/>
              <a:t>​: Inverse Document Frequency of word </a:t>
            </a:r>
            <a:r>
              <a:rPr lang="en-US" b="0" dirty="0" err="1"/>
              <a:t>i</a:t>
            </a:r>
            <a:endParaRPr lang="en-US" b="0" dirty="0"/>
          </a:p>
          <a:p>
            <a:r>
              <a:rPr lang="en-US" b="0" dirty="0"/>
              <a:t>N: Total number of documents</a:t>
            </a:r>
          </a:p>
          <a:p>
            <a:r>
              <a:rPr lang="en-US" b="0" dirty="0" err="1"/>
              <a:t>ni</a:t>
            </a:r>
            <a:r>
              <a:rPr lang="en-US" b="0" dirty="0"/>
              <a:t>​: Number of documents that contain word </a:t>
            </a:r>
            <a:r>
              <a:rPr lang="en-US" b="0" dirty="0" err="1"/>
              <a:t>i</a:t>
            </a:r>
            <a:endParaRPr lang="en-US" b="0" dirty="0"/>
          </a:p>
          <a:p>
            <a:endParaRPr lang="en-US" b="0" dirty="0"/>
          </a:p>
          <a:p>
            <a:r>
              <a:rPr lang="en-US" b="0" dirty="0"/>
              <a:t>This tells us how rare or unique a word is across all documents.</a:t>
            </a:r>
          </a:p>
          <a:p>
            <a:r>
              <a:rPr lang="en-US" b="0" dirty="0"/>
              <a:t>If a word appears in many documents, </a:t>
            </a:r>
            <a:r>
              <a:rPr lang="en-US" b="0" dirty="0" err="1"/>
              <a:t>ni</a:t>
            </a:r>
            <a:r>
              <a:rPr lang="en-US" b="0" dirty="0"/>
              <a:t>​ is large → IDF is low.</a:t>
            </a:r>
          </a:p>
          <a:p>
            <a:r>
              <a:rPr lang="en-US" b="0" dirty="0"/>
              <a:t>If a word appears in very few documents, </a:t>
            </a:r>
            <a:r>
              <a:rPr lang="en-US" b="0" dirty="0" err="1"/>
              <a:t>ni</a:t>
            </a:r>
            <a:r>
              <a:rPr lang="en-US" b="0" dirty="0"/>
              <a:t>​ is small → IDF is high.</a:t>
            </a:r>
          </a:p>
          <a:p>
            <a:endParaRPr lang="en-US" b="0" dirty="0"/>
          </a:p>
          <a:p>
            <a:r>
              <a:rPr lang="en-US" b="0" dirty="0"/>
              <a:t>Helps </a:t>
            </a:r>
            <a:r>
              <a:rPr lang="en-US" b="0" dirty="0" err="1"/>
              <a:t>downweight</a:t>
            </a:r>
            <a:r>
              <a:rPr lang="en-US" b="0" dirty="0"/>
              <a:t> common words (like "the", "is") and highlight unique words that are more useful for identifying topics.</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62044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2353706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2803538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Consider a document </a:t>
            </a:r>
            <a:r>
              <a:rPr lang="en-IN" b="1" dirty="0"/>
              <a:t>D</a:t>
            </a:r>
            <a:r>
              <a:rPr lang="en-IN" dirty="0"/>
              <a:t> in which the term </a:t>
            </a:r>
            <a:r>
              <a:rPr lang="en-IN" b="1" dirty="0"/>
              <a:t>"security"</a:t>
            </a:r>
            <a:r>
              <a:rPr lang="en-IN" dirty="0"/>
              <a:t> appears </a:t>
            </a:r>
            <a:r>
              <a:rPr lang="en-IN" b="1" dirty="0"/>
              <a:t>15 times</a:t>
            </a:r>
            <a:r>
              <a:rPr lang="en-IN" dirty="0"/>
              <a:t>. The maximum frequency of any term in the document is </a:t>
            </a:r>
            <a:r>
              <a:rPr lang="en-IN" b="1" dirty="0"/>
              <a:t>30</a:t>
            </a:r>
            <a:r>
              <a:rPr lang="en-IN" dirty="0"/>
              <a:t>.</a:t>
            </a:r>
          </a:p>
          <a:p>
            <a:r>
              <a:rPr lang="en-IN" dirty="0"/>
              <a:t>Assume the document belongs to a collection of </a:t>
            </a:r>
            <a:r>
              <a:rPr lang="en-IN" b="1" dirty="0"/>
              <a:t>10,000 documents</a:t>
            </a:r>
            <a:r>
              <a:rPr lang="en-IN" dirty="0"/>
              <a:t>, and the term </a:t>
            </a:r>
            <a:r>
              <a:rPr lang="en-IN" b="1" dirty="0"/>
              <a:t>"security"</a:t>
            </a:r>
            <a:r>
              <a:rPr lang="en-IN" dirty="0"/>
              <a:t> appears in </a:t>
            </a:r>
            <a:r>
              <a:rPr lang="en-IN" b="1" dirty="0"/>
              <a:t>100 documents</a:t>
            </a:r>
            <a:r>
              <a:rPr lang="en-IN" dirty="0"/>
              <a:t>.</a:t>
            </a:r>
          </a:p>
          <a:p>
            <a:r>
              <a:rPr lang="en-IN" dirty="0"/>
              <a:t>Calculate TF.IDF for security.</a:t>
            </a:r>
          </a:p>
        </p:txBody>
      </p:sp>
      <p:sp>
        <p:nvSpPr>
          <p:cNvPr id="4" name="Slide Number Placeholder 3"/>
          <p:cNvSpPr>
            <a:spLocks noGrp="1"/>
          </p:cNvSpPr>
          <p:nvPr>
            <p:ph type="sldNum" sz="quarter" idx="5"/>
          </p:nvPr>
        </p:nvSpPr>
        <p:spPr/>
        <p:txBody>
          <a:bodyPr/>
          <a:lstStyle/>
          <a:p>
            <a:fld id="{EE707532-839C-41A2-9E71-D5288AEAE66A}" type="slidenum">
              <a:rPr lang="en-US" smtClean="0"/>
              <a:pPr/>
              <a:t>39</a:t>
            </a:fld>
            <a:endParaRPr lang="en-US"/>
          </a:p>
        </p:txBody>
      </p:sp>
    </p:spTree>
    <p:extLst>
      <p:ext uri="{BB962C8B-B14F-4D97-AF65-F5344CB8AC3E}">
        <p14:creationId xmlns:p14="http://schemas.microsoft.com/office/powerpoint/2010/main" val="833063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sz="1200" b="0" i="0" u="none" strike="noStrike" kern="1200" baseline="0" dirty="0">
                <a:solidFill>
                  <a:schemeClr val="tx1"/>
                </a:solidFill>
                <a:latin typeface="+mn-lt"/>
                <a:ea typeface="+mn-ea"/>
                <a:cs typeface="+mn-cs"/>
              </a:rPr>
              <a:t>h(x) = x mod B</a:t>
            </a:r>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40</a:t>
            </a:fld>
            <a:endParaRPr lang="en-US"/>
          </a:p>
        </p:txBody>
      </p:sp>
    </p:spTree>
    <p:extLst>
      <p:ext uri="{BB962C8B-B14F-4D97-AF65-F5344CB8AC3E}">
        <p14:creationId xmlns:p14="http://schemas.microsoft.com/office/powerpoint/2010/main" val="4236126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dirty="0"/>
              <a:t>If your inputs are random and varied, a good hash function will spread them out fairly across all buckets</a:t>
            </a:r>
            <a:endParaRPr lang="en-IN" b="0" dirty="0"/>
          </a:p>
          <a:p>
            <a:r>
              <a:rPr lang="en-IN" b="0" dirty="0" err="1"/>
              <a:t>Eg</a:t>
            </a:r>
            <a:r>
              <a:rPr lang="en-IN" b="0" dirty="0"/>
              <a:t>: </a:t>
            </a:r>
            <a:r>
              <a:rPr lang="en-US" b="0" dirty="0"/>
              <a:t>Suppose you have:</a:t>
            </a:r>
          </a:p>
          <a:p>
            <a:r>
              <a:rPr lang="en-US" b="0" dirty="0"/>
              <a:t>100 students</a:t>
            </a:r>
          </a:p>
          <a:p>
            <a:r>
              <a:rPr lang="en-US" b="0" dirty="0"/>
              <a:t>10 buckets</a:t>
            </a:r>
          </a:p>
          <a:p>
            <a:r>
              <a:rPr lang="en-US" b="0" dirty="0"/>
              <a:t>A hash function that assigns each student to a bucket</a:t>
            </a:r>
          </a:p>
          <a:p>
            <a:r>
              <a:rPr lang="en-US" b="0" dirty="0"/>
              <a:t>If student names are random and well-distributed, then:</a:t>
            </a:r>
          </a:p>
          <a:p>
            <a:r>
              <a:rPr lang="en-US" b="0" dirty="0"/>
              <a:t>Each bucket will have around 10 students</a:t>
            </a:r>
          </a:p>
          <a:p>
            <a:r>
              <a:rPr lang="en-US" b="0" dirty="0"/>
              <a:t>No single bucket is overloaded or empty</a:t>
            </a:r>
          </a:p>
          <a:p>
            <a:endParaRPr lang="en-US" b="0" dirty="0"/>
          </a:p>
          <a:p>
            <a:r>
              <a:rPr lang="en-US" b="0" dirty="0"/>
              <a:t>If 50 students but 100 buckets, then equal distribution will not happen.</a:t>
            </a:r>
          </a:p>
          <a:p>
            <a:pPr marL="0" indent="0">
              <a:buNone/>
            </a:pPr>
            <a:endParaRPr lang="en-US"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41</a:t>
            </a:fld>
            <a:endParaRPr lang="en-US"/>
          </a:p>
        </p:txBody>
      </p:sp>
    </p:spTree>
    <p:extLst>
      <p:ext uri="{BB962C8B-B14F-4D97-AF65-F5344CB8AC3E}">
        <p14:creationId xmlns:p14="http://schemas.microsoft.com/office/powerpoint/2010/main" val="4167173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0" dirty="0"/>
              <a:t>3. </a:t>
            </a:r>
          </a:p>
          <a:p>
            <a:r>
              <a:rPr lang="en-US" b="0" dirty="0"/>
              <a:t>When you’re hashing a string (like a name or word), the idea is to:</a:t>
            </a:r>
          </a:p>
          <a:p>
            <a:r>
              <a:rPr lang="en-US" b="0" dirty="0"/>
              <a:t>Convert it into numbers  </a:t>
            </a:r>
          </a:p>
          <a:p>
            <a:r>
              <a:rPr lang="en-US" b="0" dirty="0"/>
              <a:t>Then use those numbers to get a bucket number using a hash function like mod B.</a:t>
            </a:r>
          </a:p>
          <a:p>
            <a:endParaRPr lang="en-US" b="0" dirty="0"/>
          </a:p>
          <a:p>
            <a:r>
              <a:rPr lang="en-IN" dirty="0"/>
              <a:t>Eg:- h("CAT")=216mod10=6 (67+65+84=216)</a:t>
            </a:r>
          </a:p>
          <a:p>
            <a:endParaRPr lang="en-US" b="0" dirty="0"/>
          </a:p>
          <a:p>
            <a:r>
              <a:rPr lang="en-US" b="0" dirty="0"/>
              <a:t>If B is large (say a billion), just adding up each character’s code (like A=65, B=66, etc.) may not give you enough variation. So we do something smarter:</a:t>
            </a:r>
          </a:p>
          <a:p>
            <a:endParaRPr lang="en-US" b="0" dirty="0"/>
          </a:p>
          <a:p>
            <a:r>
              <a:rPr lang="en-US" b="0" dirty="0"/>
              <a:t>example:</a:t>
            </a:r>
          </a:p>
          <a:p>
            <a:r>
              <a:rPr lang="en-US" b="0" dirty="0"/>
              <a:t>Let’s say your string is:</a:t>
            </a:r>
            <a:br>
              <a:rPr lang="en-US" b="0" dirty="0"/>
            </a:br>
            <a:r>
              <a:rPr lang="en-US" b="0" dirty="0"/>
              <a:t>"ABCD"</a:t>
            </a:r>
            <a:br>
              <a:rPr lang="en-US" b="0" dirty="0"/>
            </a:br>
            <a:r>
              <a:rPr lang="en-US" b="0" dirty="0"/>
              <a:t>And you want to hash it into B = 1,000,000</a:t>
            </a:r>
          </a:p>
          <a:p>
            <a:r>
              <a:rPr lang="en-US" b="0" dirty="0"/>
              <a:t>Step 1: Convert characters to ASCII codes</a:t>
            </a:r>
          </a:p>
          <a:p>
            <a:r>
              <a:rPr lang="en-US" b="0" dirty="0"/>
              <a:t>A = 65</a:t>
            </a:r>
          </a:p>
          <a:p>
            <a:r>
              <a:rPr lang="en-US" b="0" dirty="0"/>
              <a:t>B = 66</a:t>
            </a:r>
          </a:p>
          <a:p>
            <a:r>
              <a:rPr lang="en-US" b="0" dirty="0"/>
              <a:t>C = 67</a:t>
            </a:r>
          </a:p>
          <a:p>
            <a:r>
              <a:rPr lang="en-US" b="0" dirty="0"/>
              <a:t>D = 68</a:t>
            </a:r>
          </a:p>
          <a:p>
            <a:endParaRPr lang="en-US" b="0" dirty="0"/>
          </a:p>
          <a:p>
            <a:r>
              <a:rPr lang="en-US" b="0" dirty="0"/>
              <a:t>Step 2: Group characters (say, in groups of 2)</a:t>
            </a:r>
          </a:p>
          <a:p>
            <a:r>
              <a:rPr lang="en-US" b="0" dirty="0"/>
              <a:t>Group 1 = A and B</a:t>
            </a:r>
            <a:br>
              <a:rPr lang="en-US" b="0" dirty="0"/>
            </a:br>
            <a:r>
              <a:rPr lang="en-US" b="0" dirty="0"/>
              <a:t>Group 2 = C and D</a:t>
            </a:r>
          </a:p>
          <a:p>
            <a:endParaRPr lang="en-US" b="0" dirty="0"/>
          </a:p>
          <a:p>
            <a:r>
              <a:rPr lang="en-US" b="0" dirty="0"/>
              <a:t>Step 3: Concatenate codes in each group</a:t>
            </a:r>
          </a:p>
          <a:p>
            <a:r>
              <a:rPr lang="en-US" b="0" dirty="0"/>
              <a:t>Group 1 → "65" + "66" = "6566" → as a number → 6566</a:t>
            </a:r>
          </a:p>
          <a:p>
            <a:r>
              <a:rPr lang="en-US" b="0" dirty="0"/>
              <a:t>Group 2 → "67" + "68" = "6768" → as a number → 6768</a:t>
            </a:r>
          </a:p>
          <a:p>
            <a:endParaRPr lang="en-US" b="0" dirty="0"/>
          </a:p>
          <a:p>
            <a:r>
              <a:rPr lang="en-US" b="0" dirty="0"/>
              <a:t> Step 4: Add the group values</a:t>
            </a:r>
          </a:p>
          <a:p>
            <a:r>
              <a:rPr lang="en-US" b="0" dirty="0"/>
              <a:t>6566 + 6768 = 13,334</a:t>
            </a:r>
          </a:p>
          <a:p>
            <a:r>
              <a:rPr lang="en-US" b="0" dirty="0"/>
              <a:t> </a:t>
            </a:r>
          </a:p>
          <a:p>
            <a:r>
              <a:rPr lang="en-US" b="0" dirty="0"/>
              <a:t>Step 5: Do mod B</a:t>
            </a:r>
          </a:p>
          <a:p>
            <a:r>
              <a:rPr lang="en-US" b="0" dirty="0"/>
              <a:t>13,334mod 1,000,000 =13,334</a:t>
            </a:r>
          </a:p>
          <a:p>
            <a:r>
              <a:rPr lang="en-US" b="0" dirty="0"/>
              <a:t>So the final bucket number is 13,334</a:t>
            </a:r>
          </a:p>
          <a:p>
            <a:endParaRPr lang="en-US" b="0" dirty="0"/>
          </a:p>
          <a:p>
            <a:r>
              <a:rPr lang="en-US" b="0" dirty="0"/>
              <a:t>Why do we do this?</a:t>
            </a:r>
          </a:p>
          <a:p>
            <a:r>
              <a:rPr lang="en-US" b="0" dirty="0"/>
              <a:t>When B is huge, small numbers from simple character sums (like 65 + 66 = 131) are too small.</a:t>
            </a:r>
            <a:br>
              <a:rPr lang="en-US" b="0" dirty="0"/>
            </a:br>
            <a:r>
              <a:rPr lang="en-US" b="0" dirty="0"/>
              <a:t>→ So grouping characters and treating them as bigger numbers gives better spread across big bucket ranges.</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42</a:t>
            </a:fld>
            <a:endParaRPr lang="en-US"/>
          </a:p>
        </p:txBody>
      </p:sp>
    </p:spTree>
    <p:extLst>
      <p:ext uri="{BB962C8B-B14F-4D97-AF65-F5344CB8AC3E}">
        <p14:creationId xmlns:p14="http://schemas.microsoft.com/office/powerpoint/2010/main" val="39597575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0" dirty="0"/>
              <a:t>A record is a composite data type with multiple fields of possibly different types (like a struct in C or a dictionary in Python).</a:t>
            </a:r>
          </a:p>
          <a:p>
            <a:r>
              <a:rPr lang="en-US" b="0" dirty="0"/>
              <a:t>Example:</a:t>
            </a:r>
            <a:br>
              <a:rPr lang="en-US" b="0" dirty="0"/>
            </a:br>
            <a:r>
              <a:rPr lang="en-US" b="0" dirty="0"/>
              <a:t>Case 1: Suppose you have a record like this:</a:t>
            </a:r>
          </a:p>
          <a:p>
            <a:r>
              <a:rPr lang="en-US" b="0" dirty="0" err="1"/>
              <a:t>json</a:t>
            </a:r>
            <a:endParaRPr lang="en-US" b="0" dirty="0"/>
          </a:p>
          <a:p>
            <a:endParaRPr lang="en-US" b="0" dirty="0"/>
          </a:p>
          <a:p>
            <a:pPr rtl="0"/>
            <a:r>
              <a:rPr lang="en-US" b="0" dirty="0"/>
              <a:t>{ "name": "Tom", "age": 25, "zip": 90210 } </a:t>
            </a:r>
          </a:p>
          <a:p>
            <a:r>
              <a:rPr lang="en-US" b="0" dirty="0"/>
              <a:t>Step-by-step:</a:t>
            </a:r>
          </a:p>
          <a:p>
            <a:r>
              <a:rPr lang="en-US" b="0" dirty="0"/>
              <a:t>Let's assume:</a:t>
            </a:r>
          </a:p>
          <a:p>
            <a:pPr lvl="1"/>
            <a:r>
              <a:rPr lang="en-US" b="0" dirty="0"/>
              <a:t>"Tom" → convert string to integer: e.g., use ASCII: T(84)+o(111)+m(109) = 304</a:t>
            </a:r>
          </a:p>
          <a:p>
            <a:pPr lvl="1"/>
            <a:r>
              <a:rPr lang="en-US" b="0" dirty="0"/>
              <a:t>25 is already an integer</a:t>
            </a:r>
          </a:p>
          <a:p>
            <a:pPr lvl="1"/>
            <a:r>
              <a:rPr lang="en-US" b="0" dirty="0"/>
              <a:t>90210 is already an integer</a:t>
            </a:r>
          </a:p>
          <a:p>
            <a:r>
              <a:rPr lang="en-US" b="0" dirty="0"/>
              <a:t>Now sum the components:</a:t>
            </a:r>
            <a:br>
              <a:rPr lang="en-US" b="0" dirty="0"/>
            </a:br>
            <a:r>
              <a:rPr lang="en-US" b="0" dirty="0"/>
              <a:t>304 (name) + 25 (age) + 90210 (zip) = 90539</a:t>
            </a:r>
          </a:p>
          <a:p>
            <a:r>
              <a:rPr lang="en-US" b="0" dirty="0"/>
              <a:t>If number of buckets B = 1000, then:</a:t>
            </a:r>
          </a:p>
          <a:p>
            <a:endParaRPr lang="en-US" b="0" dirty="0"/>
          </a:p>
          <a:p>
            <a:pPr rtl="0"/>
            <a:r>
              <a:rPr lang="en-US" b="0" dirty="0"/>
              <a:t>bucket = 90539 % 1000 = 539 </a:t>
            </a:r>
          </a:p>
          <a:p>
            <a:r>
              <a:rPr lang="en-US" b="0" dirty="0"/>
              <a:t>So this record would be placed in bucket 539.</a:t>
            </a:r>
          </a:p>
          <a:p>
            <a:endParaRPr lang="en-US" b="0" dirty="0"/>
          </a:p>
          <a:p>
            <a:r>
              <a:rPr lang="en-US" b="0" dirty="0"/>
              <a:t>Case 2: Array / Set / Bag (List of Values of the Same Type)</a:t>
            </a:r>
          </a:p>
          <a:p>
            <a:r>
              <a:rPr lang="en-US" b="0" dirty="0"/>
              <a:t>An array, set, or bag contains multiple values of the same type.</a:t>
            </a:r>
          </a:p>
          <a:p>
            <a:r>
              <a:rPr lang="en-US" b="0" dirty="0"/>
              <a:t>Example:</a:t>
            </a:r>
            <a:br>
              <a:rPr lang="en-US" b="0" dirty="0"/>
            </a:br>
            <a:r>
              <a:rPr lang="en-US" b="0" dirty="0"/>
              <a:t>Array of zip codes: [12345, 23456, 34567]</a:t>
            </a:r>
          </a:p>
          <a:p>
            <a:r>
              <a:rPr lang="en-US" b="0" dirty="0"/>
              <a:t>Step-by-step:</a:t>
            </a:r>
          </a:p>
          <a:p>
            <a:r>
              <a:rPr lang="en-US" b="0" dirty="0"/>
              <a:t>Just add the integers:</a:t>
            </a:r>
            <a:br>
              <a:rPr lang="en-US" b="0" dirty="0"/>
            </a:br>
            <a:r>
              <a:rPr lang="en-US" b="0" dirty="0"/>
              <a:t>12345 + 23456 + 34567 = 70368</a:t>
            </a:r>
          </a:p>
          <a:p>
            <a:r>
              <a:rPr lang="en-US" b="0" dirty="0"/>
              <a:t>Divide by number of buckets, say B = 1000:</a:t>
            </a:r>
          </a:p>
          <a:p>
            <a:pPr rtl="0"/>
            <a:r>
              <a:rPr lang="en-US" b="0" dirty="0"/>
              <a:t>bucket = 70368 % 1000 = 368</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3021905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a:t>What is an Index?</a:t>
            </a:r>
          </a:p>
          <a:p>
            <a:r>
              <a:rPr lang="en-US" b="0" dirty="0"/>
              <a:t>An index is like a shortcut that helps you find data quickly without searching through everything.</a:t>
            </a:r>
          </a:p>
          <a:p>
            <a:r>
              <a:rPr lang="en-US" b="0" dirty="0"/>
              <a:t> Example:</a:t>
            </a:r>
          </a:p>
          <a:p>
            <a:r>
              <a:rPr lang="en-US" b="0" dirty="0"/>
              <a:t>Imagine you have a phone book with thousands of names.</a:t>
            </a:r>
            <a:br>
              <a:rPr lang="en-US" b="0" dirty="0"/>
            </a:br>
            <a:r>
              <a:rPr lang="en-US" b="0" dirty="0"/>
              <a:t>If you want to find "Sally Jones", you don't check every page — you use the index to jump to the correct page. That’s what an index does in a computer too.</a:t>
            </a:r>
          </a:p>
          <a:p>
            <a:r>
              <a:rPr lang="en-US" b="0" dirty="0"/>
              <a:t>Records and Fields</a:t>
            </a:r>
          </a:p>
          <a:p>
            <a:r>
              <a:rPr lang="en-US" b="0" dirty="0"/>
              <a:t>A record is a group of related information — like:</a:t>
            </a:r>
          </a:p>
          <a:p>
            <a:pPr rtl="0"/>
            <a:r>
              <a:rPr lang="en-US" b="0" dirty="0"/>
              <a:t>(Name, Address, Phone) ("Sally Jones", "Maple St", "800-555-1212") </a:t>
            </a:r>
          </a:p>
          <a:p>
            <a:r>
              <a:rPr lang="en-US" b="0" dirty="0"/>
              <a:t>If you have thousands of these records, and you want to search by phone number, creating an index on the phone field helps you find matches much faster.</a:t>
            </a:r>
          </a:p>
          <a:p>
            <a:endParaRPr lang="en-US" b="0" dirty="0"/>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16930096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0" dirty="0"/>
              <a:t>Using a Hash Table for Indexing</a:t>
            </a:r>
          </a:p>
          <a:p>
            <a:r>
              <a:rPr lang="en-US" b="0" dirty="0"/>
              <a:t>Step-by-step:</a:t>
            </a:r>
          </a:p>
          <a:p>
            <a:r>
              <a:rPr lang="en-US" b="0" dirty="0"/>
              <a:t>Choose a hash field (e.g., phone number).</a:t>
            </a:r>
          </a:p>
          <a:p>
            <a:r>
              <a:rPr lang="en-US" b="0" dirty="0"/>
              <a:t>Apply a hash function to it — this converts the phone number into a bucket number.</a:t>
            </a:r>
          </a:p>
          <a:p>
            <a:r>
              <a:rPr lang="en-US" b="0" dirty="0"/>
              <a:t>Store the full record in that bucket.</a:t>
            </a:r>
          </a:p>
          <a:p>
            <a:r>
              <a:rPr lang="en-US" b="0" dirty="0"/>
              <a:t>So instead of checking all records, you go straight to one bucket!</a:t>
            </a:r>
          </a:p>
          <a:p>
            <a:r>
              <a:rPr lang="en-US" b="0" dirty="0"/>
              <a:t>Example:</a:t>
            </a:r>
          </a:p>
          <a:p>
            <a:r>
              <a:rPr lang="en-US" b="0" dirty="0"/>
              <a:t>Let’s say you have a phone number:</a:t>
            </a:r>
          </a:p>
          <a:p>
            <a:endParaRPr lang="en-US" b="0" dirty="0"/>
          </a:p>
          <a:p>
            <a:pPr rtl="0"/>
            <a:r>
              <a:rPr lang="en-US" b="0" dirty="0"/>
              <a:t>800-555-1212 </a:t>
            </a:r>
          </a:p>
          <a:p>
            <a:r>
              <a:rPr lang="en-US" b="0" dirty="0"/>
              <a:t>A hash function like h(phone) converts it to a number — say 17.</a:t>
            </a:r>
          </a:p>
          <a:p>
            <a:r>
              <a:rPr lang="en-US" b="0" dirty="0"/>
              <a:t>So, this record is placed in bucket 17.</a:t>
            </a:r>
          </a:p>
          <a:p>
            <a:r>
              <a:rPr lang="en-US" b="0" dirty="0"/>
              <a:t>Bucket 17 might contain other records whose phone numbers also hash to 17.</a:t>
            </a:r>
          </a:p>
          <a:p>
            <a:endParaRPr lang="en-US" b="0" dirty="0"/>
          </a:p>
          <a:p>
            <a:r>
              <a:rPr lang="en-US" b="0" dirty="0"/>
              <a:t>What is a Bucket?</a:t>
            </a:r>
          </a:p>
          <a:p>
            <a:r>
              <a:rPr lang="en-US" b="0" dirty="0"/>
              <a:t>Think of buckets like boxes that group records.</a:t>
            </a:r>
          </a:p>
          <a:p>
            <a:r>
              <a:rPr lang="en-US" b="0" dirty="0"/>
              <a:t>Each bucket can hold one or more records.</a:t>
            </a:r>
          </a:p>
          <a:p>
            <a:r>
              <a:rPr lang="en-US" b="0" dirty="0"/>
              <a:t>Usually stored as a linked list (a chain of records).</a:t>
            </a:r>
          </a:p>
          <a:p>
            <a:r>
              <a:rPr lang="en-US" b="0" dirty="0"/>
              <a:t>So, instead of searching all records, you:</a:t>
            </a:r>
          </a:p>
          <a:p>
            <a:r>
              <a:rPr lang="en-US" b="0" dirty="0"/>
              <a:t>Hash the phone number.</a:t>
            </a:r>
          </a:p>
          <a:p>
            <a:r>
              <a:rPr lang="en-US" b="0" dirty="0"/>
              <a:t>Jump directly to the right bucket (like bucket 17).</a:t>
            </a:r>
          </a:p>
          <a:p>
            <a:r>
              <a:rPr lang="en-US" b="0" dirty="0"/>
              <a:t>Search only inside that small bucket.</a:t>
            </a:r>
          </a:p>
          <a:p>
            <a:r>
              <a:rPr lang="en-US" b="0" dirty="0"/>
              <a:t>Why is this efficient?</a:t>
            </a:r>
          </a:p>
          <a:p>
            <a:r>
              <a:rPr lang="en-US" b="0" dirty="0"/>
              <a:t>If you have:</a:t>
            </a:r>
          </a:p>
          <a:p>
            <a:r>
              <a:rPr lang="en-US" b="0" dirty="0"/>
              <a:t>1000 records</a:t>
            </a:r>
          </a:p>
          <a:p>
            <a:r>
              <a:rPr lang="en-US" b="0" dirty="0"/>
              <a:t>1000 buckets</a:t>
            </a:r>
          </a:p>
          <a:p>
            <a:r>
              <a:rPr lang="en-US" b="0" dirty="0"/>
              <a:t>Then on average, each bucket has just 1 record → Very fast to search!</a:t>
            </a:r>
          </a:p>
          <a:p>
            <a:r>
              <a:rPr lang="en-US" b="0" dirty="0"/>
              <a:t>Even with 2–3 records per bucket, it’s way faster than checking all 1000.</a:t>
            </a:r>
          </a:p>
          <a:p>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4002336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1. Disk access is slow: Reading a block (e.g., 64KB in Windows) from disk takes around 10 milliseconds, which is about 100,000 times slower than accessing main memory.</a:t>
            </a:r>
          </a:p>
          <a:p>
            <a:r>
              <a:rPr lang="en-US" b="0" dirty="0"/>
              <a:t>2. Computation time is negligible compared to the disk access time, even simple tasks like scanning all bytes in a block are dominated by the time it takes to load that block from disk.</a:t>
            </a:r>
          </a:p>
          <a:p>
            <a:r>
              <a:rPr lang="en-US" b="0" dirty="0"/>
              <a:t>3. Optimizing data layout: If related data (e.g., hash bucket records) is placed on the same cylinder (same radial distance on disk), we can read multiple blocks faster, much less than 10 </a:t>
            </a:r>
            <a:r>
              <a:rPr lang="en-US" b="0" dirty="0" err="1"/>
              <a:t>ms</a:t>
            </a:r>
            <a:r>
              <a:rPr lang="en-US" b="0" dirty="0"/>
              <a:t> per block, by avoiding head movement.</a:t>
            </a:r>
          </a:p>
          <a:p>
            <a:r>
              <a:rPr lang="en-US" b="0" dirty="0"/>
              <a:t>4. Transfer speed limit: Even with optimized layout, disk-to-memory speed is capped at 100 million bytes/second.</a:t>
            </a:r>
          </a:p>
          <a:p>
            <a:r>
              <a:rPr lang="en-US" b="0" dirty="0"/>
              <a:t>5. Key insight: To speed up computations on disk-based data, reduce disk accesses and organize related data together.</a:t>
            </a:r>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4003809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a:t>
            </a:r>
            <a:r>
              <a:rPr lang="pt-BR" baseline="-25000" dirty="0"/>
              <a:t>x→∞</a:t>
            </a:r>
            <a:r>
              <a:rPr lang="pt-BR" dirty="0"/>
              <a:t>lim​(1+1/x​)</a:t>
            </a:r>
            <a:r>
              <a:rPr lang="pt-BR" baseline="30000" dirty="0"/>
              <a:t>x</a:t>
            </a:r>
            <a:endParaRPr lang="en-IN" baseline="3000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37595314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Use few terms if x is small → fast and accurate approximation.</a:t>
            </a:r>
          </a:p>
          <a:p>
            <a:r>
              <a:rPr lang="en-US" b="0" dirty="0"/>
              <a:t>Need many terms if x is large → slower convergence.</a:t>
            </a:r>
          </a:p>
          <a:p>
            <a:r>
              <a:rPr lang="en-US" b="0" dirty="0"/>
              <a:t>This is a tradeoff between accuracy and computation when using series approximations in algorithms.</a:t>
            </a:r>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49</a:t>
            </a:fld>
            <a:endParaRPr lang="en-US"/>
          </a:p>
        </p:txBody>
      </p:sp>
    </p:spTree>
    <p:extLst>
      <p:ext uri="{BB962C8B-B14F-4D97-AF65-F5344CB8AC3E}">
        <p14:creationId xmlns:p14="http://schemas.microsoft.com/office/powerpoint/2010/main" val="4010246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A power law describes a relationship between two quantities where one is proportional to a power of the other:</a:t>
            </a:r>
          </a:p>
          <a:p>
            <a:r>
              <a:rPr lang="en-IN" b="0" dirty="0"/>
              <a:t>y=</a:t>
            </a:r>
            <a:r>
              <a:rPr lang="en-IN" b="0" dirty="0" err="1"/>
              <a:t>c⋅x</a:t>
            </a:r>
            <a:r>
              <a:rPr lang="en-IN" b="0" baseline="30000" dirty="0" err="1"/>
              <a:t>a</a:t>
            </a:r>
            <a:r>
              <a:rPr lang="en-IN" b="0" dirty="0"/>
              <a:t> ,</a:t>
            </a:r>
          </a:p>
          <a:p>
            <a:r>
              <a:rPr lang="en-IN" b="0" dirty="0"/>
              <a:t>Taking the logarithm of both sides:</a:t>
            </a:r>
          </a:p>
          <a:p>
            <a:r>
              <a:rPr lang="en-IN" b="0" dirty="0"/>
              <a:t>logy=</a:t>
            </a:r>
            <a:r>
              <a:rPr lang="en-IN" b="0" dirty="0" err="1"/>
              <a:t>logc+alogx</a:t>
            </a:r>
            <a:r>
              <a:rPr lang="en-IN" b="0" dirty="0"/>
              <a:t> This is a linear equation in log-log space, just like:</a:t>
            </a:r>
          </a:p>
          <a:p>
            <a:r>
              <a:rPr lang="en-IN" b="0" dirty="0"/>
              <a:t>log y = b + a </a:t>
            </a:r>
            <a:r>
              <a:rPr lang="en-IN" b="0" dirty="0" err="1"/>
              <a:t>logx</a:t>
            </a:r>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50</a:t>
            </a:fld>
            <a:endParaRPr lang="en-US"/>
          </a:p>
        </p:txBody>
      </p:sp>
    </p:spTree>
    <p:extLst>
      <p:ext uri="{BB962C8B-B14F-4D97-AF65-F5344CB8AC3E}">
        <p14:creationId xmlns:p14="http://schemas.microsoft.com/office/powerpoint/2010/main" val="15961570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If you plot log(y) vs log(x), and the result is a straight line, then the data follows a power law.</a:t>
            </a:r>
          </a:p>
          <a:p>
            <a:r>
              <a:rPr lang="en-US" b="0" dirty="0"/>
              <a:t>The plot shows a straight line with a negative slope.</a:t>
            </a:r>
          </a:p>
          <a:p>
            <a:r>
              <a:rPr lang="en-US" b="0" dirty="0"/>
              <a:t>This suggests a power-law decay, where large values become rare quickly.</a:t>
            </a:r>
          </a:p>
          <a:p>
            <a:endParaRPr lang="en-US" b="0" dirty="0"/>
          </a:p>
          <a:p>
            <a:r>
              <a:rPr lang="en-US" b="0" dirty="0"/>
              <a:t>Example in context:</a:t>
            </a:r>
            <a:br>
              <a:rPr lang="en-US" b="0" dirty="0"/>
            </a:br>
            <a:r>
              <a:rPr lang="en-US" b="0" dirty="0"/>
              <a:t>This type of curve appears in the ranking of books by popularity:</a:t>
            </a:r>
          </a:p>
          <a:p>
            <a:r>
              <a:rPr lang="en-US" b="0" dirty="0"/>
              <a:t>A few books sell millions of copies.</a:t>
            </a:r>
          </a:p>
          <a:p>
            <a:r>
              <a:rPr lang="en-US" b="0" dirty="0"/>
              <a:t>Most sell very few.</a:t>
            </a:r>
          </a:p>
          <a:p>
            <a:r>
              <a:rPr lang="en-US" b="0" dirty="0"/>
              <a:t>This is Zipf’s Law, a special case of power law.</a:t>
            </a:r>
          </a:p>
          <a:p>
            <a:endParaRPr lang="en-US" b="0" dirty="0"/>
          </a:p>
          <a:p>
            <a:r>
              <a:rPr lang="en-IN" b="0" dirty="0"/>
              <a:t>You’re given:</a:t>
            </a:r>
          </a:p>
          <a:p>
            <a:r>
              <a:rPr lang="en-IN" b="0" dirty="0"/>
              <a:t>log10​y=6−2log10​x This can be rewritten using exponent rules:</a:t>
            </a:r>
          </a:p>
          <a:p>
            <a:r>
              <a:rPr lang="en-IN" b="0" dirty="0"/>
              <a:t>y=106⋅x−2</a:t>
            </a:r>
          </a:p>
          <a:p>
            <a:endParaRPr lang="en-IN" b="0" dirty="0"/>
          </a:p>
          <a:p>
            <a:r>
              <a:rPr lang="en-US" b="0" dirty="0"/>
              <a:t>As x increases, y decreases rapidly.</a:t>
            </a:r>
          </a:p>
          <a:p>
            <a:r>
              <a:rPr lang="en-US" b="0" dirty="0"/>
              <a:t>The slope -2 indicates a steep fall-off (typical in rankings, wealth distributions, etc.)</a:t>
            </a:r>
          </a:p>
          <a:p>
            <a:r>
              <a:rPr lang="en-US" b="0" dirty="0"/>
              <a:t>Real-World Applications of Power Laws</a:t>
            </a:r>
          </a:p>
          <a:p>
            <a:r>
              <a:rPr lang="en-US" b="0" dirty="0"/>
              <a:t>Book Sales: A few books dominate sales.</a:t>
            </a:r>
          </a:p>
          <a:p>
            <a:r>
              <a:rPr lang="en-US" b="0" dirty="0"/>
              <a:t>Internet Traffic: A few websites get most traffic.</a:t>
            </a:r>
          </a:p>
          <a:p>
            <a:r>
              <a:rPr lang="en-US" b="0" dirty="0"/>
              <a:t>Wealth Distribution: A small percent hold majority of wealth.</a:t>
            </a:r>
          </a:p>
          <a:p>
            <a:r>
              <a:rPr lang="en-US" b="0" dirty="0"/>
              <a:t>Earthquake Magnitudes: Frequency of large ones is very low.</a:t>
            </a:r>
          </a:p>
          <a:p>
            <a:r>
              <a:rPr lang="en-US" b="0" dirty="0"/>
              <a:t>Social Networks: A few users have massive followers; most have few.</a:t>
            </a:r>
          </a:p>
          <a:p>
            <a:endParaRPr lang="en-US" b="0" dirty="0"/>
          </a:p>
          <a:p>
            <a:endParaRPr lang="en-IN" b="0"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51</a:t>
            </a:fld>
            <a:endParaRPr lang="en-US"/>
          </a:p>
        </p:txBody>
      </p:sp>
    </p:spTree>
    <p:extLst>
      <p:ext uri="{BB962C8B-B14F-4D97-AF65-F5344CB8AC3E}">
        <p14:creationId xmlns:p14="http://schemas.microsoft.com/office/powerpoint/2010/main" val="2176712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formula </a:t>
            </a:r>
            <a:r>
              <a:rPr lang="en-US"/>
              <a:t>and solve for 1 and 2</a:t>
            </a:r>
            <a:endParaRPr lang="en-US" dirty="0"/>
          </a:p>
          <a:p>
            <a:r>
              <a:rPr lang="en-US" dirty="0"/>
              <a:t>1.3.4: </a:t>
            </a:r>
          </a:p>
          <a:p>
            <a:r>
              <a:rPr lang="en-US" dirty="0"/>
              <a:t>a) e^5, b) e^50, c) e^-4</a:t>
            </a:r>
            <a:endParaRPr lang="en-IN"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53</a:t>
            </a:fld>
            <a:endParaRPr lang="en-US"/>
          </a:p>
        </p:txBody>
      </p:sp>
    </p:spTree>
    <p:extLst>
      <p:ext uri="{BB962C8B-B14F-4D97-AF65-F5344CB8AC3E}">
        <p14:creationId xmlns:p14="http://schemas.microsoft.com/office/powerpoint/2010/main" val="1940632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274A8514-BC99-4582-BF3B-D9C75292755D}" type="datetime1">
              <a:rPr lang="en-US" smtClean="0"/>
              <a:t>7/28/2026</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E62AB8D4-AECF-4F00-9C30-9BF0A072F745}" type="datetime1">
              <a:rPr lang="en-US" smtClean="0"/>
              <a:t>7/28/2026</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28688EE1-6A3A-46C6-8BDF-5984ACFF44AA}" type="datetime1">
              <a:rPr lang="en-US" smtClean="0"/>
              <a:t>7/28/2026</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93467BF-0A0F-4905-8309-0D7338EA9BD8}" type="datetime1">
              <a:rPr lang="en-US" smtClean="0"/>
              <a:t>7/28/2026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B2DDB64-53E2-4C05-B86A-401B12D9679D}" type="datetime1">
              <a:rPr lang="en-US" smtClean="0"/>
              <a:t>7/28/2026</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6C320BD-618B-4062-B5D6-590406FBB248}" type="datetime1">
              <a:rPr lang="en-US" smtClean="0"/>
              <a:t>7/28/2026</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5A206D-9E0D-460F-B966-F97C45B2B198}" type="datetime1">
              <a:rPr lang="en-US" smtClean="0"/>
              <a:t>7/28/2026</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C055504-3494-4AB7-83DB-F97F58FE5B46}" type="datetime1">
              <a:rPr lang="en-US" smtClean="0"/>
              <a:t>7/28/2026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852689D3-9F20-4E32-AF48-778908B57BE6}" type="datetime1">
              <a:rPr lang="en-US" smtClean="0"/>
              <a:t>7/28/2026</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C254A39-D6F3-4AD0-BBCB-12BD485E600D}" type="datetime1">
              <a:rPr lang="en-US" smtClean="0"/>
              <a:t>7/28/2026</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E7B0C6-1D92-44F9-BE05-4562A1893768}" type="datetime1">
              <a:rPr lang="en-US" smtClean="0"/>
              <a:t>7/28/2026</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F77A0EA4-5349-4E02-9594-B9FF91CE0EAF}" type="datetime1">
              <a:rPr lang="en-US" smtClean="0"/>
              <a:t>7/28/2026</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6BEAD4D6-E3E4-4355-9573-47AD3DC1F87C}" type="datetime1">
              <a:rPr lang="en-US" smtClean="0"/>
              <a:t>7/28/2026</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19C076DE-0D4D-4173-A86B-7DD5BD601FE7}" type="datetime1">
              <a:rPr lang="en-US" smtClean="0"/>
              <a:t>7/28/2026</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br>
              <a:rPr lang="en-US" sz="5400" dirty="0"/>
            </a:br>
            <a:r>
              <a:rPr lang="en-US" sz="5400" dirty="0"/>
              <a:t>Mining of Massive Datasets:</a:t>
            </a:r>
            <a:br>
              <a:rPr lang="en-US" sz="5400" dirty="0"/>
            </a:br>
            <a:r>
              <a:rPr lang="en-US" sz="5400" dirty="0"/>
              <a:t>Course Introduction</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685800" y="3355848"/>
            <a:ext cx="8305800" cy="1673352"/>
          </a:xfrm>
        </p:spPr>
        <p:txBody>
          <a:bodyPr>
            <a:noAutofit/>
          </a:bodyPr>
          <a:lstStyle/>
          <a:p>
            <a:r>
              <a:rPr lang="en-US" dirty="0"/>
              <a:t>What is Data Mining?</a:t>
            </a:r>
            <a:br>
              <a:rPr lang="en-US" dirty="0"/>
            </a:br>
            <a:r>
              <a:rPr lang="en-US" dirty="0"/>
              <a:t>Knowledge discovery from data</a:t>
            </a:r>
            <a:br>
              <a:rPr lang="en-US" dirty="0"/>
            </a:br>
            <a:endParaRPr lang="en-US" dirty="0"/>
          </a:p>
        </p:txBody>
      </p:sp>
    </p:spTree>
    <p:extLst>
      <p:ext uri="{BB962C8B-B14F-4D97-AF65-F5344CB8AC3E}">
        <p14:creationId xmlns:p14="http://schemas.microsoft.com/office/powerpoint/2010/main" val="3030848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0973" b="20052"/>
          <a:stretch/>
        </p:blipFill>
        <p:spPr bwMode="auto">
          <a:xfrm>
            <a:off x="873657" y="76200"/>
            <a:ext cx="7368628"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3"/>
          <a:stretch>
            <a:fillRect/>
          </a:stretch>
        </p:blipFill>
        <p:spPr>
          <a:xfrm>
            <a:off x="-10391" y="4191000"/>
            <a:ext cx="4707390" cy="1295400"/>
          </a:xfrm>
          <a:prstGeom prst="rect">
            <a:avLst/>
          </a:prstGeom>
        </p:spPr>
      </p:pic>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5689" t="84126" r="12604" b="505"/>
          <a:stretch/>
        </p:blipFill>
        <p:spPr bwMode="auto">
          <a:xfrm>
            <a:off x="5486400" y="5410200"/>
            <a:ext cx="3651440" cy="1399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a:t>
            </a:fld>
            <a:endParaRPr lang="en-US"/>
          </a:p>
        </p:txBody>
      </p:sp>
    </p:spTree>
    <p:extLst>
      <p:ext uri="{BB962C8B-B14F-4D97-AF65-F5344CB8AC3E}">
        <p14:creationId xmlns:p14="http://schemas.microsoft.com/office/powerpoint/2010/main" val="3032623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4</a:t>
            </a:fld>
            <a:endParaRPr lang="en-US" dirty="0"/>
          </a:p>
        </p:txBody>
      </p:sp>
      <p:pic>
        <p:nvPicPr>
          <p:cNvPr id="5" name="Picture 4" descr="http://www.isgtw.org/sites/default/files/PopularScience_DataIsPower_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0794" y="209491"/>
            <a:ext cx="4062412" cy="5492383"/>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6" name="Rectangle 5"/>
          <p:cNvSpPr/>
          <p:nvPr/>
        </p:nvSpPr>
        <p:spPr>
          <a:xfrm>
            <a:off x="176366" y="5859959"/>
            <a:ext cx="8815234" cy="769441"/>
          </a:xfrm>
          <a:prstGeom prst="rect">
            <a:avLst/>
          </a:prstGeom>
        </p:spPr>
        <p:txBody>
          <a:bodyPr wrap="none">
            <a:spAutoFit/>
          </a:bodyPr>
          <a:lstStyle/>
          <a:p>
            <a:r>
              <a:rPr lang="en-US" sz="4400" b="1" dirty="0">
                <a:solidFill>
                  <a:srgbClr val="FF0066"/>
                </a:solidFill>
              </a:rPr>
              <a:t>Data contains value and knowledge</a:t>
            </a:r>
          </a:p>
        </p:txBody>
      </p:sp>
    </p:spTree>
    <p:extLst>
      <p:ext uri="{BB962C8B-B14F-4D97-AF65-F5344CB8AC3E}">
        <p14:creationId xmlns:p14="http://schemas.microsoft.com/office/powerpoint/2010/main" val="415869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3E62E2B-2B7D-EF26-6866-95F9B08489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3146" y="2180316"/>
            <a:ext cx="5994982" cy="3839483"/>
          </a:xfrm>
          <a:prstGeom prst="rect">
            <a:avLst/>
          </a:prstGeom>
        </p:spPr>
      </p:pic>
      <p:sp>
        <p:nvSpPr>
          <p:cNvPr id="2" name="Title 1">
            <a:extLst>
              <a:ext uri="{FF2B5EF4-FFF2-40B4-BE49-F238E27FC236}">
                <a16:creationId xmlns:a16="http://schemas.microsoft.com/office/drawing/2014/main" id="{AF68D64A-E002-1178-7055-7A1CBA34BD9D}"/>
              </a:ext>
            </a:extLst>
          </p:cNvPr>
          <p:cNvSpPr>
            <a:spLocks noGrp="1"/>
          </p:cNvSpPr>
          <p:nvPr>
            <p:ph type="title"/>
          </p:nvPr>
        </p:nvSpPr>
        <p:spPr/>
        <p:txBody>
          <a:bodyPr>
            <a:normAutofit fontScale="90000"/>
          </a:bodyPr>
          <a:lstStyle/>
          <a:p>
            <a:r>
              <a:rPr lang="en-US" b="1" dirty="0"/>
              <a:t>“Data is the New Oil” </a:t>
            </a:r>
            <a:br>
              <a:rPr lang="en-US" b="1" dirty="0"/>
            </a:br>
            <a:r>
              <a:rPr lang="en-US" b="1" dirty="0"/>
              <a:t>– </a:t>
            </a:r>
            <a:r>
              <a:rPr lang="en-US" sz="4000" b="1" dirty="0"/>
              <a:t>World Economic Forum</a:t>
            </a:r>
            <a:endParaRPr lang="en-US" dirty="0"/>
          </a:p>
        </p:txBody>
      </p:sp>
      <p:sp>
        <p:nvSpPr>
          <p:cNvPr id="3" name="Content Placeholder 2">
            <a:extLst>
              <a:ext uri="{FF2B5EF4-FFF2-40B4-BE49-F238E27FC236}">
                <a16:creationId xmlns:a16="http://schemas.microsoft.com/office/drawing/2014/main" id="{E38E1C4B-6433-42BA-FDA0-62947EA5F7E8}"/>
              </a:ext>
            </a:extLst>
          </p:cNvPr>
          <p:cNvSpPr>
            <a:spLocks noGrp="1"/>
          </p:cNvSpPr>
          <p:nvPr>
            <p:ph idx="1"/>
          </p:nvPr>
        </p:nvSpPr>
        <p:spPr>
          <a:xfrm>
            <a:off x="5894797" y="1943382"/>
            <a:ext cx="3059131" cy="4228817"/>
          </a:xfrm>
        </p:spPr>
        <p:txBody>
          <a:bodyPr>
            <a:normAutofit fontScale="70000" lnSpcReduction="20000"/>
          </a:bodyPr>
          <a:lstStyle/>
          <a:p>
            <a:pPr algn="just"/>
            <a:r>
              <a:rPr lang="en-US" dirty="0"/>
              <a:t>Data is just like crude oil. </a:t>
            </a:r>
          </a:p>
          <a:p>
            <a:pPr algn="just"/>
            <a:r>
              <a:rPr lang="en-US" dirty="0"/>
              <a:t>It is valuable, but if unrefined it cannot really be used. </a:t>
            </a:r>
          </a:p>
          <a:p>
            <a:pPr algn="just"/>
            <a:r>
              <a:rPr lang="en-US" dirty="0"/>
              <a:t>It has to be changed into gas, plastic, chemicals, etc. to create a valuable entity that drives profitable activity; so must data be broken down, analyzed for it to have value.</a:t>
            </a:r>
          </a:p>
          <a:p>
            <a:pPr algn="just"/>
            <a:endParaRPr lang="hi-IN" dirty="0"/>
          </a:p>
          <a:p>
            <a:endParaRPr lang="en-US" dirty="0"/>
          </a:p>
        </p:txBody>
      </p:sp>
      <p:sp>
        <p:nvSpPr>
          <p:cNvPr id="5" name="Slide Number Placeholder 4">
            <a:extLst>
              <a:ext uri="{FF2B5EF4-FFF2-40B4-BE49-F238E27FC236}">
                <a16:creationId xmlns:a16="http://schemas.microsoft.com/office/drawing/2014/main" id="{68A24D8F-2A18-D3F1-E7EB-0EAB134C562E}"/>
              </a:ext>
            </a:extLst>
          </p:cNvPr>
          <p:cNvSpPr>
            <a:spLocks noGrp="1"/>
          </p:cNvSpPr>
          <p:nvPr>
            <p:ph type="sldNum" sz="quarter" idx="12"/>
          </p:nvPr>
        </p:nvSpPr>
        <p:spPr/>
        <p:txBody>
          <a:bodyPr/>
          <a:lstStyle/>
          <a:p>
            <a:fld id="{4A5F6EA9-34D3-4B33-8A1B-C7297E08A152}" type="slidenum">
              <a:rPr lang="en-US" smtClean="0"/>
              <a:t>5</a:t>
            </a:fld>
            <a:endParaRPr lang="en-US"/>
          </a:p>
        </p:txBody>
      </p:sp>
    </p:spTree>
    <p:extLst>
      <p:ext uri="{BB962C8B-B14F-4D97-AF65-F5344CB8AC3E}">
        <p14:creationId xmlns:p14="http://schemas.microsoft.com/office/powerpoint/2010/main" val="227193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Data Mining</a:t>
            </a:r>
          </a:p>
        </p:txBody>
      </p:sp>
      <p:sp>
        <p:nvSpPr>
          <p:cNvPr id="6" name="Content Placeholder 5"/>
          <p:cNvSpPr>
            <a:spLocks noGrp="1"/>
          </p:cNvSpPr>
          <p:nvPr>
            <p:ph idx="1"/>
          </p:nvPr>
        </p:nvSpPr>
        <p:spPr>
          <a:xfrm>
            <a:off x="457200" y="1295400"/>
            <a:ext cx="8229600" cy="5410200"/>
          </a:xfrm>
        </p:spPr>
        <p:txBody>
          <a:bodyPr>
            <a:normAutofit/>
          </a:bodyPr>
          <a:lstStyle/>
          <a:p>
            <a:r>
              <a:rPr lang="en-US" sz="3600" b="1" dirty="0">
                <a:solidFill>
                  <a:srgbClr val="FF0066"/>
                </a:solidFill>
              </a:rPr>
              <a:t>But to extract the knowledge </a:t>
            </a:r>
            <a:br>
              <a:rPr lang="en-US" sz="3600" b="1" dirty="0">
                <a:solidFill>
                  <a:srgbClr val="FF0066"/>
                </a:solidFill>
              </a:rPr>
            </a:br>
            <a:r>
              <a:rPr lang="en-US" sz="3600" b="1" dirty="0">
                <a:solidFill>
                  <a:srgbClr val="FF0066"/>
                </a:solidFill>
              </a:rPr>
              <a:t>data needs to be</a:t>
            </a:r>
          </a:p>
          <a:p>
            <a:pPr lvl="1"/>
            <a:r>
              <a:rPr lang="en-US" sz="3200" b="1" dirty="0"/>
              <a:t>Stored </a:t>
            </a:r>
          </a:p>
          <a:p>
            <a:pPr lvl="1"/>
            <a:r>
              <a:rPr lang="en-US" sz="3200" b="1" dirty="0"/>
              <a:t>Managed</a:t>
            </a:r>
          </a:p>
          <a:p>
            <a:pPr lvl="1"/>
            <a:r>
              <a:rPr lang="en-US" sz="3200" b="1" dirty="0"/>
              <a:t>And</a:t>
            </a:r>
            <a:r>
              <a:rPr lang="en-US" sz="3200" b="1" dirty="0">
                <a:solidFill>
                  <a:srgbClr val="FF0066"/>
                </a:solidFill>
              </a:rPr>
              <a:t> </a:t>
            </a:r>
            <a:r>
              <a:rPr lang="en-US" sz="3200" b="1" dirty="0">
                <a:solidFill>
                  <a:srgbClr val="0000FF"/>
                </a:solidFill>
              </a:rPr>
              <a:t>ANALYZED</a:t>
            </a:r>
            <a:endParaRPr lang="en-US" b="1" dirty="0">
              <a:solidFill>
                <a:srgbClr val="0000FF"/>
              </a:solidFill>
            </a:endParaRPr>
          </a:p>
          <a:p>
            <a:pPr marL="118872" indent="0" algn="ctr">
              <a:buNone/>
            </a:pPr>
            <a:r>
              <a:rPr lang="en-US" sz="4000" b="1" dirty="0">
                <a:solidFill>
                  <a:srgbClr val="0000FF"/>
                </a:solidFill>
              </a:rPr>
              <a:t>Data Mining ≈ Big Data ≈ </a:t>
            </a:r>
            <a:br>
              <a:rPr lang="en-US" sz="4000" b="1" dirty="0">
                <a:solidFill>
                  <a:srgbClr val="0000FF"/>
                </a:solidFill>
              </a:rPr>
            </a:br>
            <a:r>
              <a:rPr lang="en-US" sz="4000" b="1" dirty="0">
                <a:solidFill>
                  <a:srgbClr val="0000FF"/>
                </a:solidFill>
              </a:rPr>
              <a:t>Predictive Analytics ≈ Data Science</a:t>
            </a:r>
          </a:p>
          <a:p>
            <a:endParaRPr lang="en-US" sz="3600" b="1" dirty="0">
              <a:solidFill>
                <a:srgbClr val="0000FF"/>
              </a:solidFill>
            </a:endParaRPr>
          </a:p>
          <a:p>
            <a:endParaRPr lang="en-US" sz="3600" b="1" dirty="0">
              <a:solidFill>
                <a:srgbClr val="0000FF"/>
              </a:solidFill>
            </a:endParaRP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6</a:t>
            </a:fld>
            <a:endParaRPr lang="en-US"/>
          </a:p>
        </p:txBody>
      </p:sp>
    </p:spTree>
    <p:extLst>
      <p:ext uri="{BB962C8B-B14F-4D97-AF65-F5344CB8AC3E}">
        <p14:creationId xmlns:p14="http://schemas.microsoft.com/office/powerpoint/2010/main" val="309039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lstStyle/>
          <a:p>
            <a:r>
              <a:rPr lang="en-US" dirty="0"/>
              <a:t>What is Data Mining?</a:t>
            </a:r>
          </a:p>
        </p:txBody>
      </p:sp>
      <p:sp>
        <p:nvSpPr>
          <p:cNvPr id="77827" name="Rectangle 1027"/>
          <p:cNvSpPr>
            <a:spLocks noGrp="1" noChangeArrowheads="1"/>
          </p:cNvSpPr>
          <p:nvPr>
            <p:ph idx="1"/>
          </p:nvPr>
        </p:nvSpPr>
        <p:spPr>
          <a:xfrm>
            <a:off x="457200" y="1295400"/>
            <a:ext cx="8534400" cy="5257801"/>
          </a:xfrm>
        </p:spPr>
        <p:txBody>
          <a:bodyPr>
            <a:normAutofit/>
          </a:bodyPr>
          <a:lstStyle/>
          <a:p>
            <a:r>
              <a:rPr lang="en-US" b="1" dirty="0"/>
              <a:t>Given lots of data</a:t>
            </a:r>
          </a:p>
          <a:p>
            <a:r>
              <a:rPr lang="en-US" b="1" dirty="0">
                <a:solidFill>
                  <a:srgbClr val="0000FF"/>
                </a:solidFill>
              </a:rPr>
              <a:t>Discover</a:t>
            </a:r>
            <a:r>
              <a:rPr lang="en-US" dirty="0">
                <a:solidFill>
                  <a:srgbClr val="0000FF"/>
                </a:solidFill>
              </a:rPr>
              <a:t> </a:t>
            </a:r>
            <a:r>
              <a:rPr lang="en-US" b="1" dirty="0">
                <a:solidFill>
                  <a:srgbClr val="0000FF"/>
                </a:solidFill>
              </a:rPr>
              <a:t>patterns and models that are:</a:t>
            </a:r>
          </a:p>
          <a:p>
            <a:pPr lvl="1"/>
            <a:r>
              <a:rPr lang="en-US" b="1" dirty="0">
                <a:solidFill>
                  <a:srgbClr val="FF0066"/>
                </a:solidFill>
              </a:rPr>
              <a:t>Valid:</a:t>
            </a:r>
            <a:r>
              <a:rPr lang="en-US" dirty="0"/>
              <a:t>  hold on new data with some certainty</a:t>
            </a:r>
          </a:p>
          <a:p>
            <a:pPr lvl="1"/>
            <a:r>
              <a:rPr lang="en-US" b="1" dirty="0">
                <a:solidFill>
                  <a:srgbClr val="FF0066"/>
                </a:solidFill>
              </a:rPr>
              <a:t>Useful:</a:t>
            </a:r>
            <a:r>
              <a:rPr lang="en-US" dirty="0"/>
              <a:t>  should be possible to act on the item </a:t>
            </a:r>
          </a:p>
          <a:p>
            <a:pPr lvl="1"/>
            <a:r>
              <a:rPr lang="en-US" b="1" dirty="0">
                <a:solidFill>
                  <a:srgbClr val="FF0066"/>
                </a:solidFill>
              </a:rPr>
              <a:t>Unexpected:</a:t>
            </a:r>
            <a:r>
              <a:rPr lang="en-US" dirty="0"/>
              <a:t>  non-obvious to the system</a:t>
            </a:r>
          </a:p>
          <a:p>
            <a:pPr lvl="1"/>
            <a:r>
              <a:rPr lang="en-US" b="1" dirty="0">
                <a:solidFill>
                  <a:srgbClr val="FF0066"/>
                </a:solidFill>
              </a:rPr>
              <a:t>Understandable:</a:t>
            </a:r>
            <a:r>
              <a:rPr lang="en-US" dirty="0"/>
              <a:t> humans should be able to </a:t>
            </a:r>
            <a:br>
              <a:rPr lang="en-US" dirty="0"/>
            </a:br>
            <a:r>
              <a:rPr lang="en-US" dirty="0"/>
              <a:t>interpret the pattern</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7</a:t>
            </a:fld>
            <a:endParaRPr lang="en-US"/>
          </a:p>
        </p:txBody>
      </p:sp>
    </p:spTree>
    <p:extLst>
      <p:ext uri="{BB962C8B-B14F-4D97-AF65-F5344CB8AC3E}">
        <p14:creationId xmlns:p14="http://schemas.microsoft.com/office/powerpoint/2010/main" val="3535304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lstStyle/>
          <a:p>
            <a:r>
              <a:rPr lang="en-US"/>
              <a:t>Data Mining Tasks</a:t>
            </a:r>
          </a:p>
        </p:txBody>
      </p:sp>
      <p:sp>
        <p:nvSpPr>
          <p:cNvPr id="733187" name="Rectangle 3"/>
          <p:cNvSpPr>
            <a:spLocks noGrp="1" noChangeArrowheads="1"/>
          </p:cNvSpPr>
          <p:nvPr>
            <p:ph idx="1"/>
          </p:nvPr>
        </p:nvSpPr>
        <p:spPr/>
        <p:txBody>
          <a:bodyPr/>
          <a:lstStyle/>
          <a:p>
            <a:r>
              <a:rPr lang="en-US" b="1" dirty="0">
                <a:solidFill>
                  <a:srgbClr val="FF0066"/>
                </a:solidFill>
              </a:rPr>
              <a:t>Descriptive methods</a:t>
            </a:r>
          </a:p>
          <a:p>
            <a:pPr lvl="1"/>
            <a:r>
              <a:rPr lang="en-US" dirty="0"/>
              <a:t>Find human-interpretable patterns that </a:t>
            </a:r>
            <a:br>
              <a:rPr lang="en-US" dirty="0"/>
            </a:br>
            <a:r>
              <a:rPr lang="en-US" dirty="0"/>
              <a:t>describe the data</a:t>
            </a:r>
          </a:p>
          <a:p>
            <a:pPr lvl="2"/>
            <a:r>
              <a:rPr lang="en-US" b="1" dirty="0"/>
              <a:t>Example:</a:t>
            </a:r>
            <a:r>
              <a:rPr lang="en-US" dirty="0"/>
              <a:t> Clustering</a:t>
            </a:r>
          </a:p>
          <a:p>
            <a:pPr lvl="8"/>
            <a:endParaRPr lang="en-US" dirty="0"/>
          </a:p>
          <a:p>
            <a:r>
              <a:rPr lang="en-US" b="1" dirty="0">
                <a:solidFill>
                  <a:srgbClr val="FF0066"/>
                </a:solidFill>
              </a:rPr>
              <a:t>Predictive methods</a:t>
            </a:r>
          </a:p>
          <a:p>
            <a:pPr lvl="1"/>
            <a:r>
              <a:rPr lang="en-US" dirty="0"/>
              <a:t>Use some variables to predict unknown </a:t>
            </a:r>
            <a:br>
              <a:rPr lang="en-US" dirty="0"/>
            </a:br>
            <a:r>
              <a:rPr lang="en-US" dirty="0"/>
              <a:t>or future values of other variables</a:t>
            </a:r>
          </a:p>
          <a:p>
            <a:pPr lvl="2"/>
            <a:r>
              <a:rPr lang="en-US" b="1" dirty="0"/>
              <a:t>Example:</a:t>
            </a:r>
            <a:r>
              <a:rPr lang="en-US" dirty="0"/>
              <a:t> Recommender systems</a:t>
            </a:r>
          </a:p>
          <a:p>
            <a:endParaRPr lang="en-US" dirty="0"/>
          </a:p>
          <a:p>
            <a:pPr lvl="2">
              <a:buFont typeface="Wingdings" pitchFamily="2" charset="2"/>
              <a:buNone/>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8</a:t>
            </a:fld>
            <a:endParaRPr lang="en-US"/>
          </a:p>
        </p:txBody>
      </p:sp>
    </p:spTree>
    <p:extLst>
      <p:ext uri="{BB962C8B-B14F-4D97-AF65-F5344CB8AC3E}">
        <p14:creationId xmlns:p14="http://schemas.microsoft.com/office/powerpoint/2010/main" val="2176889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normAutofit fontScale="90000"/>
          </a:bodyPr>
          <a:lstStyle/>
          <a:p>
            <a:r>
              <a:rPr lang="en-US" dirty="0"/>
              <a:t>Computational Approaches to Data Mining</a:t>
            </a:r>
          </a:p>
        </p:txBody>
      </p:sp>
      <p:sp>
        <p:nvSpPr>
          <p:cNvPr id="733187" name="Rectangle 3"/>
          <p:cNvSpPr>
            <a:spLocks noGrp="1" noChangeArrowheads="1"/>
          </p:cNvSpPr>
          <p:nvPr>
            <p:ph idx="1"/>
          </p:nvPr>
        </p:nvSpPr>
        <p:spPr/>
        <p:txBody>
          <a:bodyPr>
            <a:normAutofit/>
          </a:bodyPr>
          <a:lstStyle/>
          <a:p>
            <a:pPr algn="just">
              <a:buFont typeface="Arial" panose="020B0604020202020204" pitchFamily="34" charset="0"/>
              <a:buChar char="•"/>
            </a:pPr>
            <a:r>
              <a:rPr lang="en-US" sz="3600" b="1" i="0" dirty="0">
                <a:effectLst/>
                <a:latin typeface="Segoe UI" panose="020B0502040204020203" pitchFamily="34" charset="0"/>
              </a:rPr>
              <a:t>Descriptive</a:t>
            </a:r>
            <a:r>
              <a:rPr lang="en-US" sz="3600" b="0" i="0" dirty="0">
                <a:effectLst/>
                <a:latin typeface="Segoe UI" panose="020B0502040204020203" pitchFamily="34" charset="0"/>
              </a:rPr>
              <a:t>, to answer the question: What’s happening?</a:t>
            </a:r>
          </a:p>
          <a:p>
            <a:pPr algn="just">
              <a:buFont typeface="Arial" panose="020B0604020202020204" pitchFamily="34" charset="0"/>
              <a:buChar char="•"/>
            </a:pPr>
            <a:r>
              <a:rPr lang="en-US" sz="3600" b="1" i="0" dirty="0">
                <a:effectLst/>
                <a:latin typeface="Segoe UI" panose="020B0502040204020203" pitchFamily="34" charset="0"/>
              </a:rPr>
              <a:t>Diagnostic</a:t>
            </a:r>
            <a:r>
              <a:rPr lang="en-US" sz="3600" b="0" i="0" dirty="0">
                <a:effectLst/>
                <a:latin typeface="Segoe UI" panose="020B0502040204020203" pitchFamily="34" charset="0"/>
              </a:rPr>
              <a:t>, to answer the question: Why’s happening?</a:t>
            </a:r>
          </a:p>
          <a:p>
            <a:pPr algn="just">
              <a:buFont typeface="Arial" panose="020B0604020202020204" pitchFamily="34" charset="0"/>
              <a:buChar char="•"/>
            </a:pPr>
            <a:r>
              <a:rPr lang="en-US" sz="3600" b="1" i="0" dirty="0">
                <a:effectLst/>
                <a:latin typeface="Segoe UI" panose="020B0502040204020203" pitchFamily="34" charset="0"/>
              </a:rPr>
              <a:t>Predictive</a:t>
            </a:r>
            <a:r>
              <a:rPr lang="en-US" sz="3600" b="0" i="0" dirty="0">
                <a:effectLst/>
                <a:latin typeface="Segoe UI" panose="020B0502040204020203" pitchFamily="34" charset="0"/>
              </a:rPr>
              <a:t>, to answer the question: What will happen?</a:t>
            </a:r>
          </a:p>
          <a:p>
            <a:pPr algn="just">
              <a:buFont typeface="Arial" panose="020B0604020202020204" pitchFamily="34" charset="0"/>
              <a:buChar char="•"/>
            </a:pPr>
            <a:r>
              <a:rPr lang="en-US" sz="3600" b="1" i="0" dirty="0">
                <a:effectLst/>
                <a:latin typeface="Segoe UI" panose="020B0502040204020203" pitchFamily="34" charset="0"/>
              </a:rPr>
              <a:t>Prescriptive</a:t>
            </a:r>
            <a:r>
              <a:rPr lang="en-US" sz="3600" b="0" i="0" dirty="0">
                <a:effectLst/>
                <a:latin typeface="Segoe UI" panose="020B0502040204020203" pitchFamily="34" charset="0"/>
              </a:rPr>
              <a:t>, to answer the question: What actions should we take?</a:t>
            </a:r>
          </a:p>
        </p:txBody>
      </p:sp>
      <p:sp>
        <p:nvSpPr>
          <p:cNvPr id="4" name="Slide Number Placeholder 3"/>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57371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76200"/>
            <a:ext cx="8991600" cy="987552"/>
          </a:xfrm>
        </p:spPr>
        <p:txBody>
          <a:bodyPr>
            <a:normAutofit/>
          </a:bodyPr>
          <a:lstStyle/>
          <a:p>
            <a:r>
              <a:rPr lang="en-US" dirty="0"/>
              <a:t>Meaningfulness of Analytic Answers</a:t>
            </a:r>
          </a:p>
        </p:txBody>
      </p:sp>
      <p:sp>
        <p:nvSpPr>
          <p:cNvPr id="2" name="Content Placeholder 1"/>
          <p:cNvSpPr>
            <a:spLocks noGrp="1"/>
          </p:cNvSpPr>
          <p:nvPr>
            <p:ph idx="1"/>
          </p:nvPr>
        </p:nvSpPr>
        <p:spPr/>
        <p:txBody>
          <a:bodyPr/>
          <a:lstStyle/>
          <a:p>
            <a:r>
              <a:rPr lang="en-US" b="1" dirty="0">
                <a:solidFill>
                  <a:srgbClr val="0000FF"/>
                </a:solidFill>
              </a:rPr>
              <a:t>A risk with “Data mining” is that an analyst can “discover” patterns that are meaningless</a:t>
            </a:r>
          </a:p>
          <a:p>
            <a:r>
              <a:rPr lang="en-US" dirty="0"/>
              <a:t>Statisticians call it </a:t>
            </a:r>
            <a:r>
              <a:rPr lang="en-US" b="1" dirty="0" err="1">
                <a:solidFill>
                  <a:srgbClr val="FF0066"/>
                </a:solidFill>
              </a:rPr>
              <a:t>Bonferroni’s</a:t>
            </a:r>
            <a:r>
              <a:rPr lang="en-US" b="1" dirty="0">
                <a:solidFill>
                  <a:srgbClr val="FF0066"/>
                </a:solidFill>
              </a:rPr>
              <a:t> principle</a:t>
            </a:r>
            <a:r>
              <a:rPr lang="en-US" dirty="0"/>
              <a:t>:</a:t>
            </a:r>
          </a:p>
          <a:p>
            <a:pPr lvl="1"/>
            <a:r>
              <a:rPr lang="en-US" dirty="0"/>
              <a:t>Roughly, if you look in more places for interesting patterns than your amount of data will support, you are bound to find crap</a:t>
            </a:r>
          </a:p>
        </p:txBody>
      </p:sp>
      <p:pic>
        <p:nvPicPr>
          <p:cNvPr id="8198" name="Picture 6" descr="http://2.bp.blogspot.com/_hc_VAw3YEOk/SdjkJijh7xI/AAAAAAAAAKQ/nuapuWjnbqo/s400/DilbertMiningData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786" y="4495800"/>
            <a:ext cx="5594427" cy="2209800"/>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10</a:t>
            </a:fld>
            <a:endParaRPr lang="en-US"/>
          </a:p>
        </p:txBody>
      </p:sp>
    </p:spTree>
    <p:extLst>
      <p:ext uri="{BB962C8B-B14F-4D97-AF65-F5344CB8AC3E}">
        <p14:creationId xmlns:p14="http://schemas.microsoft.com/office/powerpoint/2010/main" val="2062516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76200"/>
            <a:ext cx="8991600" cy="987552"/>
          </a:xfrm>
        </p:spPr>
        <p:txBody>
          <a:bodyPr>
            <a:normAutofit/>
          </a:bodyPr>
          <a:lstStyle/>
          <a:p>
            <a:r>
              <a:rPr lang="en-US" dirty="0"/>
              <a:t>Meaningfulness of Analytic Answers</a:t>
            </a:r>
          </a:p>
        </p:txBody>
      </p:sp>
      <p:sp>
        <p:nvSpPr>
          <p:cNvPr id="2" name="Content Placeholder 1"/>
          <p:cNvSpPr>
            <a:spLocks noGrp="1"/>
          </p:cNvSpPr>
          <p:nvPr>
            <p:ph idx="1"/>
          </p:nvPr>
        </p:nvSpPr>
        <p:spPr>
          <a:xfrm>
            <a:off x="457200" y="1295400"/>
            <a:ext cx="8534400" cy="5562600"/>
          </a:xfrm>
        </p:spPr>
        <p:txBody>
          <a:bodyPr>
            <a:normAutofit fontScale="85000" lnSpcReduction="10000"/>
          </a:bodyPr>
          <a:lstStyle/>
          <a:p>
            <a:pPr marL="109728" indent="0">
              <a:buNone/>
            </a:pPr>
            <a:r>
              <a:rPr lang="en-US" b="1" dirty="0"/>
              <a:t>Example: </a:t>
            </a:r>
          </a:p>
          <a:p>
            <a:r>
              <a:rPr lang="en-US" dirty="0"/>
              <a:t>We want to find (unrelated) people who </a:t>
            </a:r>
            <a:r>
              <a:rPr lang="en-US" b="1" dirty="0">
                <a:solidFill>
                  <a:srgbClr val="FF0066"/>
                </a:solidFill>
              </a:rPr>
              <a:t>at least twice have stayed at the same hotel on the same day</a:t>
            </a:r>
          </a:p>
          <a:p>
            <a:pPr lvl="1"/>
            <a:r>
              <a:rPr lang="en-US" dirty="0"/>
              <a:t>10</a:t>
            </a:r>
            <a:r>
              <a:rPr lang="en-US" baseline="30000" dirty="0"/>
              <a:t>9</a:t>
            </a:r>
            <a:r>
              <a:rPr lang="en-US" dirty="0"/>
              <a:t> people being tracked</a:t>
            </a:r>
          </a:p>
          <a:p>
            <a:pPr lvl="1"/>
            <a:r>
              <a:rPr lang="en-US" dirty="0"/>
              <a:t>1,000 days</a:t>
            </a:r>
          </a:p>
          <a:p>
            <a:pPr lvl="1"/>
            <a:r>
              <a:rPr lang="en-US" dirty="0"/>
              <a:t>Each person stays in a hotel 1% of time (1 day out of 100)</a:t>
            </a:r>
          </a:p>
          <a:p>
            <a:pPr lvl="1"/>
            <a:r>
              <a:rPr lang="en-US" dirty="0"/>
              <a:t>Hotels hold 100 people (so 10</a:t>
            </a:r>
            <a:r>
              <a:rPr lang="en-US" baseline="30000" dirty="0"/>
              <a:t>5</a:t>
            </a:r>
            <a:r>
              <a:rPr lang="en-US" dirty="0"/>
              <a:t> hotels)</a:t>
            </a:r>
          </a:p>
          <a:p>
            <a:pPr lvl="1"/>
            <a:r>
              <a:rPr lang="en-US" b="1" dirty="0"/>
              <a:t>If everyone behaves randomly (i.e., no terrorists) will the data mining detect anything suspicious?</a:t>
            </a:r>
          </a:p>
          <a:p>
            <a:r>
              <a:rPr lang="en-US" b="1" dirty="0">
                <a:solidFill>
                  <a:srgbClr val="0000FF"/>
                </a:solidFill>
              </a:rPr>
              <a:t>Expected number of “suspicious” pairs of people:</a:t>
            </a:r>
          </a:p>
          <a:p>
            <a:pPr lvl="1"/>
            <a:r>
              <a:rPr lang="en-US" dirty="0"/>
              <a:t>250,000 </a:t>
            </a:r>
          </a:p>
          <a:p>
            <a:pPr lvl="1"/>
            <a:r>
              <a:rPr lang="en-US" dirty="0"/>
              <a:t>… too many combinations to check – we need to have some additional evidence to find “suspicious” pairs of people in some more efficient way</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11</a:t>
            </a:fld>
            <a:endParaRPr lang="en-US"/>
          </a:p>
        </p:txBody>
      </p:sp>
    </p:spTree>
    <p:extLst>
      <p:ext uri="{BB962C8B-B14F-4D97-AF65-F5344CB8AC3E}">
        <p14:creationId xmlns:p14="http://schemas.microsoft.com/office/powerpoint/2010/main" val="91772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wipe(down)">
                                      <p:cBhvr>
                                        <p:cTn id="7" dur="500"/>
                                        <p:tgtEl>
                                          <p:spTgt spid="2">
                                            <p:txEl>
                                              <p:pRg st="7" end="7"/>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xEl>
                                              <p:pRg st="8" end="8"/>
                                            </p:txEl>
                                          </p:spTgt>
                                        </p:tgtEl>
                                        <p:attrNameLst>
                                          <p:attrName>style.visibility</p:attrName>
                                        </p:attrNameLst>
                                      </p:cBhvr>
                                      <p:to>
                                        <p:strVal val="visible"/>
                                      </p:to>
                                    </p:set>
                                    <p:animEffect transition="in" filter="wipe(down)">
                                      <p:cBhvr>
                                        <p:cTn id="10" dur="500"/>
                                        <p:tgtEl>
                                          <p:spTgt spid="2">
                                            <p:txEl>
                                              <p:pRg st="8" end="8"/>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animEffect transition="in" filter="wipe(down)">
                                      <p:cBhvr>
                                        <p:cTn id="13"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987552"/>
          </a:xfrm>
        </p:spPr>
        <p:txBody>
          <a:bodyPr>
            <a:normAutofit fontScale="90000"/>
          </a:bodyPr>
          <a:lstStyle/>
          <a:p>
            <a:r>
              <a:rPr lang="en-US" dirty="0"/>
              <a:t>What matters when dealing with data?</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12</a:t>
            </a:fld>
            <a:endParaRPr lang="en-US"/>
          </a:p>
        </p:txBody>
      </p:sp>
      <p:grpSp>
        <p:nvGrpSpPr>
          <p:cNvPr id="7" name="Group 6"/>
          <p:cNvGrpSpPr/>
          <p:nvPr/>
        </p:nvGrpSpPr>
        <p:grpSpPr>
          <a:xfrm>
            <a:off x="2355866" y="1677194"/>
            <a:ext cx="4924390" cy="4342606"/>
            <a:chOff x="3200400" y="1677194"/>
            <a:chExt cx="4924390" cy="4342606"/>
          </a:xfrm>
        </p:grpSpPr>
        <p:cxnSp>
          <p:nvCxnSpPr>
            <p:cNvPr id="8" name="Straight Arrow Connector 7"/>
            <p:cNvCxnSpPr/>
            <p:nvPr/>
          </p:nvCxnSpPr>
          <p:spPr>
            <a:xfrm>
              <a:off x="4918763" y="4343400"/>
              <a:ext cx="3206027" cy="1588"/>
            </a:xfrm>
            <a:prstGeom prst="straightConnector1">
              <a:avLst/>
            </a:prstGeom>
            <a:ln w="25400">
              <a:solidFill>
                <a:srgbClr val="0070C0"/>
              </a:solidFill>
              <a:tailEnd type="arrow"/>
            </a:ln>
            <a:scene3d>
              <a:camera prst="orthographicFront"/>
              <a:lightRig rig="threePt" dir="t"/>
            </a:scene3d>
            <a:sp3d prstMaterial="metal"/>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3585263" y="3009917"/>
              <a:ext cx="2667000" cy="1554"/>
            </a:xfrm>
            <a:prstGeom prst="straightConnector1">
              <a:avLst/>
            </a:prstGeom>
            <a:ln w="25400">
              <a:solidFill>
                <a:srgbClr val="0070C0"/>
              </a:solidFill>
              <a:tailEnd type="arrow"/>
            </a:ln>
            <a:scene3d>
              <a:camera prst="orthographicFront"/>
              <a:lightRig rig="threePt" dir="t"/>
            </a:scene3d>
            <a:sp3d prstMaterial="metal"/>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flipV="1">
              <a:off x="3200400" y="4343400"/>
              <a:ext cx="1718364" cy="1676400"/>
            </a:xfrm>
            <a:prstGeom prst="straightConnector1">
              <a:avLst/>
            </a:prstGeom>
            <a:ln w="25400">
              <a:solidFill>
                <a:srgbClr val="0070C0"/>
              </a:solidFill>
              <a:tailEnd type="arrow"/>
            </a:ln>
            <a:scene3d>
              <a:camera prst="orthographicFront"/>
              <a:lightRig rig="threePt" dir="t"/>
            </a:scene3d>
            <a:sp3d prstMaterial="metal"/>
          </p:spPr>
          <p:style>
            <a:lnRef idx="1">
              <a:schemeClr val="accent1"/>
            </a:lnRef>
            <a:fillRef idx="0">
              <a:schemeClr val="accent1"/>
            </a:fillRef>
            <a:effectRef idx="0">
              <a:schemeClr val="accent1"/>
            </a:effectRef>
            <a:fontRef idx="minor">
              <a:schemeClr val="tx1"/>
            </a:fontRef>
          </p:style>
        </p:cxnSp>
      </p:grpSp>
      <p:sp>
        <p:nvSpPr>
          <p:cNvPr id="11" name="TextBox 10"/>
          <p:cNvSpPr txBox="1"/>
          <p:nvPr/>
        </p:nvSpPr>
        <p:spPr>
          <a:xfrm>
            <a:off x="6950827" y="4495800"/>
            <a:ext cx="1574470" cy="830997"/>
          </a:xfrm>
          <a:prstGeom prst="rect">
            <a:avLst/>
          </a:prstGeom>
          <a:noFill/>
          <a:ln>
            <a:noFill/>
          </a:ln>
        </p:spPr>
        <p:txBody>
          <a:bodyPr wrap="none" rtlCol="0">
            <a:spAutoFit/>
            <a:scene3d>
              <a:camera prst="orthographicFront"/>
              <a:lightRig rig="threePt" dir="t"/>
            </a:scene3d>
            <a:sp3d extrusionH="57150">
              <a:bevelT w="38100" h="38100"/>
            </a:sp3d>
          </a:bodyPr>
          <a:lstStyle/>
          <a:p>
            <a:r>
              <a:rPr lang="en-US" sz="2400" b="1" dirty="0">
                <a:solidFill>
                  <a:srgbClr val="0000FF"/>
                </a:solidFill>
              </a:rPr>
              <a:t>Data</a:t>
            </a:r>
          </a:p>
          <a:p>
            <a:r>
              <a:rPr lang="en-US" sz="2400" b="1" dirty="0">
                <a:solidFill>
                  <a:srgbClr val="0000FF"/>
                </a:solidFill>
              </a:rPr>
              <a:t>Modalities</a:t>
            </a:r>
            <a:endParaRPr lang="en-US" b="1" dirty="0">
              <a:solidFill>
                <a:srgbClr val="0000FF"/>
              </a:solidFill>
            </a:endParaRPr>
          </a:p>
        </p:txBody>
      </p:sp>
      <p:sp>
        <p:nvSpPr>
          <p:cNvPr id="12" name="TextBox 11"/>
          <p:cNvSpPr txBox="1"/>
          <p:nvPr/>
        </p:nvSpPr>
        <p:spPr>
          <a:xfrm>
            <a:off x="3505200" y="1295400"/>
            <a:ext cx="1633781" cy="461665"/>
          </a:xfrm>
          <a:prstGeom prst="rect">
            <a:avLst/>
          </a:prstGeom>
          <a:noFill/>
          <a:ln>
            <a:noFill/>
          </a:ln>
        </p:spPr>
        <p:txBody>
          <a:bodyPr wrap="none" rtlCol="0">
            <a:spAutoFit/>
            <a:scene3d>
              <a:camera prst="orthographicFront"/>
              <a:lightRig rig="threePt" dir="t"/>
            </a:scene3d>
            <a:sp3d extrusionH="57150">
              <a:bevelT w="38100" h="38100"/>
            </a:sp3d>
          </a:bodyPr>
          <a:lstStyle/>
          <a:p>
            <a:r>
              <a:rPr lang="en-US" sz="2400" b="1" dirty="0">
                <a:solidFill>
                  <a:srgbClr val="0000FF"/>
                </a:solidFill>
              </a:rPr>
              <a:t>Challenges</a:t>
            </a:r>
          </a:p>
        </p:txBody>
      </p:sp>
      <p:sp>
        <p:nvSpPr>
          <p:cNvPr id="13" name="TextBox 12"/>
          <p:cNvSpPr txBox="1"/>
          <p:nvPr/>
        </p:nvSpPr>
        <p:spPr>
          <a:xfrm>
            <a:off x="1670066" y="6019800"/>
            <a:ext cx="2226059" cy="461665"/>
          </a:xfrm>
          <a:prstGeom prst="rect">
            <a:avLst/>
          </a:prstGeom>
          <a:noFill/>
          <a:ln>
            <a:noFill/>
          </a:ln>
        </p:spPr>
        <p:txBody>
          <a:bodyPr wrap="none" rtlCol="0">
            <a:spAutoFit/>
            <a:scene3d>
              <a:camera prst="orthographicFront"/>
              <a:lightRig rig="threePt" dir="t"/>
            </a:scene3d>
            <a:sp3d extrusionH="57150">
              <a:bevelT w="38100" h="38100"/>
            </a:sp3d>
          </a:bodyPr>
          <a:lstStyle/>
          <a:p>
            <a:r>
              <a:rPr lang="en-US" sz="2400" b="1" dirty="0">
                <a:solidFill>
                  <a:srgbClr val="0000FF"/>
                </a:solidFill>
              </a:rPr>
              <a:t>Data Operators</a:t>
            </a:r>
            <a:endParaRPr lang="en-US" b="1" dirty="0">
              <a:solidFill>
                <a:srgbClr val="0000FF"/>
              </a:solidFill>
            </a:endParaRPr>
          </a:p>
        </p:txBody>
      </p:sp>
      <p:sp>
        <p:nvSpPr>
          <p:cNvPr id="14" name="TextBox 13"/>
          <p:cNvSpPr txBox="1"/>
          <p:nvPr/>
        </p:nvSpPr>
        <p:spPr>
          <a:xfrm rot="18841630">
            <a:off x="3581027" y="4563821"/>
            <a:ext cx="1237839"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Ontologies</a:t>
            </a:r>
            <a:endParaRPr lang="en-US" sz="1400" dirty="0"/>
          </a:p>
        </p:txBody>
      </p:sp>
      <p:sp>
        <p:nvSpPr>
          <p:cNvPr id="15" name="TextBox 14"/>
          <p:cNvSpPr txBox="1"/>
          <p:nvPr/>
        </p:nvSpPr>
        <p:spPr>
          <a:xfrm rot="18801071">
            <a:off x="4042816" y="4634207"/>
            <a:ext cx="1205779"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Structured</a:t>
            </a:r>
            <a:endParaRPr lang="en-US" sz="1400" dirty="0"/>
          </a:p>
        </p:txBody>
      </p:sp>
      <p:sp>
        <p:nvSpPr>
          <p:cNvPr id="16" name="TextBox 15"/>
          <p:cNvSpPr txBox="1"/>
          <p:nvPr/>
        </p:nvSpPr>
        <p:spPr>
          <a:xfrm rot="18801071">
            <a:off x="4592804" y="4601687"/>
            <a:ext cx="1111202"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Networks</a:t>
            </a:r>
            <a:endParaRPr lang="en-US" sz="1400" dirty="0"/>
          </a:p>
        </p:txBody>
      </p:sp>
      <p:sp>
        <p:nvSpPr>
          <p:cNvPr id="17" name="TextBox 16"/>
          <p:cNvSpPr txBox="1"/>
          <p:nvPr/>
        </p:nvSpPr>
        <p:spPr>
          <a:xfrm rot="18801071">
            <a:off x="5377650" y="4510818"/>
            <a:ext cx="599588"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Text</a:t>
            </a:r>
            <a:endParaRPr lang="en-US" sz="1400" dirty="0"/>
          </a:p>
        </p:txBody>
      </p:sp>
      <p:sp>
        <p:nvSpPr>
          <p:cNvPr id="18" name="TextBox 17"/>
          <p:cNvSpPr txBox="1"/>
          <p:nvPr/>
        </p:nvSpPr>
        <p:spPr>
          <a:xfrm rot="18801071">
            <a:off x="5380843" y="4642096"/>
            <a:ext cx="1276311"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Multimedia</a:t>
            </a:r>
            <a:endParaRPr lang="en-US" sz="1400" dirty="0"/>
          </a:p>
        </p:txBody>
      </p:sp>
      <p:sp>
        <p:nvSpPr>
          <p:cNvPr id="19" name="TextBox 18"/>
          <p:cNvSpPr txBox="1"/>
          <p:nvPr/>
        </p:nvSpPr>
        <p:spPr>
          <a:xfrm rot="18801071">
            <a:off x="6206340" y="4542525"/>
            <a:ext cx="867545" cy="369332"/>
          </a:xfrm>
          <a:prstGeom prst="rect">
            <a:avLst/>
          </a:prstGeom>
          <a:noFill/>
          <a:ln>
            <a:noFill/>
          </a:ln>
          <a:effectLst>
            <a:outerShdw blurRad="50800" dist="38100" dir="2700000" algn="tl" rotWithShape="0">
              <a:prstClr val="black">
                <a:alpha val="40000"/>
              </a:prstClr>
            </a:outerShdw>
          </a:effectLst>
          <a:scene3d>
            <a:camera prst="orthographicFront">
              <a:rot lat="1720775" lon="1005846" rev="703742"/>
            </a:camera>
            <a:lightRig rig="threePt" dir="t"/>
          </a:scene3d>
        </p:spPr>
        <p:txBody>
          <a:bodyPr wrap="none" rtlCol="0">
            <a:spAutoFit/>
          </a:bodyPr>
          <a:lstStyle/>
          <a:p>
            <a:r>
              <a:rPr lang="en-US" dirty="0"/>
              <a:t>Signals</a:t>
            </a:r>
            <a:endParaRPr lang="en-US" sz="1400" dirty="0"/>
          </a:p>
        </p:txBody>
      </p:sp>
      <p:sp>
        <p:nvSpPr>
          <p:cNvPr id="20" name="TextBox 19"/>
          <p:cNvSpPr txBox="1"/>
          <p:nvPr/>
        </p:nvSpPr>
        <p:spPr>
          <a:xfrm>
            <a:off x="4174586" y="3886200"/>
            <a:ext cx="1165704" cy="369332"/>
          </a:xfrm>
          <a:prstGeom prst="rect">
            <a:avLst/>
          </a:prstGeom>
          <a:noFill/>
          <a:ln>
            <a:noFill/>
          </a:ln>
          <a:effectLst>
            <a:outerShdw blurRad="50800" dist="38100" dir="5400000" algn="t" rotWithShape="0">
              <a:prstClr val="black">
                <a:alpha val="40000"/>
              </a:prstClr>
            </a:outerShdw>
          </a:effectLst>
        </p:spPr>
        <p:txBody>
          <a:bodyPr wrap="none" rtlCol="0">
            <a:spAutoFit/>
          </a:bodyPr>
          <a:lstStyle/>
          <a:p>
            <a:r>
              <a:rPr lang="en-US" dirty="0"/>
              <a:t>Scalability</a:t>
            </a:r>
            <a:endParaRPr lang="en-US" sz="1400" dirty="0"/>
          </a:p>
        </p:txBody>
      </p:sp>
      <p:sp>
        <p:nvSpPr>
          <p:cNvPr id="21" name="TextBox 20"/>
          <p:cNvSpPr txBox="1"/>
          <p:nvPr/>
        </p:nvSpPr>
        <p:spPr>
          <a:xfrm>
            <a:off x="4162706" y="3429000"/>
            <a:ext cx="1184940" cy="369332"/>
          </a:xfrm>
          <a:prstGeom prst="rect">
            <a:avLst/>
          </a:prstGeom>
          <a:noFill/>
          <a:ln>
            <a:noFill/>
          </a:ln>
          <a:effectLst>
            <a:outerShdw blurRad="50800" dist="38100" dir="5400000" algn="t" rotWithShape="0">
              <a:prstClr val="black">
                <a:alpha val="40000"/>
              </a:prstClr>
            </a:outerShdw>
          </a:effectLst>
        </p:spPr>
        <p:txBody>
          <a:bodyPr wrap="none" rtlCol="0">
            <a:spAutoFit/>
          </a:bodyPr>
          <a:lstStyle/>
          <a:p>
            <a:r>
              <a:rPr lang="en-US" dirty="0"/>
              <a:t>Streaming</a:t>
            </a:r>
            <a:endParaRPr lang="en-US" sz="1400" dirty="0"/>
          </a:p>
        </p:txBody>
      </p:sp>
      <p:sp>
        <p:nvSpPr>
          <p:cNvPr id="22" name="TextBox 21"/>
          <p:cNvSpPr txBox="1"/>
          <p:nvPr/>
        </p:nvSpPr>
        <p:spPr>
          <a:xfrm>
            <a:off x="4186536" y="2971800"/>
            <a:ext cx="947695" cy="369332"/>
          </a:xfrm>
          <a:prstGeom prst="rect">
            <a:avLst/>
          </a:prstGeom>
          <a:noFill/>
          <a:ln>
            <a:noFill/>
          </a:ln>
          <a:effectLst>
            <a:outerShdw blurRad="50800" dist="38100" dir="5400000" algn="t" rotWithShape="0">
              <a:prstClr val="black">
                <a:alpha val="40000"/>
              </a:prstClr>
            </a:outerShdw>
          </a:effectLst>
        </p:spPr>
        <p:txBody>
          <a:bodyPr wrap="none" rtlCol="0">
            <a:spAutoFit/>
          </a:bodyPr>
          <a:lstStyle/>
          <a:p>
            <a:r>
              <a:rPr lang="en-US" dirty="0"/>
              <a:t>Context</a:t>
            </a:r>
            <a:endParaRPr lang="en-US" sz="1400" dirty="0"/>
          </a:p>
        </p:txBody>
      </p:sp>
      <p:sp>
        <p:nvSpPr>
          <p:cNvPr id="23" name="TextBox 22"/>
          <p:cNvSpPr txBox="1"/>
          <p:nvPr/>
        </p:nvSpPr>
        <p:spPr>
          <a:xfrm>
            <a:off x="4186536" y="2514600"/>
            <a:ext cx="885179" cy="369332"/>
          </a:xfrm>
          <a:prstGeom prst="rect">
            <a:avLst/>
          </a:prstGeom>
          <a:noFill/>
          <a:ln>
            <a:noFill/>
          </a:ln>
          <a:effectLst>
            <a:outerShdw blurRad="50800" dist="38100" dir="5400000" algn="t" rotWithShape="0">
              <a:prstClr val="black">
                <a:alpha val="40000"/>
              </a:prstClr>
            </a:outerShdw>
          </a:effectLst>
        </p:spPr>
        <p:txBody>
          <a:bodyPr wrap="none" rtlCol="0">
            <a:spAutoFit/>
          </a:bodyPr>
          <a:lstStyle/>
          <a:p>
            <a:r>
              <a:rPr lang="en-US" dirty="0"/>
              <a:t>Quality</a:t>
            </a:r>
            <a:endParaRPr lang="en-US" sz="1400" dirty="0"/>
          </a:p>
        </p:txBody>
      </p:sp>
      <p:sp>
        <p:nvSpPr>
          <p:cNvPr id="24" name="TextBox 23"/>
          <p:cNvSpPr txBox="1"/>
          <p:nvPr/>
        </p:nvSpPr>
        <p:spPr>
          <a:xfrm>
            <a:off x="4186536" y="2057400"/>
            <a:ext cx="784189" cy="369332"/>
          </a:xfrm>
          <a:prstGeom prst="rect">
            <a:avLst/>
          </a:prstGeom>
          <a:noFill/>
          <a:ln>
            <a:noFill/>
          </a:ln>
          <a:effectLst>
            <a:outerShdw blurRad="50800" dist="38100" dir="5400000" algn="t" rotWithShape="0">
              <a:prstClr val="black">
                <a:alpha val="40000"/>
              </a:prstClr>
            </a:outerShdw>
          </a:effectLst>
        </p:spPr>
        <p:txBody>
          <a:bodyPr wrap="none" rtlCol="0">
            <a:spAutoFit/>
          </a:bodyPr>
          <a:lstStyle/>
          <a:p>
            <a:r>
              <a:rPr lang="en-US" dirty="0"/>
              <a:t>Usage</a:t>
            </a:r>
            <a:endParaRPr lang="en-US" sz="1400" dirty="0"/>
          </a:p>
        </p:txBody>
      </p:sp>
      <p:sp>
        <p:nvSpPr>
          <p:cNvPr id="25" name="TextBox 24"/>
          <p:cNvSpPr txBox="1"/>
          <p:nvPr/>
        </p:nvSpPr>
        <p:spPr>
          <a:xfrm>
            <a:off x="3092577" y="4188023"/>
            <a:ext cx="846707"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Collect</a:t>
            </a:r>
            <a:endParaRPr lang="en-US" sz="1400" dirty="0"/>
          </a:p>
        </p:txBody>
      </p:sp>
      <p:sp>
        <p:nvSpPr>
          <p:cNvPr id="26" name="TextBox 25"/>
          <p:cNvSpPr txBox="1"/>
          <p:nvPr/>
        </p:nvSpPr>
        <p:spPr>
          <a:xfrm>
            <a:off x="2760497" y="4401970"/>
            <a:ext cx="936475"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Prepare</a:t>
            </a:r>
            <a:endParaRPr lang="en-US" sz="1400" dirty="0"/>
          </a:p>
        </p:txBody>
      </p:sp>
      <p:sp>
        <p:nvSpPr>
          <p:cNvPr id="27" name="TextBox 26"/>
          <p:cNvSpPr txBox="1"/>
          <p:nvPr/>
        </p:nvSpPr>
        <p:spPr>
          <a:xfrm>
            <a:off x="2383189" y="4648200"/>
            <a:ext cx="1156407"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Represent</a:t>
            </a:r>
            <a:endParaRPr lang="en-US" sz="1400" dirty="0"/>
          </a:p>
        </p:txBody>
      </p:sp>
      <p:sp>
        <p:nvSpPr>
          <p:cNvPr id="28" name="TextBox 27"/>
          <p:cNvSpPr txBox="1"/>
          <p:nvPr/>
        </p:nvSpPr>
        <p:spPr>
          <a:xfrm>
            <a:off x="2411401" y="4953000"/>
            <a:ext cx="788999"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Model</a:t>
            </a:r>
            <a:endParaRPr lang="en-US" sz="1400" dirty="0"/>
          </a:p>
        </p:txBody>
      </p:sp>
      <p:sp>
        <p:nvSpPr>
          <p:cNvPr id="29" name="TextBox 28"/>
          <p:cNvSpPr txBox="1"/>
          <p:nvPr/>
        </p:nvSpPr>
        <p:spPr>
          <a:xfrm>
            <a:off x="2049459" y="5254823"/>
            <a:ext cx="883896"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Reason</a:t>
            </a:r>
            <a:endParaRPr lang="en-US" sz="1400" dirty="0"/>
          </a:p>
        </p:txBody>
      </p:sp>
      <p:sp>
        <p:nvSpPr>
          <p:cNvPr id="30" name="TextBox 29"/>
          <p:cNvSpPr txBox="1"/>
          <p:nvPr/>
        </p:nvSpPr>
        <p:spPr>
          <a:xfrm>
            <a:off x="1600200" y="5562600"/>
            <a:ext cx="1027845" cy="369332"/>
          </a:xfrm>
          <a:prstGeom prst="rect">
            <a:avLst/>
          </a:prstGeom>
          <a:noFill/>
          <a:ln>
            <a:noFill/>
          </a:ln>
          <a:effectLst>
            <a:outerShdw blurRad="50800" dist="38100" dir="5400000" algn="t" rotWithShape="0">
              <a:prstClr val="black">
                <a:alpha val="40000"/>
              </a:prstClr>
            </a:outerShdw>
          </a:effectLst>
          <a:scene3d>
            <a:camera prst="orthographicFront">
              <a:rot lat="2938394" lon="20679571" rev="20898435"/>
            </a:camera>
            <a:lightRig rig="threePt" dir="t"/>
          </a:scene3d>
        </p:spPr>
        <p:txBody>
          <a:bodyPr wrap="none" rtlCol="0">
            <a:spAutoFit/>
          </a:bodyPr>
          <a:lstStyle/>
          <a:p>
            <a:r>
              <a:rPr lang="en-US" dirty="0"/>
              <a:t>Visualize</a:t>
            </a:r>
            <a:endParaRPr lang="en-US" sz="1400" dirty="0"/>
          </a:p>
        </p:txBody>
      </p:sp>
    </p:spTree>
    <p:extLst>
      <p:ext uri="{BB962C8B-B14F-4D97-AF65-F5344CB8AC3E}">
        <p14:creationId xmlns:p14="http://schemas.microsoft.com/office/powerpoint/2010/main" val="300474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7" name="Rectangle 5"/>
          <p:cNvSpPr>
            <a:spLocks noGrp="1" noChangeArrowheads="1"/>
          </p:cNvSpPr>
          <p:nvPr>
            <p:ph type="title"/>
          </p:nvPr>
        </p:nvSpPr>
        <p:spPr/>
        <p:txBody>
          <a:bodyPr lIns="0" rIns="0">
            <a:normAutofit/>
          </a:bodyPr>
          <a:lstStyle/>
          <a:p>
            <a:r>
              <a:rPr lang="en-US" dirty="0"/>
              <a:t>Data Mining: Cultures</a:t>
            </a:r>
          </a:p>
        </p:txBody>
      </p:sp>
      <p:sp>
        <p:nvSpPr>
          <p:cNvPr id="658434" name="Rectangle 2"/>
          <p:cNvSpPr>
            <a:spLocks noGrp="1" noChangeArrowheads="1"/>
          </p:cNvSpPr>
          <p:nvPr>
            <p:ph idx="1"/>
          </p:nvPr>
        </p:nvSpPr>
        <p:spPr>
          <a:xfrm>
            <a:off x="457200" y="1295400"/>
            <a:ext cx="8229600" cy="5562600"/>
          </a:xfrm>
        </p:spPr>
        <p:txBody>
          <a:bodyPr>
            <a:normAutofit lnSpcReduction="10000"/>
          </a:bodyPr>
          <a:lstStyle/>
          <a:p>
            <a:r>
              <a:rPr lang="en-US" b="1" dirty="0">
                <a:solidFill>
                  <a:srgbClr val="FF0066"/>
                </a:solidFill>
              </a:rPr>
              <a:t>Data mining overlaps with:</a:t>
            </a:r>
          </a:p>
          <a:p>
            <a:pPr lvl="1"/>
            <a:r>
              <a:rPr lang="en-US" b="1" dirty="0">
                <a:solidFill>
                  <a:srgbClr val="0000FF"/>
                </a:solidFill>
              </a:rPr>
              <a:t>Databases:</a:t>
            </a:r>
            <a:r>
              <a:rPr lang="en-US" dirty="0"/>
              <a:t> Large-scale data, simple queries</a:t>
            </a:r>
          </a:p>
          <a:p>
            <a:pPr lvl="1"/>
            <a:r>
              <a:rPr lang="en-US" b="1" dirty="0">
                <a:solidFill>
                  <a:srgbClr val="0000FF"/>
                </a:solidFill>
              </a:rPr>
              <a:t>Machine learning:</a:t>
            </a:r>
            <a:r>
              <a:rPr lang="en-US" dirty="0">
                <a:solidFill>
                  <a:srgbClr val="0000FF"/>
                </a:solidFill>
              </a:rPr>
              <a:t> </a:t>
            </a:r>
            <a:r>
              <a:rPr lang="en-US" dirty="0"/>
              <a:t>Small data, Complex models</a:t>
            </a:r>
          </a:p>
          <a:p>
            <a:pPr lvl="1"/>
            <a:r>
              <a:rPr lang="en-US" b="1" dirty="0">
                <a:solidFill>
                  <a:srgbClr val="0000FF"/>
                </a:solidFill>
              </a:rPr>
              <a:t>CS Theory:</a:t>
            </a:r>
            <a:r>
              <a:rPr lang="en-US" dirty="0">
                <a:solidFill>
                  <a:srgbClr val="0000FF"/>
                </a:solidFill>
              </a:rPr>
              <a:t> </a:t>
            </a:r>
            <a:r>
              <a:rPr lang="en-US" dirty="0"/>
              <a:t>(Randomized) Algorithms </a:t>
            </a:r>
          </a:p>
          <a:p>
            <a:r>
              <a:rPr lang="en-US" b="1" dirty="0"/>
              <a:t>Different cultures:</a:t>
            </a:r>
          </a:p>
          <a:p>
            <a:pPr lvl="1"/>
            <a:r>
              <a:rPr lang="en-US" dirty="0"/>
              <a:t>To a DB person, data mining is an extreme form of </a:t>
            </a:r>
            <a:r>
              <a:rPr lang="en-US" b="1" dirty="0">
                <a:solidFill>
                  <a:srgbClr val="FF0066"/>
                </a:solidFill>
              </a:rPr>
              <a:t>analytic processing</a:t>
            </a:r>
            <a:r>
              <a:rPr lang="en-US" dirty="0"/>
              <a:t> – queries that </a:t>
            </a:r>
            <a:br>
              <a:rPr lang="en-US" dirty="0"/>
            </a:br>
            <a:r>
              <a:rPr lang="en-US" dirty="0"/>
              <a:t>examine large amounts of data</a:t>
            </a:r>
          </a:p>
          <a:p>
            <a:pPr lvl="2"/>
            <a:r>
              <a:rPr lang="en-US" dirty="0"/>
              <a:t>Result is the query answer</a:t>
            </a:r>
          </a:p>
          <a:p>
            <a:pPr lvl="1"/>
            <a:r>
              <a:rPr lang="en-US" dirty="0"/>
              <a:t>To a ML person, data-mining </a:t>
            </a:r>
            <a:br>
              <a:rPr lang="en-US" dirty="0"/>
            </a:br>
            <a:r>
              <a:rPr lang="en-US" dirty="0"/>
              <a:t>is the </a:t>
            </a:r>
            <a:r>
              <a:rPr lang="en-US" b="1" dirty="0">
                <a:solidFill>
                  <a:srgbClr val="FF0066"/>
                </a:solidFill>
              </a:rPr>
              <a:t>inference of models</a:t>
            </a:r>
          </a:p>
          <a:p>
            <a:pPr lvl="2"/>
            <a:r>
              <a:rPr lang="en-US" dirty="0"/>
              <a:t>Result is the parameters of the model</a:t>
            </a:r>
          </a:p>
        </p:txBody>
      </p:sp>
      <p:sp>
        <p:nvSpPr>
          <p:cNvPr id="658435" name="Oval 3"/>
          <p:cNvSpPr>
            <a:spLocks noChangeArrowheads="1"/>
          </p:cNvSpPr>
          <p:nvPr/>
        </p:nvSpPr>
        <p:spPr bwMode="auto">
          <a:xfrm>
            <a:off x="6858000" y="5130800"/>
            <a:ext cx="1676400" cy="1574800"/>
          </a:xfrm>
          <a:prstGeom prst="ellipse">
            <a:avLst/>
          </a:prstGeom>
          <a:solidFill>
            <a:schemeClr val="accent2"/>
          </a:solidFill>
          <a:ln w="12700">
            <a:solidFill>
              <a:schemeClr val="tx1"/>
            </a:solidFill>
            <a:round/>
            <a:headEnd type="none" w="sm" len="sm"/>
            <a:tailEnd type="none" w="sm" len="sm"/>
          </a:ln>
          <a:effectLst/>
        </p:spPr>
        <p:txBody>
          <a:bodyPr wrap="none" anchor="ctr"/>
          <a:lstStyle/>
          <a:p>
            <a:endParaRPr lang="en-US"/>
          </a:p>
        </p:txBody>
      </p:sp>
      <p:sp>
        <p:nvSpPr>
          <p:cNvPr id="658436" name="Oval 4"/>
          <p:cNvSpPr>
            <a:spLocks noChangeArrowheads="1"/>
          </p:cNvSpPr>
          <p:nvPr/>
        </p:nvSpPr>
        <p:spPr bwMode="auto">
          <a:xfrm>
            <a:off x="6248400" y="3987799"/>
            <a:ext cx="1600200" cy="1519027"/>
          </a:xfrm>
          <a:prstGeom prst="ellipse">
            <a:avLst/>
          </a:prstGeom>
          <a:solidFill>
            <a:srgbClr val="CC3300"/>
          </a:solidFill>
          <a:ln w="12700">
            <a:solidFill>
              <a:schemeClr val="tx1"/>
            </a:solidFill>
            <a:round/>
            <a:headEnd type="none" w="sm" len="sm"/>
            <a:tailEnd type="none" w="sm" len="sm"/>
          </a:ln>
          <a:effectLst/>
        </p:spPr>
        <p:txBody>
          <a:bodyPr wrap="none" anchor="ctr"/>
          <a:lstStyle/>
          <a:p>
            <a:endParaRPr lang="en-US"/>
          </a:p>
        </p:txBody>
      </p:sp>
      <p:sp>
        <p:nvSpPr>
          <p:cNvPr id="658441" name="Oval 9"/>
          <p:cNvSpPr>
            <a:spLocks noChangeArrowheads="1"/>
          </p:cNvSpPr>
          <p:nvPr/>
        </p:nvSpPr>
        <p:spPr bwMode="auto">
          <a:xfrm>
            <a:off x="7620000" y="3906627"/>
            <a:ext cx="1600200" cy="1574800"/>
          </a:xfrm>
          <a:prstGeom prst="ellipse">
            <a:avLst/>
          </a:prstGeom>
          <a:solidFill>
            <a:schemeClr val="accent1"/>
          </a:solidFill>
          <a:ln w="12700">
            <a:solidFill>
              <a:schemeClr val="tx1"/>
            </a:solidFill>
            <a:round/>
            <a:headEnd type="none" w="sm" len="sm"/>
            <a:tailEnd type="none" w="sm" len="sm"/>
          </a:ln>
          <a:effectLst/>
        </p:spPr>
        <p:txBody>
          <a:bodyPr wrap="none" anchor="ctr"/>
          <a:lstStyle/>
          <a:p>
            <a:endParaRPr lang="en-US"/>
          </a:p>
        </p:txBody>
      </p:sp>
      <p:sp>
        <p:nvSpPr>
          <p:cNvPr id="658442" name="Text Box 10"/>
          <p:cNvSpPr txBox="1">
            <a:spLocks noChangeArrowheads="1"/>
          </p:cNvSpPr>
          <p:nvPr/>
        </p:nvSpPr>
        <p:spPr bwMode="auto">
          <a:xfrm>
            <a:off x="7817757" y="4219214"/>
            <a:ext cx="1511300" cy="646331"/>
          </a:xfrm>
          <a:prstGeom prst="rect">
            <a:avLst/>
          </a:prstGeom>
          <a:noFill/>
          <a:ln w="12700">
            <a:noFill/>
            <a:miter lim="800000"/>
            <a:headEnd type="none" w="sm" len="sm"/>
            <a:tailEnd type="none" w="sm" len="sm"/>
          </a:ln>
          <a:effectLst/>
        </p:spPr>
        <p:txBody>
          <a:bodyPr wrap="square" lIns="0" rIns="0">
            <a:spAutoFit/>
          </a:bodyPr>
          <a:lstStyle/>
          <a:p>
            <a:pPr algn="ctr">
              <a:spcBef>
                <a:spcPct val="50000"/>
              </a:spcBef>
            </a:pPr>
            <a:r>
              <a:rPr lang="en-US" sz="1800" b="0" dirty="0"/>
              <a:t>Machine </a:t>
            </a:r>
            <a:br>
              <a:rPr lang="en-US" sz="1800" b="0" dirty="0"/>
            </a:br>
            <a:r>
              <a:rPr lang="en-US" sz="1800" b="0" dirty="0"/>
              <a:t>Learning</a:t>
            </a:r>
          </a:p>
        </p:txBody>
      </p:sp>
      <p:sp>
        <p:nvSpPr>
          <p:cNvPr id="658443" name="Text Box 11"/>
          <p:cNvSpPr txBox="1">
            <a:spLocks noChangeArrowheads="1"/>
          </p:cNvSpPr>
          <p:nvPr/>
        </p:nvSpPr>
        <p:spPr bwMode="auto">
          <a:xfrm>
            <a:off x="6248400" y="4255869"/>
            <a:ext cx="1371600" cy="646331"/>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CS</a:t>
            </a:r>
            <a:br>
              <a:rPr lang="en-US" sz="1800" b="0" dirty="0"/>
            </a:br>
            <a:r>
              <a:rPr lang="en-US" sz="1800" b="0" dirty="0"/>
              <a:t>Theory</a:t>
            </a:r>
          </a:p>
        </p:txBody>
      </p:sp>
      <p:sp>
        <p:nvSpPr>
          <p:cNvPr id="658444" name="Oval 12"/>
          <p:cNvSpPr>
            <a:spLocks noChangeArrowheads="1"/>
          </p:cNvSpPr>
          <p:nvPr/>
        </p:nvSpPr>
        <p:spPr bwMode="auto">
          <a:xfrm>
            <a:off x="7086600" y="4773744"/>
            <a:ext cx="1225550" cy="1119056"/>
          </a:xfrm>
          <a:prstGeom prst="ellipse">
            <a:avLst/>
          </a:prstGeom>
          <a:solidFill>
            <a:srgbClr val="66CCFF"/>
          </a:solidFill>
          <a:ln w="12700">
            <a:solidFill>
              <a:schemeClr val="tx1"/>
            </a:solidFill>
            <a:round/>
            <a:headEnd type="none" w="sm" len="sm"/>
            <a:tailEnd type="none" w="sm" len="sm"/>
          </a:ln>
          <a:effectLst/>
        </p:spPr>
        <p:txBody>
          <a:bodyPr wrap="none" anchor="ctr"/>
          <a:lstStyle/>
          <a:p>
            <a:pPr algn="ctr"/>
            <a:r>
              <a:rPr lang="en-US" sz="1800" dirty="0"/>
              <a:t>Data </a:t>
            </a:r>
            <a:br>
              <a:rPr lang="en-US" sz="1800" dirty="0"/>
            </a:br>
            <a:r>
              <a:rPr lang="en-US" sz="1800" dirty="0"/>
              <a:t>Mining</a:t>
            </a:r>
          </a:p>
        </p:txBody>
      </p:sp>
      <p:sp>
        <p:nvSpPr>
          <p:cNvPr id="658445" name="Text Box 13"/>
          <p:cNvSpPr txBox="1">
            <a:spLocks noChangeArrowheads="1"/>
          </p:cNvSpPr>
          <p:nvPr/>
        </p:nvSpPr>
        <p:spPr bwMode="auto">
          <a:xfrm>
            <a:off x="6972300" y="5937250"/>
            <a:ext cx="1447800" cy="641350"/>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Database systems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2053138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7" name="Rectangle 5"/>
          <p:cNvSpPr>
            <a:spLocks noGrp="1" noChangeArrowheads="1"/>
          </p:cNvSpPr>
          <p:nvPr>
            <p:ph type="title"/>
          </p:nvPr>
        </p:nvSpPr>
        <p:spPr/>
        <p:txBody>
          <a:bodyPr lIns="0" rIns="0">
            <a:normAutofit/>
          </a:bodyPr>
          <a:lstStyle/>
          <a:p>
            <a:r>
              <a:rPr lang="en-US" dirty="0"/>
              <a:t>Data Mining</a:t>
            </a:r>
          </a:p>
        </p:txBody>
      </p:sp>
      <p:sp>
        <p:nvSpPr>
          <p:cNvPr id="658434" name="Rectangle 2"/>
          <p:cNvSpPr>
            <a:spLocks noGrp="1" noChangeArrowheads="1"/>
          </p:cNvSpPr>
          <p:nvPr>
            <p:ph idx="1"/>
          </p:nvPr>
        </p:nvSpPr>
        <p:spPr/>
        <p:txBody>
          <a:bodyPr>
            <a:normAutofit/>
          </a:bodyPr>
          <a:lstStyle/>
          <a:p>
            <a:r>
              <a:rPr lang="en-US" b="1" dirty="0"/>
              <a:t>Data Mining overlaps with machine learning, statistics, artificial intelligence, databases but more stress on</a:t>
            </a:r>
          </a:p>
          <a:p>
            <a:pPr lvl="1"/>
            <a:r>
              <a:rPr lang="en-US" b="1" dirty="0">
                <a:solidFill>
                  <a:srgbClr val="0000FF"/>
                </a:solidFill>
              </a:rPr>
              <a:t>Scalability</a:t>
            </a:r>
            <a:r>
              <a:rPr lang="en-US" dirty="0">
                <a:solidFill>
                  <a:srgbClr val="0000FF"/>
                </a:solidFill>
              </a:rPr>
              <a:t> </a:t>
            </a:r>
            <a:r>
              <a:rPr lang="en-US" dirty="0"/>
              <a:t>(big data)</a:t>
            </a:r>
          </a:p>
          <a:p>
            <a:pPr lvl="1"/>
            <a:r>
              <a:rPr lang="en-US" b="1" dirty="0">
                <a:solidFill>
                  <a:srgbClr val="0000FF"/>
                </a:solidFill>
              </a:rPr>
              <a:t>Algorithms</a:t>
            </a:r>
          </a:p>
          <a:p>
            <a:pPr lvl="1"/>
            <a:r>
              <a:rPr lang="en-US" b="1" dirty="0">
                <a:solidFill>
                  <a:srgbClr val="0000FF"/>
                </a:solidFill>
              </a:rPr>
              <a:t>Computing architectures</a:t>
            </a:r>
          </a:p>
          <a:p>
            <a:pPr lvl="1"/>
            <a:r>
              <a:rPr lang="en-US" dirty="0"/>
              <a:t>Automation for handling </a:t>
            </a:r>
            <a:br>
              <a:rPr lang="en-US" dirty="0"/>
            </a:br>
            <a:r>
              <a:rPr lang="en-US" b="1" dirty="0">
                <a:solidFill>
                  <a:srgbClr val="0000FF"/>
                </a:solidFill>
              </a:rPr>
              <a:t>large data</a:t>
            </a:r>
          </a:p>
          <a:p>
            <a:endParaRPr lang="en-US" dirty="0"/>
          </a:p>
        </p:txBody>
      </p:sp>
      <p:sp>
        <p:nvSpPr>
          <p:cNvPr id="12" name="Slide Number Placeholder 11"/>
          <p:cNvSpPr>
            <a:spLocks noGrp="1"/>
          </p:cNvSpPr>
          <p:nvPr>
            <p:ph type="sldNum" sz="quarter" idx="12"/>
          </p:nvPr>
        </p:nvSpPr>
        <p:spPr/>
        <p:txBody>
          <a:bodyPr/>
          <a:lstStyle/>
          <a:p>
            <a:fld id="{19B12225-5612-419B-A8D5-4B8EEE4C217E}" type="slidenum">
              <a:rPr lang="en-US" smtClean="0"/>
              <a:pPr/>
              <a:t>14</a:t>
            </a:fld>
            <a:endParaRPr lang="en-US"/>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
        <p:nvSpPr>
          <p:cNvPr id="14" name="Oval 3"/>
          <p:cNvSpPr>
            <a:spLocks noChangeArrowheads="1"/>
          </p:cNvSpPr>
          <p:nvPr/>
        </p:nvSpPr>
        <p:spPr bwMode="auto">
          <a:xfrm>
            <a:off x="6019800" y="4445000"/>
            <a:ext cx="2057400" cy="2108200"/>
          </a:xfrm>
          <a:prstGeom prst="ellipse">
            <a:avLst/>
          </a:prstGeom>
          <a:solidFill>
            <a:schemeClr val="accent2"/>
          </a:solidFill>
          <a:ln w="12700">
            <a:solidFill>
              <a:schemeClr val="tx1"/>
            </a:solidFill>
            <a:round/>
            <a:headEnd type="none" w="sm" len="sm"/>
            <a:tailEnd type="none" w="sm" len="sm"/>
          </a:ln>
          <a:effectLst/>
        </p:spPr>
        <p:txBody>
          <a:bodyPr wrap="none" anchor="ctr"/>
          <a:lstStyle/>
          <a:p>
            <a:endParaRPr lang="en-US"/>
          </a:p>
        </p:txBody>
      </p:sp>
      <p:sp>
        <p:nvSpPr>
          <p:cNvPr id="15" name="Oval 4"/>
          <p:cNvSpPr>
            <a:spLocks noChangeArrowheads="1"/>
          </p:cNvSpPr>
          <p:nvPr/>
        </p:nvSpPr>
        <p:spPr bwMode="auto">
          <a:xfrm>
            <a:off x="5334000" y="2768600"/>
            <a:ext cx="2057400" cy="2108200"/>
          </a:xfrm>
          <a:prstGeom prst="ellipse">
            <a:avLst/>
          </a:prstGeom>
          <a:solidFill>
            <a:srgbClr val="CC3300"/>
          </a:solidFill>
          <a:ln w="12700">
            <a:solidFill>
              <a:schemeClr val="tx1"/>
            </a:solidFill>
            <a:round/>
            <a:headEnd type="none" w="sm" len="sm"/>
            <a:tailEnd type="none" w="sm" len="sm"/>
          </a:ln>
          <a:effectLst/>
        </p:spPr>
        <p:txBody>
          <a:bodyPr wrap="none" anchor="ctr"/>
          <a:lstStyle/>
          <a:p>
            <a:endParaRPr lang="en-US"/>
          </a:p>
        </p:txBody>
      </p:sp>
      <p:sp>
        <p:nvSpPr>
          <p:cNvPr id="16" name="Oval 9"/>
          <p:cNvSpPr>
            <a:spLocks noChangeArrowheads="1"/>
          </p:cNvSpPr>
          <p:nvPr/>
        </p:nvSpPr>
        <p:spPr bwMode="auto">
          <a:xfrm>
            <a:off x="7010400" y="2844800"/>
            <a:ext cx="2057400" cy="2108200"/>
          </a:xfrm>
          <a:prstGeom prst="ellipse">
            <a:avLst/>
          </a:prstGeom>
          <a:solidFill>
            <a:schemeClr val="accent1"/>
          </a:solidFill>
          <a:ln w="12700">
            <a:solidFill>
              <a:schemeClr val="tx1"/>
            </a:solidFill>
            <a:round/>
            <a:headEnd type="none" w="sm" len="sm"/>
            <a:tailEnd type="none" w="sm" len="sm"/>
          </a:ln>
          <a:effectLst/>
        </p:spPr>
        <p:txBody>
          <a:bodyPr wrap="none" anchor="ctr"/>
          <a:lstStyle/>
          <a:p>
            <a:endParaRPr lang="en-US"/>
          </a:p>
        </p:txBody>
      </p:sp>
      <p:sp>
        <p:nvSpPr>
          <p:cNvPr id="17" name="Text Box 10"/>
          <p:cNvSpPr txBox="1">
            <a:spLocks noChangeArrowheads="1"/>
          </p:cNvSpPr>
          <p:nvPr/>
        </p:nvSpPr>
        <p:spPr bwMode="auto">
          <a:xfrm>
            <a:off x="7039441" y="3406170"/>
            <a:ext cx="2057400" cy="784830"/>
          </a:xfrm>
          <a:prstGeom prst="rect">
            <a:avLst/>
          </a:prstGeom>
          <a:noFill/>
          <a:ln w="12700">
            <a:noFill/>
            <a:miter lim="800000"/>
            <a:headEnd type="none" w="sm" len="sm"/>
            <a:tailEnd type="none" w="sm" len="sm"/>
          </a:ln>
          <a:effectLst/>
        </p:spPr>
        <p:txBody>
          <a:bodyPr wrap="square" lIns="0" rIns="0">
            <a:spAutoFit/>
          </a:bodyPr>
          <a:lstStyle/>
          <a:p>
            <a:pPr algn="ctr">
              <a:spcBef>
                <a:spcPct val="50000"/>
              </a:spcBef>
            </a:pPr>
            <a:r>
              <a:rPr lang="en-US" sz="1800" b="0" dirty="0"/>
              <a:t>Machine</a:t>
            </a:r>
          </a:p>
          <a:p>
            <a:pPr algn="ctr">
              <a:spcBef>
                <a:spcPct val="50000"/>
              </a:spcBef>
            </a:pPr>
            <a:r>
              <a:rPr lang="en-US" sz="1800" b="0" dirty="0"/>
              <a:t>Learning</a:t>
            </a:r>
          </a:p>
        </p:txBody>
      </p:sp>
      <p:sp>
        <p:nvSpPr>
          <p:cNvPr id="18" name="Text Box 11"/>
          <p:cNvSpPr txBox="1">
            <a:spLocks noChangeArrowheads="1"/>
          </p:cNvSpPr>
          <p:nvPr/>
        </p:nvSpPr>
        <p:spPr bwMode="auto">
          <a:xfrm>
            <a:off x="5562600" y="3362325"/>
            <a:ext cx="1371600" cy="369332"/>
          </a:xfrm>
          <a:prstGeom prst="rect">
            <a:avLst/>
          </a:prstGeom>
          <a:noFill/>
          <a:ln w="12700">
            <a:noFill/>
            <a:miter lim="800000"/>
            <a:headEnd type="none" w="sm" len="sm"/>
            <a:tailEnd type="none" w="sm" len="sm"/>
          </a:ln>
          <a:effectLst/>
        </p:spPr>
        <p:txBody>
          <a:bodyPr>
            <a:spAutoFit/>
          </a:bodyPr>
          <a:lstStyle/>
          <a:p>
            <a:pPr algn="ctr">
              <a:spcBef>
                <a:spcPct val="50000"/>
              </a:spcBef>
            </a:pPr>
            <a:r>
              <a:rPr lang="en-US" sz="1800" b="0" dirty="0"/>
              <a:t>Statistics</a:t>
            </a:r>
          </a:p>
        </p:txBody>
      </p:sp>
      <p:sp>
        <p:nvSpPr>
          <p:cNvPr id="19" name="Oval 12"/>
          <p:cNvSpPr>
            <a:spLocks noChangeArrowheads="1"/>
          </p:cNvSpPr>
          <p:nvPr/>
        </p:nvSpPr>
        <p:spPr bwMode="auto">
          <a:xfrm>
            <a:off x="6307667" y="4055532"/>
            <a:ext cx="1504950" cy="1543050"/>
          </a:xfrm>
          <a:prstGeom prst="ellipse">
            <a:avLst/>
          </a:prstGeom>
          <a:solidFill>
            <a:srgbClr val="66CCFF"/>
          </a:solidFill>
          <a:ln w="12700">
            <a:solidFill>
              <a:schemeClr val="tx1"/>
            </a:solidFill>
            <a:round/>
            <a:headEnd type="none" w="sm" len="sm"/>
            <a:tailEnd type="none" w="sm" len="sm"/>
          </a:ln>
          <a:effectLst/>
        </p:spPr>
        <p:txBody>
          <a:bodyPr wrap="none" anchor="ctr"/>
          <a:lstStyle/>
          <a:p>
            <a:pPr algn="ctr"/>
            <a:r>
              <a:rPr lang="en-US" sz="1800"/>
              <a:t>Data Mining</a:t>
            </a:r>
          </a:p>
        </p:txBody>
      </p:sp>
      <p:sp>
        <p:nvSpPr>
          <p:cNvPr id="20" name="Text Box 13"/>
          <p:cNvSpPr txBox="1">
            <a:spLocks noChangeArrowheads="1"/>
          </p:cNvSpPr>
          <p:nvPr/>
        </p:nvSpPr>
        <p:spPr bwMode="auto">
          <a:xfrm>
            <a:off x="6477000" y="5588000"/>
            <a:ext cx="1447800" cy="641350"/>
          </a:xfrm>
          <a:prstGeom prst="rect">
            <a:avLst/>
          </a:prstGeom>
          <a:noFill/>
          <a:ln w="12700">
            <a:noFill/>
            <a:miter lim="800000"/>
            <a:headEnd type="none" w="sm" len="sm"/>
            <a:tailEnd type="none" w="sm" len="sm"/>
          </a:ln>
          <a:effectLst/>
        </p:spPr>
        <p:txBody>
          <a:bodyPr>
            <a:spAutoFit/>
          </a:bodyPr>
          <a:lstStyle/>
          <a:p>
            <a:pPr>
              <a:spcBef>
                <a:spcPct val="50000"/>
              </a:spcBef>
            </a:pPr>
            <a:r>
              <a:rPr lang="en-US" sz="1800" b="0"/>
              <a:t>Database systems</a:t>
            </a:r>
          </a:p>
        </p:txBody>
      </p:sp>
    </p:spTree>
    <p:extLst>
      <p:ext uri="{BB962C8B-B14F-4D97-AF65-F5344CB8AC3E}">
        <p14:creationId xmlns:p14="http://schemas.microsoft.com/office/powerpoint/2010/main" val="3473066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What will we learn?</a:t>
            </a:r>
          </a:p>
        </p:txBody>
      </p:sp>
      <p:sp>
        <p:nvSpPr>
          <p:cNvPr id="9" name="Content Placeholder 8"/>
          <p:cNvSpPr>
            <a:spLocks noGrp="1"/>
          </p:cNvSpPr>
          <p:nvPr>
            <p:ph idx="1"/>
          </p:nvPr>
        </p:nvSpPr>
        <p:spPr>
          <a:xfrm>
            <a:off x="457200" y="1295400"/>
            <a:ext cx="8229600" cy="5410200"/>
          </a:xfrm>
        </p:spPr>
        <p:txBody>
          <a:bodyPr>
            <a:normAutofit/>
          </a:bodyPr>
          <a:lstStyle/>
          <a:p>
            <a:r>
              <a:rPr lang="en-US" b="1" dirty="0"/>
              <a:t>We will learn to </a:t>
            </a:r>
            <a:r>
              <a:rPr lang="en-US" b="1" dirty="0">
                <a:solidFill>
                  <a:srgbClr val="0000FF"/>
                </a:solidFill>
              </a:rPr>
              <a:t>mine different types of data:</a:t>
            </a:r>
          </a:p>
          <a:p>
            <a:pPr lvl="1"/>
            <a:r>
              <a:rPr lang="en-US" dirty="0"/>
              <a:t>Data is high dimensional</a:t>
            </a:r>
          </a:p>
          <a:p>
            <a:pPr lvl="1"/>
            <a:r>
              <a:rPr lang="en-US" dirty="0"/>
              <a:t>Data is a graph</a:t>
            </a:r>
          </a:p>
          <a:p>
            <a:pPr lvl="1"/>
            <a:r>
              <a:rPr lang="en-US" dirty="0"/>
              <a:t>Data is infinite/never-ending</a:t>
            </a:r>
          </a:p>
          <a:p>
            <a:pPr lvl="1"/>
            <a:r>
              <a:rPr lang="en-US" dirty="0"/>
              <a:t>Data is labeled</a:t>
            </a:r>
          </a:p>
          <a:p>
            <a:r>
              <a:rPr lang="en-US" b="1" dirty="0"/>
              <a:t>We will learn to </a:t>
            </a:r>
            <a:r>
              <a:rPr lang="en-US" b="1" dirty="0">
                <a:solidFill>
                  <a:srgbClr val="0000FF"/>
                </a:solidFill>
              </a:rPr>
              <a:t>use different models of computation:</a:t>
            </a:r>
          </a:p>
          <a:p>
            <a:pPr lvl="1"/>
            <a:r>
              <a:rPr lang="en-US" dirty="0" err="1"/>
              <a:t>MapReduce</a:t>
            </a:r>
            <a:endParaRPr lang="en-US" dirty="0"/>
          </a:p>
          <a:p>
            <a:pPr lvl="1"/>
            <a:r>
              <a:rPr lang="en-US" dirty="0"/>
              <a:t>Streams and online algorithms</a:t>
            </a:r>
          </a:p>
          <a:p>
            <a:pPr lvl="1"/>
            <a:r>
              <a:rPr lang="en-US" dirty="0"/>
              <a:t>Single machine in-memory</a:t>
            </a:r>
          </a:p>
          <a:p>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1308579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What will we learn?</a:t>
            </a:r>
          </a:p>
        </p:txBody>
      </p:sp>
      <p:sp>
        <p:nvSpPr>
          <p:cNvPr id="9" name="Content Placeholder 8"/>
          <p:cNvSpPr>
            <a:spLocks noGrp="1"/>
          </p:cNvSpPr>
          <p:nvPr>
            <p:ph idx="1"/>
          </p:nvPr>
        </p:nvSpPr>
        <p:spPr/>
        <p:txBody>
          <a:bodyPr>
            <a:normAutofit/>
          </a:bodyPr>
          <a:lstStyle/>
          <a:p>
            <a:r>
              <a:rPr lang="en-US" b="1" dirty="0"/>
              <a:t>We will learn to </a:t>
            </a:r>
            <a:r>
              <a:rPr lang="en-US" b="1" dirty="0">
                <a:solidFill>
                  <a:srgbClr val="0000FF"/>
                </a:solidFill>
              </a:rPr>
              <a:t>solve real-world problems:</a:t>
            </a:r>
          </a:p>
          <a:p>
            <a:pPr lvl="1"/>
            <a:r>
              <a:rPr lang="en-US" dirty="0"/>
              <a:t>Recommender systems</a:t>
            </a:r>
          </a:p>
          <a:p>
            <a:pPr lvl="1"/>
            <a:r>
              <a:rPr lang="en-US" dirty="0"/>
              <a:t>Market Basket Analysis</a:t>
            </a:r>
          </a:p>
          <a:p>
            <a:pPr lvl="1"/>
            <a:r>
              <a:rPr lang="en-US" dirty="0"/>
              <a:t>Spam detection</a:t>
            </a:r>
          </a:p>
          <a:p>
            <a:pPr lvl="1"/>
            <a:r>
              <a:rPr lang="en-US" dirty="0"/>
              <a:t>Duplicate document detection</a:t>
            </a:r>
          </a:p>
          <a:p>
            <a:r>
              <a:rPr lang="en-US" b="1" dirty="0"/>
              <a:t>We will learn </a:t>
            </a:r>
            <a:r>
              <a:rPr lang="en-US" b="1" dirty="0">
                <a:solidFill>
                  <a:srgbClr val="0000FF"/>
                </a:solidFill>
              </a:rPr>
              <a:t>various “tools”:</a:t>
            </a:r>
          </a:p>
          <a:p>
            <a:pPr lvl="1"/>
            <a:r>
              <a:rPr lang="en-US" dirty="0"/>
              <a:t>Linear algebra (SVD, Rec. Sys., Communities)</a:t>
            </a:r>
          </a:p>
          <a:p>
            <a:pPr lvl="1"/>
            <a:r>
              <a:rPr lang="en-US" dirty="0"/>
              <a:t>Optimization (stochastic gradient descent)</a:t>
            </a:r>
          </a:p>
          <a:p>
            <a:pPr lvl="1"/>
            <a:r>
              <a:rPr lang="en-US" dirty="0"/>
              <a:t>Dynamic programming (frequent </a:t>
            </a:r>
            <a:r>
              <a:rPr lang="en-US" dirty="0" err="1"/>
              <a:t>itemsets</a:t>
            </a:r>
            <a:r>
              <a:rPr lang="en-US" dirty="0"/>
              <a:t>)</a:t>
            </a:r>
          </a:p>
          <a:p>
            <a:pPr lvl="1"/>
            <a:r>
              <a:rPr lang="en-US" dirty="0"/>
              <a:t>Hashing (LSH, Bloom filters)</a:t>
            </a:r>
          </a:p>
          <a:p>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2577141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How It All Fits Together</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650355919"/>
              </p:ext>
            </p:extLst>
          </p:nvPr>
        </p:nvGraphicFramePr>
        <p:xfrm>
          <a:off x="228600" y="1295400"/>
          <a:ext cx="86868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spTree>
    <p:extLst>
      <p:ext uri="{BB962C8B-B14F-4D97-AF65-F5344CB8AC3E}">
        <p14:creationId xmlns:p14="http://schemas.microsoft.com/office/powerpoint/2010/main" val="3034598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5936902-0780-4D86-B8AB-2F9B66565B2A}"/>
              </a:ext>
            </a:extLst>
          </p:cNvPr>
          <p:cNvSpPr>
            <a:spLocks noGrp="1" noChangeArrowheads="1"/>
          </p:cNvSpPr>
          <p:nvPr>
            <p:ph type="title"/>
          </p:nvPr>
        </p:nvSpPr>
        <p:spPr/>
        <p:txBody>
          <a:bodyPr/>
          <a:lstStyle/>
          <a:p>
            <a:r>
              <a:rPr lang="en-US" altLang="hi-IN" b="1">
                <a:solidFill>
                  <a:schemeClr val="accent2"/>
                </a:solidFill>
              </a:rPr>
              <a:t>Types of Learning</a:t>
            </a:r>
          </a:p>
        </p:txBody>
      </p:sp>
      <p:sp>
        <p:nvSpPr>
          <p:cNvPr id="21507" name="Rectangle 3">
            <a:extLst>
              <a:ext uri="{FF2B5EF4-FFF2-40B4-BE49-F238E27FC236}">
                <a16:creationId xmlns:a16="http://schemas.microsoft.com/office/drawing/2014/main" id="{F6E3F269-FF10-4F18-9A0F-44FB31A0208F}"/>
              </a:ext>
            </a:extLst>
          </p:cNvPr>
          <p:cNvSpPr>
            <a:spLocks noGrp="1" noChangeArrowheads="1"/>
          </p:cNvSpPr>
          <p:nvPr>
            <p:ph type="body" idx="1"/>
          </p:nvPr>
        </p:nvSpPr>
        <p:spPr>
          <a:xfrm>
            <a:off x="838200" y="1447800"/>
            <a:ext cx="7620000" cy="4495800"/>
          </a:xfrm>
        </p:spPr>
        <p:txBody>
          <a:bodyPr>
            <a:normAutofit/>
          </a:bodyPr>
          <a:lstStyle/>
          <a:p>
            <a:r>
              <a:rPr lang="en-US" altLang="hi-IN" b="1" dirty="0"/>
              <a:t>Supervised (inductive) learning</a:t>
            </a:r>
          </a:p>
          <a:p>
            <a:pPr lvl="1"/>
            <a:r>
              <a:rPr lang="en-US" altLang="hi-IN" dirty="0"/>
              <a:t>Training data includes desired outputs</a:t>
            </a:r>
          </a:p>
          <a:p>
            <a:r>
              <a:rPr lang="en-US" altLang="hi-IN" b="1" dirty="0"/>
              <a:t>Unsupervised learning</a:t>
            </a:r>
          </a:p>
          <a:p>
            <a:pPr lvl="1"/>
            <a:r>
              <a:rPr lang="en-US" altLang="hi-IN" dirty="0"/>
              <a:t>Training data does not include desired outputs</a:t>
            </a:r>
          </a:p>
          <a:p>
            <a:r>
              <a:rPr lang="en-US" altLang="hi-IN" b="1" dirty="0"/>
              <a:t>Semi-supervised learning</a:t>
            </a:r>
          </a:p>
          <a:p>
            <a:pPr lvl="1"/>
            <a:r>
              <a:rPr lang="en-US" altLang="hi-IN" dirty="0"/>
              <a:t>Training data includes a few desired outputs</a:t>
            </a:r>
          </a:p>
          <a:p>
            <a:r>
              <a:rPr lang="en-US" altLang="hi-IN" b="1" dirty="0"/>
              <a:t>Reinforcement learning</a:t>
            </a:r>
          </a:p>
          <a:p>
            <a:pPr lvl="1"/>
            <a:r>
              <a:rPr lang="en-US" altLang="hi-IN" dirty="0"/>
              <a:t>Rewards from sequence of actions</a:t>
            </a:r>
          </a:p>
        </p:txBody>
      </p:sp>
      <p:sp>
        <p:nvSpPr>
          <p:cNvPr id="2" name="Slide Number Placeholder 1">
            <a:extLst>
              <a:ext uri="{FF2B5EF4-FFF2-40B4-BE49-F238E27FC236}">
                <a16:creationId xmlns:a16="http://schemas.microsoft.com/office/drawing/2014/main" id="{38F4582E-A701-4B13-B490-E1662B706FB1}"/>
              </a:ext>
            </a:extLst>
          </p:cNvPr>
          <p:cNvSpPr>
            <a:spLocks noGrp="1"/>
          </p:cNvSpPr>
          <p:nvPr>
            <p:ph type="sldNum" sz="quarter" idx="12"/>
          </p:nvPr>
        </p:nvSpPr>
        <p:spPr/>
        <p:txBody>
          <a:bodyPr/>
          <a:lstStyle/>
          <a:p>
            <a:fld id="{652A9C23-950F-4010-829B-E9AAD80F8BCB}" type="slidenum">
              <a:rPr lang="hi-IN" smtClean="0"/>
              <a:t>18</a:t>
            </a:fld>
            <a:endParaRPr lang="hi-IN"/>
          </a:p>
        </p:txBody>
      </p:sp>
    </p:spTree>
    <p:extLst>
      <p:ext uri="{BB962C8B-B14F-4D97-AF65-F5344CB8AC3E}">
        <p14:creationId xmlns:p14="http://schemas.microsoft.com/office/powerpoint/2010/main" val="1050176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Learning Algorithms</a:t>
            </a:r>
            <a:endParaRPr lang="zh-TW" altLang="en-US" b="1" dirty="0"/>
          </a:p>
        </p:txBody>
      </p:sp>
      <p:sp>
        <p:nvSpPr>
          <p:cNvPr id="3" name="內容版面配置區 2"/>
          <p:cNvSpPr>
            <a:spLocks noGrp="1"/>
          </p:cNvSpPr>
          <p:nvPr>
            <p:ph idx="1"/>
          </p:nvPr>
        </p:nvSpPr>
        <p:spPr/>
        <p:txBody>
          <a:bodyPr>
            <a:noAutofit/>
          </a:bodyPr>
          <a:lstStyle/>
          <a:p>
            <a:r>
              <a:rPr lang="en-US" altLang="zh-TW" sz="2800" b="1" dirty="0"/>
              <a:t>Supervised learning</a:t>
            </a:r>
            <a:endParaRPr lang="en-US" altLang="zh-TW" sz="2800" dirty="0"/>
          </a:p>
          <a:p>
            <a:pPr lvl="1"/>
            <a:r>
              <a:rPr lang="en-US" altLang="zh-TW" sz="2000" dirty="0"/>
              <a:t>Prediction</a:t>
            </a:r>
          </a:p>
          <a:p>
            <a:pPr lvl="1"/>
            <a:r>
              <a:rPr lang="en-US" altLang="zh-TW" sz="2000" dirty="0"/>
              <a:t>Classification (discrete labels), Regression (real values)</a:t>
            </a:r>
          </a:p>
          <a:p>
            <a:r>
              <a:rPr lang="en-US" altLang="zh-TW" sz="2800" b="1" dirty="0"/>
              <a:t>Unsupervised learning</a:t>
            </a:r>
            <a:endParaRPr lang="en-US" altLang="zh-TW" sz="2800" dirty="0"/>
          </a:p>
          <a:p>
            <a:pPr lvl="1"/>
            <a:r>
              <a:rPr lang="en-US" altLang="zh-TW" sz="2000" dirty="0"/>
              <a:t>Clustering</a:t>
            </a:r>
          </a:p>
          <a:p>
            <a:pPr lvl="1"/>
            <a:r>
              <a:rPr lang="en-US" altLang="zh-TW" sz="2000" dirty="0"/>
              <a:t>Probability distribution estimation</a:t>
            </a:r>
          </a:p>
          <a:p>
            <a:pPr lvl="1"/>
            <a:r>
              <a:rPr lang="en-US" altLang="zh-TW" sz="2000" dirty="0"/>
              <a:t>Finding association (in features)</a:t>
            </a:r>
          </a:p>
          <a:p>
            <a:pPr lvl="1"/>
            <a:r>
              <a:rPr lang="en-US" altLang="zh-TW" sz="2000" dirty="0"/>
              <a:t>Dimension reduction </a:t>
            </a:r>
          </a:p>
          <a:p>
            <a:r>
              <a:rPr lang="en-US" altLang="zh-TW" sz="2800" b="1" dirty="0"/>
              <a:t>Semi-supervised learning</a:t>
            </a:r>
          </a:p>
          <a:p>
            <a:r>
              <a:rPr lang="en-US" altLang="zh-TW" sz="2800" b="1" dirty="0"/>
              <a:t>Reinforcement learning</a:t>
            </a:r>
          </a:p>
          <a:p>
            <a:pPr lvl="1"/>
            <a:r>
              <a:rPr lang="en-US" altLang="zh-TW" sz="2000" dirty="0"/>
              <a:t>Decision making (robot, chess machine)</a:t>
            </a:r>
          </a:p>
          <a:p>
            <a:endParaRPr lang="zh-TW" altLang="en-US" sz="2800" dirty="0"/>
          </a:p>
        </p:txBody>
      </p:sp>
      <p:sp>
        <p:nvSpPr>
          <p:cNvPr id="4" name="Slide Number Placeholder 3">
            <a:extLst>
              <a:ext uri="{FF2B5EF4-FFF2-40B4-BE49-F238E27FC236}">
                <a16:creationId xmlns:a16="http://schemas.microsoft.com/office/drawing/2014/main" id="{53D61E9D-158D-4004-91E0-479FAFFC359B}"/>
              </a:ext>
            </a:extLst>
          </p:cNvPr>
          <p:cNvSpPr>
            <a:spLocks noGrp="1"/>
          </p:cNvSpPr>
          <p:nvPr>
            <p:ph type="sldNum" sz="quarter" idx="12"/>
          </p:nvPr>
        </p:nvSpPr>
        <p:spPr/>
        <p:txBody>
          <a:bodyPr/>
          <a:lstStyle/>
          <a:p>
            <a:fld id="{722B575E-21D9-4F81-9A86-37E23FE3D5CC}" type="slidenum">
              <a:rPr lang="zh-TW" altLang="en-US" smtClean="0"/>
              <a:t>19</a:t>
            </a:fld>
            <a:endParaRPr lang="zh-TW" altLang="en-US"/>
          </a:p>
        </p:txBody>
      </p:sp>
    </p:spTree>
    <p:extLst>
      <p:ext uri="{BB962C8B-B14F-4D97-AF65-F5344CB8AC3E}">
        <p14:creationId xmlns:p14="http://schemas.microsoft.com/office/powerpoint/2010/main" val="225277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Supervised Learning</a:t>
            </a:r>
          </a:p>
        </p:txBody>
      </p:sp>
      <p:sp>
        <p:nvSpPr>
          <p:cNvPr id="3" name="Content Placeholder 2"/>
          <p:cNvSpPr>
            <a:spLocks noGrp="1"/>
          </p:cNvSpPr>
          <p:nvPr>
            <p:ph idx="1"/>
          </p:nvPr>
        </p:nvSpPr>
        <p:spPr/>
        <p:txBody>
          <a:bodyPr>
            <a:normAutofit fontScale="92500" lnSpcReduction="20000"/>
          </a:bodyPr>
          <a:lstStyle/>
          <a:p>
            <a:r>
              <a:rPr lang="en-US" dirty="0"/>
              <a:t>Predict response / output / label given input </a:t>
            </a:r>
          </a:p>
          <a:p>
            <a:endParaRPr lang="en-US" dirty="0"/>
          </a:p>
          <a:p>
            <a:r>
              <a:rPr lang="en-US" dirty="0"/>
              <a:t>Input: d-dimensional vector. Features / attributes</a:t>
            </a:r>
          </a:p>
          <a:p>
            <a:endParaRPr lang="en-US" dirty="0"/>
          </a:p>
          <a:p>
            <a:r>
              <a:rPr lang="en-US" dirty="0"/>
              <a:t>Output:</a:t>
            </a:r>
          </a:p>
          <a:p>
            <a:pPr lvl="1"/>
            <a:r>
              <a:rPr lang="en-US" dirty="0"/>
              <a:t>Categorical: Binary, Multi-class, Multi-label</a:t>
            </a:r>
          </a:p>
          <a:p>
            <a:pPr lvl="1"/>
            <a:r>
              <a:rPr lang="en-US" dirty="0"/>
              <a:t>Real valued: Simple regression, multiple regression</a:t>
            </a:r>
          </a:p>
          <a:p>
            <a:pPr lvl="1"/>
            <a:r>
              <a:rPr lang="en-US" dirty="0"/>
              <a:t>Ordinal: Ordinal regression</a:t>
            </a:r>
          </a:p>
          <a:p>
            <a:pPr lvl="1"/>
            <a:r>
              <a:rPr lang="en-US" dirty="0"/>
              <a:t>Ranking: Learning to rank</a:t>
            </a:r>
          </a:p>
          <a:p>
            <a:pPr lvl="1"/>
            <a:r>
              <a:rPr lang="en-US" dirty="0"/>
              <a:t>Structured: Sequence, Tree, Graph</a:t>
            </a:r>
          </a:p>
          <a:p>
            <a:endParaRPr lang="en-US" dirty="0"/>
          </a:p>
          <a:p>
            <a:r>
              <a:rPr lang="en-US" dirty="0"/>
              <a:t>Training set: both inputs and outputs available</a:t>
            </a:r>
          </a:p>
          <a:p>
            <a:r>
              <a:rPr lang="en-US" dirty="0"/>
              <a:t>Test set: for evaluation; only inputs available</a:t>
            </a:r>
          </a:p>
        </p:txBody>
      </p:sp>
      <p:sp>
        <p:nvSpPr>
          <p:cNvPr id="5" name="Slide Number Placeholder 4"/>
          <p:cNvSpPr>
            <a:spLocks noGrp="1"/>
          </p:cNvSpPr>
          <p:nvPr>
            <p:ph type="sldNum" sz="quarter" idx="12"/>
          </p:nvPr>
        </p:nvSpPr>
        <p:spPr/>
        <p:txBody>
          <a:bodyPr/>
          <a:lstStyle/>
          <a:p>
            <a:fld id="{FF0F7617-1EFA-4B29-976E-417EB2A8D7B0}" type="slidenum">
              <a:rPr lang="en-US" smtClean="0"/>
              <a:t>20</a:t>
            </a:fld>
            <a:endParaRPr lang="en-US"/>
          </a:p>
        </p:txBody>
      </p:sp>
      <p:pic>
        <p:nvPicPr>
          <p:cNvPr id="2050" name="Picture 2" descr="Data Preprocessing in Python. for Machine Learning with working code… | by  Tarun Gupta | Towards Data Science">
            <a:extLst>
              <a:ext uri="{FF2B5EF4-FFF2-40B4-BE49-F238E27FC236}">
                <a16:creationId xmlns:a16="http://schemas.microsoft.com/office/drawing/2014/main" id="{1CE07F7B-6F49-4AE4-8E40-BDD430B4A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962" y="2125266"/>
            <a:ext cx="3591029" cy="2115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08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Unsupervised Learning</a:t>
            </a:r>
          </a:p>
        </p:txBody>
      </p:sp>
      <p:sp>
        <p:nvSpPr>
          <p:cNvPr id="3" name="Content Placeholder 2"/>
          <p:cNvSpPr>
            <a:spLocks noGrp="1"/>
          </p:cNvSpPr>
          <p:nvPr>
            <p:ph idx="1"/>
          </p:nvPr>
        </p:nvSpPr>
        <p:spPr/>
        <p:txBody>
          <a:bodyPr>
            <a:normAutofit/>
          </a:bodyPr>
          <a:lstStyle/>
          <a:p>
            <a:r>
              <a:rPr lang="en-US" dirty="0"/>
              <a:t>Also called Knowledge discovery</a:t>
            </a:r>
          </a:p>
          <a:p>
            <a:endParaRPr lang="en-US" dirty="0"/>
          </a:p>
          <a:p>
            <a:r>
              <a:rPr lang="en-US" dirty="0"/>
              <a:t>No labels available</a:t>
            </a:r>
          </a:p>
          <a:p>
            <a:r>
              <a:rPr lang="en-US" dirty="0"/>
              <a:t>No clear notion of training </a:t>
            </a:r>
          </a:p>
          <a:p>
            <a:pPr marL="118872" indent="0">
              <a:buNone/>
            </a:pPr>
            <a:r>
              <a:rPr lang="en-US"/>
              <a:t>    or </a:t>
            </a:r>
            <a:r>
              <a:rPr lang="en-US" dirty="0"/>
              <a:t>test</a:t>
            </a:r>
          </a:p>
          <a:p>
            <a:endParaRPr lang="en-US" dirty="0"/>
          </a:p>
          <a:p>
            <a:r>
              <a:rPr lang="en-US" dirty="0"/>
              <a:t>Discover “patterns” e.g. clusters in the data</a:t>
            </a:r>
          </a:p>
          <a:p>
            <a:r>
              <a:rPr lang="en-US" dirty="0"/>
              <a:t>Density estimation</a:t>
            </a:r>
          </a:p>
          <a:p>
            <a:endParaRPr lang="en-US" dirty="0"/>
          </a:p>
          <a:p>
            <a:r>
              <a:rPr lang="en-US" dirty="0"/>
              <a:t>Evaluation? </a:t>
            </a:r>
          </a:p>
        </p:txBody>
      </p:sp>
      <p:sp>
        <p:nvSpPr>
          <p:cNvPr id="5" name="Slide Number Placeholder 4"/>
          <p:cNvSpPr>
            <a:spLocks noGrp="1"/>
          </p:cNvSpPr>
          <p:nvPr>
            <p:ph type="sldNum" sz="quarter" idx="12"/>
          </p:nvPr>
        </p:nvSpPr>
        <p:spPr/>
        <p:txBody>
          <a:bodyPr/>
          <a:lstStyle/>
          <a:p>
            <a:fld id="{FF0F7617-1EFA-4B29-976E-417EB2A8D7B0}" type="slidenum">
              <a:rPr lang="en-US" smtClean="0"/>
              <a:t>21</a:t>
            </a:fld>
            <a:endParaRPr lang="en-US"/>
          </a:p>
        </p:txBody>
      </p:sp>
      <p:pic>
        <p:nvPicPr>
          <p:cNvPr id="4" name="Picture 2" descr="Data Preprocessing in Python. for Machine Learning with working code… | by  Tarun Gupta | Towards Data Science">
            <a:extLst>
              <a:ext uri="{FF2B5EF4-FFF2-40B4-BE49-F238E27FC236}">
                <a16:creationId xmlns:a16="http://schemas.microsoft.com/office/drawing/2014/main" id="{F09739BD-9B15-453D-869D-E4779D252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3062" y="1896666"/>
            <a:ext cx="3591029" cy="211526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E5BF371-762E-4355-9ADA-33D79FEF1D9E}"/>
              </a:ext>
            </a:extLst>
          </p:cNvPr>
          <p:cNvCxnSpPr>
            <a:cxnSpLocks/>
          </p:cNvCxnSpPr>
          <p:nvPr/>
        </p:nvCxnSpPr>
        <p:spPr>
          <a:xfrm>
            <a:off x="8046720" y="1950780"/>
            <a:ext cx="838200" cy="196971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870EDCCF-EDFF-46A3-A24E-3734C3DCA120}"/>
              </a:ext>
            </a:extLst>
          </p:cNvPr>
          <p:cNvCxnSpPr/>
          <p:nvPr/>
        </p:nvCxnSpPr>
        <p:spPr>
          <a:xfrm flipH="1">
            <a:off x="8001000" y="1977837"/>
            <a:ext cx="883920" cy="1942653"/>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96358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544"/>
            <a:ext cx="8282178" cy="994172"/>
          </a:xfrm>
        </p:spPr>
        <p:txBody>
          <a:bodyPr>
            <a:noAutofit/>
          </a:bodyPr>
          <a:lstStyle/>
          <a:p>
            <a:r>
              <a:rPr lang="en-US" b="1" dirty="0"/>
              <a:t>Types: Semi-supervised Learning</a:t>
            </a:r>
          </a:p>
        </p:txBody>
      </p:sp>
      <p:sp>
        <p:nvSpPr>
          <p:cNvPr id="3" name="Content Placeholder 2"/>
          <p:cNvSpPr>
            <a:spLocks noGrp="1"/>
          </p:cNvSpPr>
          <p:nvPr>
            <p:ph idx="1"/>
          </p:nvPr>
        </p:nvSpPr>
        <p:spPr/>
        <p:txBody>
          <a:bodyPr>
            <a:normAutofit fontScale="92500" lnSpcReduction="20000"/>
          </a:bodyPr>
          <a:lstStyle/>
          <a:p>
            <a:pPr algn="just"/>
            <a:r>
              <a:rPr lang="en-US" sz="2400" dirty="0"/>
              <a:t>Algorithm is trained upon a combination of labeled and unlabeled data</a:t>
            </a:r>
          </a:p>
          <a:p>
            <a:pPr algn="just"/>
            <a:r>
              <a:rPr lang="en-US" sz="2400" dirty="0"/>
              <a:t>This combination will contain a very small amount of labeled data and a very large amount of unlabeled data.</a:t>
            </a:r>
          </a:p>
          <a:p>
            <a:pPr algn="just"/>
            <a:r>
              <a:rPr lang="en-US" sz="2400" dirty="0"/>
              <a:t>The basic procedure involved is that first, the programmer will cluster similar data using an unsupervised learning algorithm and then use the existing labeled data to label the rest of the unlabeled data.</a:t>
            </a:r>
          </a:p>
          <a:p>
            <a:pPr algn="just" fontAlgn="base"/>
            <a:r>
              <a:rPr lang="en-US" sz="2400" b="1" dirty="0"/>
              <a:t>Practical applications of Semi-Supervised Learning –</a:t>
            </a:r>
            <a:endParaRPr lang="en-US" sz="2400" dirty="0"/>
          </a:p>
          <a:p>
            <a:pPr lvl="1" algn="just" fontAlgn="base"/>
            <a:r>
              <a:rPr lang="en-US" sz="2000" b="1" dirty="0"/>
              <a:t>Speech Analysis:</a:t>
            </a:r>
            <a:r>
              <a:rPr lang="en-US" sz="2000" dirty="0"/>
              <a:t> Since labeling of audio files is a very intensive task, Semi-Supervised learning is a very natural approach to solve this problem.</a:t>
            </a:r>
          </a:p>
          <a:p>
            <a:pPr lvl="1" algn="just" fontAlgn="base"/>
            <a:r>
              <a:rPr lang="en-US" sz="2000" b="1" dirty="0"/>
              <a:t>Internet Content Classification:</a:t>
            </a:r>
            <a:r>
              <a:rPr lang="en-US" sz="2000" dirty="0"/>
              <a:t> Labeling each webpage is an impractical and unfeasible process and thus uses Semi-Supervised learning algorithms. Even the Google search algorithm uses a variant of Semi-Supervised learning to rank the relevance of a webpage for a given query.</a:t>
            </a:r>
          </a:p>
          <a:p>
            <a:pPr lvl="1" algn="just" fontAlgn="base"/>
            <a:r>
              <a:rPr lang="en-US" sz="2000" b="1" dirty="0"/>
              <a:t>Protein Sequence Classification:</a:t>
            </a:r>
            <a:r>
              <a:rPr lang="en-US" sz="2000" dirty="0"/>
              <a:t> Since DNA strands are typically very large in size, the rise of Semi-Supervised learning has been imminent in this field.</a:t>
            </a:r>
          </a:p>
          <a:p>
            <a:pPr lvl="1" algn="just"/>
            <a:endParaRPr lang="en-US" sz="2000" dirty="0"/>
          </a:p>
        </p:txBody>
      </p:sp>
      <p:sp>
        <p:nvSpPr>
          <p:cNvPr id="5" name="Slide Number Placeholder 4"/>
          <p:cNvSpPr>
            <a:spLocks noGrp="1"/>
          </p:cNvSpPr>
          <p:nvPr>
            <p:ph type="sldNum" sz="quarter" idx="12"/>
          </p:nvPr>
        </p:nvSpPr>
        <p:spPr/>
        <p:txBody>
          <a:bodyPr/>
          <a:lstStyle/>
          <a:p>
            <a:fld id="{FF0F7617-1EFA-4B29-976E-417EB2A8D7B0}" type="slidenum">
              <a:rPr lang="en-US" smtClean="0"/>
              <a:t>22</a:t>
            </a:fld>
            <a:endParaRPr lang="en-US"/>
          </a:p>
        </p:txBody>
      </p:sp>
    </p:spTree>
    <p:extLst>
      <p:ext uri="{BB962C8B-B14F-4D97-AF65-F5344CB8AC3E}">
        <p14:creationId xmlns:p14="http://schemas.microsoft.com/office/powerpoint/2010/main" val="443647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6" y="0"/>
            <a:ext cx="8069580" cy="994172"/>
          </a:xfrm>
        </p:spPr>
        <p:txBody>
          <a:bodyPr>
            <a:noAutofit/>
          </a:bodyPr>
          <a:lstStyle/>
          <a:p>
            <a:r>
              <a:rPr lang="en-US" b="1" dirty="0"/>
              <a:t>Types: Reinforcement Learning</a:t>
            </a:r>
          </a:p>
        </p:txBody>
      </p:sp>
      <p:sp>
        <p:nvSpPr>
          <p:cNvPr id="3" name="Content Placeholder 2"/>
          <p:cNvSpPr>
            <a:spLocks noGrp="1"/>
          </p:cNvSpPr>
          <p:nvPr>
            <p:ph idx="1"/>
          </p:nvPr>
        </p:nvSpPr>
        <p:spPr>
          <a:xfrm>
            <a:off x="533400" y="1295400"/>
            <a:ext cx="8229600" cy="5257801"/>
          </a:xfrm>
        </p:spPr>
        <p:txBody>
          <a:bodyPr>
            <a:normAutofit fontScale="77500" lnSpcReduction="20000"/>
          </a:bodyPr>
          <a:lstStyle/>
          <a:p>
            <a:pPr marL="342900" indent="-342900">
              <a:buFont typeface="+mj-lt"/>
              <a:buAutoNum type="arabicPeriod"/>
            </a:pPr>
            <a:r>
              <a:rPr lang="en-US" dirty="0"/>
              <a:t>A robot vehicle on Mars</a:t>
            </a:r>
          </a:p>
          <a:p>
            <a:pPr marL="342900" indent="-342900">
              <a:buFont typeface="+mj-lt"/>
              <a:buAutoNum type="arabicPeriod"/>
            </a:pPr>
            <a:r>
              <a:rPr lang="en-US" dirty="0"/>
              <a:t>Learning to play chess</a:t>
            </a:r>
          </a:p>
          <a:p>
            <a:endParaRPr lang="en-US" dirty="0"/>
          </a:p>
          <a:p>
            <a:r>
              <a:rPr lang="en-US" dirty="0"/>
              <a:t>Direct feedback only at the end</a:t>
            </a:r>
          </a:p>
          <a:p>
            <a:r>
              <a:rPr lang="en-US" dirty="0"/>
              <a:t>Possibly closer to human learning</a:t>
            </a:r>
          </a:p>
          <a:p>
            <a:pPr fontAlgn="base"/>
            <a:r>
              <a:rPr lang="en-US" b="1" dirty="0"/>
              <a:t>Main points in Reinforcement learning –</a:t>
            </a:r>
            <a:endParaRPr lang="en-US" dirty="0"/>
          </a:p>
          <a:p>
            <a:pPr lvl="1" fontAlgn="base"/>
            <a:r>
              <a:rPr lang="en-US" dirty="0"/>
              <a:t>Input: The input should be an initial state from which the model will start</a:t>
            </a:r>
          </a:p>
          <a:p>
            <a:pPr lvl="1" fontAlgn="base"/>
            <a:r>
              <a:rPr lang="en-US" dirty="0"/>
              <a:t>Output: There are many possible output as there are variety of solution to a particular problem</a:t>
            </a:r>
          </a:p>
          <a:p>
            <a:pPr lvl="1" fontAlgn="base"/>
            <a:r>
              <a:rPr lang="en-US" dirty="0"/>
              <a:t>Training: The training is based upon the input, The model will return an action and the user will decide to reward or punish the model based on its output.</a:t>
            </a:r>
          </a:p>
          <a:p>
            <a:pPr lvl="1" fontAlgn="base"/>
            <a:r>
              <a:rPr lang="en-US" dirty="0"/>
              <a:t>The model continues to learn.</a:t>
            </a:r>
          </a:p>
          <a:p>
            <a:pPr lvl="1" fontAlgn="base"/>
            <a:r>
              <a:rPr lang="en-US" dirty="0"/>
              <a:t>The best solution is decided based on the maximum reward.</a:t>
            </a:r>
          </a:p>
          <a:p>
            <a:endParaRPr lang="en-US" dirty="0"/>
          </a:p>
          <a:p>
            <a:endParaRPr lang="en-US" dirty="0"/>
          </a:p>
        </p:txBody>
      </p:sp>
      <p:sp>
        <p:nvSpPr>
          <p:cNvPr id="5" name="Slide Number Placeholder 4"/>
          <p:cNvSpPr>
            <a:spLocks noGrp="1"/>
          </p:cNvSpPr>
          <p:nvPr>
            <p:ph type="sldNum" sz="quarter" idx="12"/>
          </p:nvPr>
        </p:nvSpPr>
        <p:spPr/>
        <p:txBody>
          <a:bodyPr/>
          <a:lstStyle/>
          <a:p>
            <a:fld id="{FF0F7617-1EFA-4B29-976E-417EB2A8D7B0}" type="slidenum">
              <a:rPr lang="en-US" smtClean="0"/>
              <a:t>23</a:t>
            </a:fld>
            <a:endParaRPr lang="en-US"/>
          </a:p>
        </p:txBody>
      </p:sp>
    </p:spTree>
    <p:extLst>
      <p:ext uri="{BB962C8B-B14F-4D97-AF65-F5344CB8AC3E}">
        <p14:creationId xmlns:p14="http://schemas.microsoft.com/office/powerpoint/2010/main" val="2457997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矩形 409"/>
          <p:cNvSpPr/>
          <p:nvPr/>
        </p:nvSpPr>
        <p:spPr>
          <a:xfrm>
            <a:off x="3113838" y="4131078"/>
            <a:ext cx="2808312" cy="15121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28" name="矩形 327"/>
          <p:cNvSpPr/>
          <p:nvPr/>
        </p:nvSpPr>
        <p:spPr>
          <a:xfrm>
            <a:off x="1493658" y="2132856"/>
            <a:ext cx="2808312" cy="15121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2" name="標題 1"/>
          <p:cNvSpPr>
            <a:spLocks noGrp="1"/>
          </p:cNvSpPr>
          <p:nvPr>
            <p:ph type="title"/>
          </p:nvPr>
        </p:nvSpPr>
        <p:spPr/>
        <p:txBody>
          <a:bodyPr/>
          <a:lstStyle/>
          <a:p>
            <a:r>
              <a:rPr lang="en-US" altLang="zh-TW" b="1" dirty="0"/>
              <a:t>Algorithms</a:t>
            </a:r>
            <a:endParaRPr lang="zh-TW" altLang="en-US" b="1" dirty="0"/>
          </a:p>
        </p:txBody>
      </p:sp>
      <p:sp>
        <p:nvSpPr>
          <p:cNvPr id="4" name="Content Placeholder 3">
            <a:extLst>
              <a:ext uri="{FF2B5EF4-FFF2-40B4-BE49-F238E27FC236}">
                <a16:creationId xmlns:a16="http://schemas.microsoft.com/office/drawing/2014/main" id="{7C638843-135E-4D2F-A034-3C6E570F8463}"/>
              </a:ext>
            </a:extLst>
          </p:cNvPr>
          <p:cNvSpPr>
            <a:spLocks noGrp="1"/>
          </p:cNvSpPr>
          <p:nvPr>
            <p:ph idx="1"/>
          </p:nvPr>
        </p:nvSpPr>
        <p:spPr/>
        <p:txBody>
          <a:bodyPr/>
          <a:lstStyle/>
          <a:p>
            <a:endParaRPr lang="hi-IN"/>
          </a:p>
        </p:txBody>
      </p:sp>
      <p:sp>
        <p:nvSpPr>
          <p:cNvPr id="3" name="Slide Number Placeholder 2">
            <a:extLst>
              <a:ext uri="{FF2B5EF4-FFF2-40B4-BE49-F238E27FC236}">
                <a16:creationId xmlns:a16="http://schemas.microsoft.com/office/drawing/2014/main" id="{5158A673-9CE2-4D95-A6FE-05A4C1517D7B}"/>
              </a:ext>
            </a:extLst>
          </p:cNvPr>
          <p:cNvSpPr>
            <a:spLocks noGrp="1"/>
          </p:cNvSpPr>
          <p:nvPr>
            <p:ph type="sldNum" sz="quarter" idx="12"/>
          </p:nvPr>
        </p:nvSpPr>
        <p:spPr/>
        <p:txBody>
          <a:bodyPr/>
          <a:lstStyle/>
          <a:p>
            <a:fld id="{722B575E-21D9-4F81-9A86-37E23FE3D5CC}" type="slidenum">
              <a:rPr lang="zh-TW" altLang="en-US" smtClean="0"/>
              <a:t>24</a:t>
            </a:fld>
            <a:endParaRPr lang="zh-TW" altLang="en-US"/>
          </a:p>
        </p:txBody>
      </p:sp>
      <p:sp>
        <p:nvSpPr>
          <p:cNvPr id="329" name="矩形 328"/>
          <p:cNvSpPr/>
          <p:nvPr/>
        </p:nvSpPr>
        <p:spPr>
          <a:xfrm>
            <a:off x="4842030" y="2132856"/>
            <a:ext cx="2808312" cy="15121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30" name="文字方塊 329"/>
          <p:cNvSpPr txBox="1"/>
          <p:nvPr/>
        </p:nvSpPr>
        <p:spPr>
          <a:xfrm>
            <a:off x="2148018" y="3647422"/>
            <a:ext cx="1512168" cy="507831"/>
          </a:xfrm>
          <a:prstGeom prst="rect">
            <a:avLst/>
          </a:prstGeom>
          <a:noFill/>
          <a:ln>
            <a:solidFill>
              <a:schemeClr val="accent1">
                <a:shade val="50000"/>
              </a:schemeClr>
            </a:solidFill>
          </a:ln>
        </p:spPr>
        <p:txBody>
          <a:bodyPr wrap="square" rtlCol="0">
            <a:spAutoFit/>
          </a:bodyPr>
          <a:lstStyle/>
          <a:p>
            <a:r>
              <a:rPr lang="en-US" altLang="zh-TW" sz="1350" dirty="0"/>
              <a:t>Supervised learning</a:t>
            </a:r>
            <a:endParaRPr lang="zh-TW" altLang="en-US" sz="1350" dirty="0"/>
          </a:p>
        </p:txBody>
      </p:sp>
      <p:sp>
        <p:nvSpPr>
          <p:cNvPr id="331" name="文字方塊 330"/>
          <p:cNvSpPr txBox="1"/>
          <p:nvPr/>
        </p:nvSpPr>
        <p:spPr>
          <a:xfrm>
            <a:off x="5368315" y="3645024"/>
            <a:ext cx="1728192" cy="507831"/>
          </a:xfrm>
          <a:prstGeom prst="rect">
            <a:avLst/>
          </a:prstGeom>
          <a:noFill/>
          <a:ln>
            <a:solidFill>
              <a:schemeClr val="accent1">
                <a:shade val="50000"/>
              </a:schemeClr>
            </a:solidFill>
          </a:ln>
        </p:spPr>
        <p:txBody>
          <a:bodyPr wrap="square" rtlCol="0">
            <a:spAutoFit/>
          </a:bodyPr>
          <a:lstStyle/>
          <a:p>
            <a:r>
              <a:rPr lang="en-US" altLang="zh-TW" sz="1350" dirty="0"/>
              <a:t>Unsupervised learning</a:t>
            </a:r>
            <a:endParaRPr lang="zh-TW" altLang="en-US" sz="1350" dirty="0"/>
          </a:p>
        </p:txBody>
      </p:sp>
      <p:sp>
        <p:nvSpPr>
          <p:cNvPr id="332" name="文字方塊 331"/>
          <p:cNvSpPr txBox="1"/>
          <p:nvPr/>
        </p:nvSpPr>
        <p:spPr>
          <a:xfrm>
            <a:off x="3545886" y="5643246"/>
            <a:ext cx="1944216" cy="507831"/>
          </a:xfrm>
          <a:prstGeom prst="rect">
            <a:avLst/>
          </a:prstGeom>
          <a:noFill/>
          <a:ln>
            <a:solidFill>
              <a:schemeClr val="accent1">
                <a:shade val="50000"/>
              </a:schemeClr>
            </a:solidFill>
          </a:ln>
        </p:spPr>
        <p:txBody>
          <a:bodyPr wrap="square" rtlCol="0">
            <a:spAutoFit/>
          </a:bodyPr>
          <a:lstStyle/>
          <a:p>
            <a:r>
              <a:rPr lang="en-US" altLang="zh-TW" sz="1350" dirty="0"/>
              <a:t>Semi-supervised learning</a:t>
            </a:r>
            <a:endParaRPr lang="zh-TW" altLang="en-US" sz="1350" dirty="0"/>
          </a:p>
        </p:txBody>
      </p:sp>
      <p:sp>
        <p:nvSpPr>
          <p:cNvPr id="333" name="流程圖: 接點 332"/>
          <p:cNvSpPr/>
          <p:nvPr/>
        </p:nvSpPr>
        <p:spPr>
          <a:xfrm>
            <a:off x="1871700" y="234888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4" name="流程圖: 接點 333"/>
          <p:cNvSpPr/>
          <p:nvPr/>
        </p:nvSpPr>
        <p:spPr>
          <a:xfrm>
            <a:off x="1709682" y="251089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5" name="流程圖: 接點 334"/>
          <p:cNvSpPr/>
          <p:nvPr/>
        </p:nvSpPr>
        <p:spPr>
          <a:xfrm>
            <a:off x="1925706" y="251089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6" name="流程圖: 接點 335"/>
          <p:cNvSpPr/>
          <p:nvPr/>
        </p:nvSpPr>
        <p:spPr>
          <a:xfrm>
            <a:off x="1979712" y="224086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7" name="流程圖: 接點 336"/>
          <p:cNvSpPr/>
          <p:nvPr/>
        </p:nvSpPr>
        <p:spPr>
          <a:xfrm>
            <a:off x="2195736" y="2672916"/>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8" name="流程圖: 接點 337"/>
          <p:cNvSpPr/>
          <p:nvPr/>
        </p:nvSpPr>
        <p:spPr>
          <a:xfrm>
            <a:off x="2141730" y="2402886"/>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39" name="乘號 338"/>
          <p:cNvSpPr/>
          <p:nvPr/>
        </p:nvSpPr>
        <p:spPr>
          <a:xfrm>
            <a:off x="2843808" y="251089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0" name="乘號 339"/>
          <p:cNvSpPr/>
          <p:nvPr/>
        </p:nvSpPr>
        <p:spPr>
          <a:xfrm>
            <a:off x="2958108" y="262519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1" name="乘號 340"/>
          <p:cNvSpPr/>
          <p:nvPr/>
        </p:nvSpPr>
        <p:spPr>
          <a:xfrm>
            <a:off x="3072408" y="273949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2" name="乘號 341"/>
          <p:cNvSpPr/>
          <p:nvPr/>
        </p:nvSpPr>
        <p:spPr>
          <a:xfrm>
            <a:off x="3186708" y="285379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3" name="乘號 342"/>
          <p:cNvSpPr/>
          <p:nvPr/>
        </p:nvSpPr>
        <p:spPr>
          <a:xfrm>
            <a:off x="3329862" y="2672916"/>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4" name="乘號 343"/>
          <p:cNvSpPr/>
          <p:nvPr/>
        </p:nvSpPr>
        <p:spPr>
          <a:xfrm>
            <a:off x="3437874" y="2834934"/>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5" name="乘號 344"/>
          <p:cNvSpPr/>
          <p:nvPr/>
        </p:nvSpPr>
        <p:spPr>
          <a:xfrm>
            <a:off x="3599892" y="2996952"/>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6" name="乘號 345"/>
          <p:cNvSpPr/>
          <p:nvPr/>
        </p:nvSpPr>
        <p:spPr>
          <a:xfrm>
            <a:off x="3643908" y="278092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7" name="五角星形 346"/>
          <p:cNvSpPr/>
          <p:nvPr/>
        </p:nvSpPr>
        <p:spPr>
          <a:xfrm>
            <a:off x="2735796" y="3104964"/>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8" name="五角星形 347"/>
          <p:cNvSpPr/>
          <p:nvPr/>
        </p:nvSpPr>
        <p:spPr>
          <a:xfrm>
            <a:off x="2735796" y="326698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49" name="五角星形 348"/>
          <p:cNvSpPr/>
          <p:nvPr/>
        </p:nvSpPr>
        <p:spPr>
          <a:xfrm>
            <a:off x="2951820" y="3158970"/>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0" name="五角星形 349"/>
          <p:cNvSpPr/>
          <p:nvPr/>
        </p:nvSpPr>
        <p:spPr>
          <a:xfrm>
            <a:off x="2897814" y="3429000"/>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1" name="五角星形 350"/>
          <p:cNvSpPr/>
          <p:nvPr/>
        </p:nvSpPr>
        <p:spPr>
          <a:xfrm>
            <a:off x="3030978" y="3346140"/>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2" name="五角星形 351"/>
          <p:cNvSpPr/>
          <p:nvPr/>
        </p:nvSpPr>
        <p:spPr>
          <a:xfrm>
            <a:off x="3167844" y="3429000"/>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3" name="五角星形 352"/>
          <p:cNvSpPr/>
          <p:nvPr/>
        </p:nvSpPr>
        <p:spPr>
          <a:xfrm>
            <a:off x="3167844" y="3212976"/>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4" name="五角星形 353"/>
          <p:cNvSpPr/>
          <p:nvPr/>
        </p:nvSpPr>
        <p:spPr>
          <a:xfrm>
            <a:off x="3329862" y="3374994"/>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5" name="五角星形 354"/>
          <p:cNvSpPr/>
          <p:nvPr/>
        </p:nvSpPr>
        <p:spPr>
          <a:xfrm>
            <a:off x="2519772" y="3212976"/>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6" name="五角星形 355"/>
          <p:cNvSpPr/>
          <p:nvPr/>
        </p:nvSpPr>
        <p:spPr>
          <a:xfrm>
            <a:off x="2681790" y="3429000"/>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7" name="五角星形 356"/>
          <p:cNvSpPr/>
          <p:nvPr/>
        </p:nvSpPr>
        <p:spPr>
          <a:xfrm>
            <a:off x="2465766" y="3374994"/>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58" name="流程圖: 接點 357"/>
          <p:cNvSpPr/>
          <p:nvPr/>
        </p:nvSpPr>
        <p:spPr>
          <a:xfrm>
            <a:off x="2040006" y="262519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59" name="流程圖: 接點 358"/>
          <p:cNvSpPr/>
          <p:nvPr/>
        </p:nvSpPr>
        <p:spPr>
          <a:xfrm>
            <a:off x="2033718" y="2834934"/>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0" name="流程圖: 接點 359"/>
          <p:cNvSpPr/>
          <p:nvPr/>
        </p:nvSpPr>
        <p:spPr>
          <a:xfrm>
            <a:off x="2268606" y="285379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1" name="流程圖: 接點 360"/>
          <p:cNvSpPr/>
          <p:nvPr/>
        </p:nvSpPr>
        <p:spPr>
          <a:xfrm>
            <a:off x="2141730" y="2996952"/>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2" name="流程圖: 接點 361"/>
          <p:cNvSpPr/>
          <p:nvPr/>
        </p:nvSpPr>
        <p:spPr>
          <a:xfrm>
            <a:off x="2357754" y="2672916"/>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3" name="流程圖: 接點 362"/>
          <p:cNvSpPr/>
          <p:nvPr/>
        </p:nvSpPr>
        <p:spPr>
          <a:xfrm>
            <a:off x="2256030" y="246318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4" name="流程圖: 接點 363"/>
          <p:cNvSpPr/>
          <p:nvPr/>
        </p:nvSpPr>
        <p:spPr>
          <a:xfrm>
            <a:off x="1871700" y="2726922"/>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65" name="乘號 364"/>
          <p:cNvSpPr/>
          <p:nvPr/>
        </p:nvSpPr>
        <p:spPr>
          <a:xfrm>
            <a:off x="3758208" y="289522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66" name="乘號 365"/>
          <p:cNvSpPr/>
          <p:nvPr/>
        </p:nvSpPr>
        <p:spPr>
          <a:xfrm>
            <a:off x="3872508" y="300952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67" name="乘號 366"/>
          <p:cNvSpPr/>
          <p:nvPr/>
        </p:nvSpPr>
        <p:spPr>
          <a:xfrm>
            <a:off x="3653898" y="261891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68" name="乘號 367"/>
          <p:cNvSpPr/>
          <p:nvPr/>
        </p:nvSpPr>
        <p:spPr>
          <a:xfrm>
            <a:off x="3986808" y="312382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69" name="乘號 368"/>
          <p:cNvSpPr/>
          <p:nvPr/>
        </p:nvSpPr>
        <p:spPr>
          <a:xfrm>
            <a:off x="3491880" y="261891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370" name="直線接點 369"/>
          <p:cNvCxnSpPr/>
          <p:nvPr/>
        </p:nvCxnSpPr>
        <p:spPr>
          <a:xfrm rot="16200000" flipH="1">
            <a:off x="2276745" y="2375883"/>
            <a:ext cx="702078" cy="32403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1" name="直線接點 370"/>
          <p:cNvCxnSpPr/>
          <p:nvPr/>
        </p:nvCxnSpPr>
        <p:spPr>
          <a:xfrm rot="10800000" flipV="1">
            <a:off x="1925706" y="2888940"/>
            <a:ext cx="864096" cy="648072"/>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2" name="直線接點 371"/>
          <p:cNvCxnSpPr/>
          <p:nvPr/>
        </p:nvCxnSpPr>
        <p:spPr>
          <a:xfrm>
            <a:off x="2789802" y="2888940"/>
            <a:ext cx="1242138" cy="54006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3" name="流程圖: 接點 372"/>
          <p:cNvSpPr/>
          <p:nvPr/>
        </p:nvSpPr>
        <p:spPr>
          <a:xfrm>
            <a:off x="5201208" y="2384022"/>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4" name="流程圖: 接點 373"/>
          <p:cNvSpPr/>
          <p:nvPr/>
        </p:nvSpPr>
        <p:spPr>
          <a:xfrm>
            <a:off x="5039190" y="25460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5" name="流程圖: 接點 374"/>
          <p:cNvSpPr/>
          <p:nvPr/>
        </p:nvSpPr>
        <p:spPr>
          <a:xfrm>
            <a:off x="5255214" y="25460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6" name="流程圖: 接點 375"/>
          <p:cNvSpPr/>
          <p:nvPr/>
        </p:nvSpPr>
        <p:spPr>
          <a:xfrm>
            <a:off x="5309220" y="227601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7" name="流程圖: 接點 376"/>
          <p:cNvSpPr/>
          <p:nvPr/>
        </p:nvSpPr>
        <p:spPr>
          <a:xfrm>
            <a:off x="5525244" y="270805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8" name="流程圖: 接點 377"/>
          <p:cNvSpPr/>
          <p:nvPr/>
        </p:nvSpPr>
        <p:spPr>
          <a:xfrm>
            <a:off x="5471238" y="243802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79" name="流程圖: 接點 378"/>
          <p:cNvSpPr/>
          <p:nvPr/>
        </p:nvSpPr>
        <p:spPr>
          <a:xfrm>
            <a:off x="5369514" y="26603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0" name="流程圖: 接點 379"/>
          <p:cNvSpPr/>
          <p:nvPr/>
        </p:nvSpPr>
        <p:spPr>
          <a:xfrm>
            <a:off x="5363226" y="287007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1" name="流程圖: 接點 380"/>
          <p:cNvSpPr/>
          <p:nvPr/>
        </p:nvSpPr>
        <p:spPr>
          <a:xfrm>
            <a:off x="5598114" y="28889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2" name="流程圖: 接點 381"/>
          <p:cNvSpPr/>
          <p:nvPr/>
        </p:nvSpPr>
        <p:spPr>
          <a:xfrm>
            <a:off x="5471238" y="303209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3" name="流程圖: 接點 382"/>
          <p:cNvSpPr/>
          <p:nvPr/>
        </p:nvSpPr>
        <p:spPr>
          <a:xfrm>
            <a:off x="5687262" y="270805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4" name="流程圖: 接點 383"/>
          <p:cNvSpPr/>
          <p:nvPr/>
        </p:nvSpPr>
        <p:spPr>
          <a:xfrm>
            <a:off x="5585538" y="2498322"/>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5" name="流程圖: 接點 384"/>
          <p:cNvSpPr/>
          <p:nvPr/>
        </p:nvSpPr>
        <p:spPr>
          <a:xfrm>
            <a:off x="5201208" y="276206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6" name="流程圖: 接點 385"/>
          <p:cNvSpPr/>
          <p:nvPr/>
        </p:nvSpPr>
        <p:spPr>
          <a:xfrm>
            <a:off x="6300192" y="267291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7" name="流程圖: 接點 386"/>
          <p:cNvSpPr/>
          <p:nvPr/>
        </p:nvSpPr>
        <p:spPr>
          <a:xfrm>
            <a:off x="6516216" y="28889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8" name="流程圖: 接點 387"/>
          <p:cNvSpPr/>
          <p:nvPr/>
        </p:nvSpPr>
        <p:spPr>
          <a:xfrm>
            <a:off x="6408204" y="278092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89" name="流程圖: 接點 388"/>
          <p:cNvSpPr/>
          <p:nvPr/>
        </p:nvSpPr>
        <p:spPr>
          <a:xfrm>
            <a:off x="6678234" y="2726922"/>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0" name="流程圖: 接點 389"/>
          <p:cNvSpPr/>
          <p:nvPr/>
        </p:nvSpPr>
        <p:spPr>
          <a:xfrm>
            <a:off x="6192180" y="256490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1" name="流程圖: 接點 390"/>
          <p:cNvSpPr/>
          <p:nvPr/>
        </p:nvSpPr>
        <p:spPr>
          <a:xfrm>
            <a:off x="6840252" y="267291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2" name="流程圖: 接點 391"/>
          <p:cNvSpPr/>
          <p:nvPr/>
        </p:nvSpPr>
        <p:spPr>
          <a:xfrm>
            <a:off x="6948264" y="283493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3" name="流程圖: 接點 392"/>
          <p:cNvSpPr/>
          <p:nvPr/>
        </p:nvSpPr>
        <p:spPr>
          <a:xfrm>
            <a:off x="6894258" y="30032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4" name="流程圖: 接點 393"/>
          <p:cNvSpPr/>
          <p:nvPr/>
        </p:nvSpPr>
        <p:spPr>
          <a:xfrm>
            <a:off x="7002270" y="267291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5" name="流程圖: 接點 394"/>
          <p:cNvSpPr/>
          <p:nvPr/>
        </p:nvSpPr>
        <p:spPr>
          <a:xfrm>
            <a:off x="7056276" y="294294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6" name="流程圖: 接點 395"/>
          <p:cNvSpPr/>
          <p:nvPr/>
        </p:nvSpPr>
        <p:spPr>
          <a:xfrm>
            <a:off x="6732240" y="288894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7" name="流程圖: 接點 396"/>
          <p:cNvSpPr/>
          <p:nvPr/>
        </p:nvSpPr>
        <p:spPr>
          <a:xfrm>
            <a:off x="7272300" y="315897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8" name="流程圖: 接點 397"/>
          <p:cNvSpPr/>
          <p:nvPr/>
        </p:nvSpPr>
        <p:spPr>
          <a:xfrm>
            <a:off x="7164288" y="305095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399" name="流程圖: 接點 398"/>
          <p:cNvSpPr/>
          <p:nvPr/>
        </p:nvSpPr>
        <p:spPr>
          <a:xfrm>
            <a:off x="5760132" y="342900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0" name="流程圖: 接點 399"/>
          <p:cNvSpPr/>
          <p:nvPr/>
        </p:nvSpPr>
        <p:spPr>
          <a:xfrm>
            <a:off x="5814138" y="3266982"/>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1" name="流程圖: 接點 400"/>
          <p:cNvSpPr/>
          <p:nvPr/>
        </p:nvSpPr>
        <p:spPr>
          <a:xfrm>
            <a:off x="5976156" y="3158970"/>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2" name="流程圖: 接點 401"/>
          <p:cNvSpPr/>
          <p:nvPr/>
        </p:nvSpPr>
        <p:spPr>
          <a:xfrm>
            <a:off x="6138174" y="321297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3" name="流程圖: 接點 402"/>
          <p:cNvSpPr/>
          <p:nvPr/>
        </p:nvSpPr>
        <p:spPr>
          <a:xfrm>
            <a:off x="5922150" y="348300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4" name="流程圖: 接點 403"/>
          <p:cNvSpPr/>
          <p:nvPr/>
        </p:nvSpPr>
        <p:spPr>
          <a:xfrm>
            <a:off x="5976156" y="3320988"/>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5" name="流程圖: 接點 404"/>
          <p:cNvSpPr/>
          <p:nvPr/>
        </p:nvSpPr>
        <p:spPr>
          <a:xfrm>
            <a:off x="6084168" y="348300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6" name="流程圖: 接點 405"/>
          <p:cNvSpPr/>
          <p:nvPr/>
        </p:nvSpPr>
        <p:spPr>
          <a:xfrm>
            <a:off x="6300192" y="3266982"/>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7" name="流程圖: 接點 406"/>
          <p:cNvSpPr/>
          <p:nvPr/>
        </p:nvSpPr>
        <p:spPr>
          <a:xfrm>
            <a:off x="6462210" y="337499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8" name="流程圖: 接點 407"/>
          <p:cNvSpPr/>
          <p:nvPr/>
        </p:nvSpPr>
        <p:spPr>
          <a:xfrm>
            <a:off x="6192180" y="3374994"/>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09" name="流程圖: 接點 408"/>
          <p:cNvSpPr/>
          <p:nvPr/>
        </p:nvSpPr>
        <p:spPr>
          <a:xfrm>
            <a:off x="6300192" y="3483006"/>
            <a:ext cx="108012" cy="108012"/>
          </a:xfrm>
          <a:prstGeom prst="flowChartConnector">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1" name="流程圖: 接點 410"/>
          <p:cNvSpPr/>
          <p:nvPr/>
        </p:nvSpPr>
        <p:spPr>
          <a:xfrm>
            <a:off x="3491880" y="4347102"/>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2" name="流程圖: 接點 411"/>
          <p:cNvSpPr/>
          <p:nvPr/>
        </p:nvSpPr>
        <p:spPr>
          <a:xfrm>
            <a:off x="3329862" y="450912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3" name="流程圖: 接點 412"/>
          <p:cNvSpPr/>
          <p:nvPr/>
        </p:nvSpPr>
        <p:spPr>
          <a:xfrm>
            <a:off x="3545886" y="450912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4" name="流程圖: 接點 413"/>
          <p:cNvSpPr/>
          <p:nvPr/>
        </p:nvSpPr>
        <p:spPr>
          <a:xfrm>
            <a:off x="3599892" y="423909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5" name="流程圖: 接點 414"/>
          <p:cNvSpPr/>
          <p:nvPr/>
        </p:nvSpPr>
        <p:spPr>
          <a:xfrm>
            <a:off x="3815916" y="467113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6" name="流程圖: 接點 415"/>
          <p:cNvSpPr/>
          <p:nvPr/>
        </p:nvSpPr>
        <p:spPr>
          <a:xfrm>
            <a:off x="3761910" y="440110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17" name="乘號 416"/>
          <p:cNvSpPr/>
          <p:nvPr/>
        </p:nvSpPr>
        <p:spPr>
          <a:xfrm>
            <a:off x="4463988" y="450912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18" name="乘號 417"/>
          <p:cNvSpPr/>
          <p:nvPr/>
        </p:nvSpPr>
        <p:spPr>
          <a:xfrm>
            <a:off x="4578288" y="462342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19" name="乘號 418"/>
          <p:cNvSpPr/>
          <p:nvPr/>
        </p:nvSpPr>
        <p:spPr>
          <a:xfrm>
            <a:off x="4692588" y="473772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0" name="乘號 419"/>
          <p:cNvSpPr/>
          <p:nvPr/>
        </p:nvSpPr>
        <p:spPr>
          <a:xfrm>
            <a:off x="4806888" y="485202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1" name="乘號 420"/>
          <p:cNvSpPr/>
          <p:nvPr/>
        </p:nvSpPr>
        <p:spPr>
          <a:xfrm>
            <a:off x="4950042" y="4671138"/>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2" name="乘號 421"/>
          <p:cNvSpPr/>
          <p:nvPr/>
        </p:nvSpPr>
        <p:spPr>
          <a:xfrm>
            <a:off x="5058054" y="4833156"/>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3" name="乘號 422"/>
          <p:cNvSpPr/>
          <p:nvPr/>
        </p:nvSpPr>
        <p:spPr>
          <a:xfrm>
            <a:off x="5220072" y="4995174"/>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4" name="乘號 423"/>
          <p:cNvSpPr/>
          <p:nvPr/>
        </p:nvSpPr>
        <p:spPr>
          <a:xfrm>
            <a:off x="5264088" y="477915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5" name="五角星形 424"/>
          <p:cNvSpPr/>
          <p:nvPr/>
        </p:nvSpPr>
        <p:spPr>
          <a:xfrm>
            <a:off x="4355976" y="5103186"/>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6" name="五角星形 425"/>
          <p:cNvSpPr/>
          <p:nvPr/>
        </p:nvSpPr>
        <p:spPr>
          <a:xfrm>
            <a:off x="4355976" y="5265204"/>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7" name="五角星形 426"/>
          <p:cNvSpPr/>
          <p:nvPr/>
        </p:nvSpPr>
        <p:spPr>
          <a:xfrm>
            <a:off x="4572000" y="515719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8" name="五角星形 427"/>
          <p:cNvSpPr/>
          <p:nvPr/>
        </p:nvSpPr>
        <p:spPr>
          <a:xfrm>
            <a:off x="4517994" y="542722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9" name="五角星形 428"/>
          <p:cNvSpPr/>
          <p:nvPr/>
        </p:nvSpPr>
        <p:spPr>
          <a:xfrm>
            <a:off x="4651158" y="534436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0" name="五角星形 429"/>
          <p:cNvSpPr/>
          <p:nvPr/>
        </p:nvSpPr>
        <p:spPr>
          <a:xfrm>
            <a:off x="4788024" y="542722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1" name="五角星形 430"/>
          <p:cNvSpPr/>
          <p:nvPr/>
        </p:nvSpPr>
        <p:spPr>
          <a:xfrm>
            <a:off x="4788024" y="5211198"/>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2" name="五角星形 431"/>
          <p:cNvSpPr/>
          <p:nvPr/>
        </p:nvSpPr>
        <p:spPr>
          <a:xfrm>
            <a:off x="4950042" y="5373216"/>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3" name="五角星形 432"/>
          <p:cNvSpPr/>
          <p:nvPr/>
        </p:nvSpPr>
        <p:spPr>
          <a:xfrm>
            <a:off x="4139952" y="5211198"/>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4" name="五角星形 433"/>
          <p:cNvSpPr/>
          <p:nvPr/>
        </p:nvSpPr>
        <p:spPr>
          <a:xfrm>
            <a:off x="4301970" y="5427222"/>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5" name="五角星形 434"/>
          <p:cNvSpPr/>
          <p:nvPr/>
        </p:nvSpPr>
        <p:spPr>
          <a:xfrm>
            <a:off x="4085946" y="5373216"/>
            <a:ext cx="162018" cy="162018"/>
          </a:xfrm>
          <a:prstGeom prst="star5">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36" name="流程圖: 接點 435"/>
          <p:cNvSpPr/>
          <p:nvPr/>
        </p:nvSpPr>
        <p:spPr>
          <a:xfrm>
            <a:off x="3660186" y="462342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37" name="流程圖: 接點 436"/>
          <p:cNvSpPr/>
          <p:nvPr/>
        </p:nvSpPr>
        <p:spPr>
          <a:xfrm>
            <a:off x="3653898" y="4833156"/>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38" name="流程圖: 接點 437"/>
          <p:cNvSpPr/>
          <p:nvPr/>
        </p:nvSpPr>
        <p:spPr>
          <a:xfrm>
            <a:off x="3888786" y="4852020"/>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39" name="流程圖: 接點 438"/>
          <p:cNvSpPr/>
          <p:nvPr/>
        </p:nvSpPr>
        <p:spPr>
          <a:xfrm>
            <a:off x="3761910" y="4995174"/>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40" name="流程圖: 接點 439"/>
          <p:cNvSpPr/>
          <p:nvPr/>
        </p:nvSpPr>
        <p:spPr>
          <a:xfrm>
            <a:off x="3977934" y="4671138"/>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41" name="流程圖: 接點 440"/>
          <p:cNvSpPr/>
          <p:nvPr/>
        </p:nvSpPr>
        <p:spPr>
          <a:xfrm>
            <a:off x="3876210" y="4461402"/>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42" name="流程圖: 接點 441"/>
          <p:cNvSpPr/>
          <p:nvPr/>
        </p:nvSpPr>
        <p:spPr>
          <a:xfrm>
            <a:off x="3491880" y="4725144"/>
            <a:ext cx="108012" cy="108012"/>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solidFill>
                <a:srgbClr val="FF0000"/>
              </a:solidFill>
            </a:endParaRPr>
          </a:p>
        </p:txBody>
      </p:sp>
      <p:sp>
        <p:nvSpPr>
          <p:cNvPr id="443" name="乘號 442"/>
          <p:cNvSpPr/>
          <p:nvPr/>
        </p:nvSpPr>
        <p:spPr>
          <a:xfrm>
            <a:off x="5378388" y="489345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4" name="乘號 443"/>
          <p:cNvSpPr/>
          <p:nvPr/>
        </p:nvSpPr>
        <p:spPr>
          <a:xfrm>
            <a:off x="5492688" y="500775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5" name="乘號 444"/>
          <p:cNvSpPr/>
          <p:nvPr/>
        </p:nvSpPr>
        <p:spPr>
          <a:xfrm>
            <a:off x="5274078" y="4617132"/>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6" name="乘號 445"/>
          <p:cNvSpPr/>
          <p:nvPr/>
        </p:nvSpPr>
        <p:spPr>
          <a:xfrm>
            <a:off x="5606988" y="5122050"/>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7" name="乘號 446"/>
          <p:cNvSpPr/>
          <p:nvPr/>
        </p:nvSpPr>
        <p:spPr>
          <a:xfrm>
            <a:off x="5112060" y="4617132"/>
            <a:ext cx="162018" cy="1620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8" name="流程圖: 決策 447"/>
          <p:cNvSpPr/>
          <p:nvPr/>
        </p:nvSpPr>
        <p:spPr>
          <a:xfrm>
            <a:off x="4193958" y="418508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49" name="流程圖: 決策 448"/>
          <p:cNvSpPr/>
          <p:nvPr/>
        </p:nvSpPr>
        <p:spPr>
          <a:xfrm>
            <a:off x="4031940" y="423909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0" name="流程圖: 決策 449"/>
          <p:cNvSpPr/>
          <p:nvPr/>
        </p:nvSpPr>
        <p:spPr>
          <a:xfrm>
            <a:off x="3653898" y="4401108"/>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1" name="流程圖: 決策 450"/>
          <p:cNvSpPr/>
          <p:nvPr/>
        </p:nvSpPr>
        <p:spPr>
          <a:xfrm>
            <a:off x="3761910" y="418508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2" name="流程圖: 決策 451"/>
          <p:cNvSpPr/>
          <p:nvPr/>
        </p:nvSpPr>
        <p:spPr>
          <a:xfrm>
            <a:off x="3437874" y="4563126"/>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3" name="流程圖: 決策 452"/>
          <p:cNvSpPr/>
          <p:nvPr/>
        </p:nvSpPr>
        <p:spPr>
          <a:xfrm>
            <a:off x="4463988" y="5211198"/>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4" name="流程圖: 決策 453"/>
          <p:cNvSpPr/>
          <p:nvPr/>
        </p:nvSpPr>
        <p:spPr>
          <a:xfrm>
            <a:off x="3977934" y="526520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5" name="流程圖: 決策 454"/>
          <p:cNvSpPr/>
          <p:nvPr/>
        </p:nvSpPr>
        <p:spPr>
          <a:xfrm>
            <a:off x="3815916"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6" name="流程圖: 決策 455"/>
          <p:cNvSpPr/>
          <p:nvPr/>
        </p:nvSpPr>
        <p:spPr>
          <a:xfrm>
            <a:off x="3869922" y="423909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7" name="流程圖: 決策 456"/>
          <p:cNvSpPr/>
          <p:nvPr/>
        </p:nvSpPr>
        <p:spPr>
          <a:xfrm>
            <a:off x="3761910" y="477915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8" name="流程圖: 決策 457"/>
          <p:cNvSpPr/>
          <p:nvPr/>
        </p:nvSpPr>
        <p:spPr>
          <a:xfrm>
            <a:off x="3977934" y="434710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59" name="流程圖: 決策 458"/>
          <p:cNvSpPr/>
          <p:nvPr/>
        </p:nvSpPr>
        <p:spPr>
          <a:xfrm>
            <a:off x="3977934" y="450912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0" name="流程圖: 決策 459"/>
          <p:cNvSpPr/>
          <p:nvPr/>
        </p:nvSpPr>
        <p:spPr>
          <a:xfrm>
            <a:off x="4301970" y="418508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1" name="流程圖: 決策 460"/>
          <p:cNvSpPr/>
          <p:nvPr/>
        </p:nvSpPr>
        <p:spPr>
          <a:xfrm>
            <a:off x="3977934"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2" name="流程圖: 決策 461"/>
          <p:cNvSpPr/>
          <p:nvPr/>
        </p:nvSpPr>
        <p:spPr>
          <a:xfrm>
            <a:off x="4463988" y="499517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3" name="流程圖: 決策 462"/>
          <p:cNvSpPr/>
          <p:nvPr/>
        </p:nvSpPr>
        <p:spPr>
          <a:xfrm>
            <a:off x="4301970" y="499517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4" name="流程圖: 決策 463"/>
          <p:cNvSpPr/>
          <p:nvPr/>
        </p:nvSpPr>
        <p:spPr>
          <a:xfrm>
            <a:off x="4247964" y="488716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5" name="流程圖: 決策 464"/>
          <p:cNvSpPr/>
          <p:nvPr/>
        </p:nvSpPr>
        <p:spPr>
          <a:xfrm>
            <a:off x="4139952" y="504918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6" name="流程圖: 決策 465"/>
          <p:cNvSpPr/>
          <p:nvPr/>
        </p:nvSpPr>
        <p:spPr>
          <a:xfrm>
            <a:off x="5004048" y="5265204"/>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7" name="流程圖: 決策 466"/>
          <p:cNvSpPr/>
          <p:nvPr/>
        </p:nvSpPr>
        <p:spPr>
          <a:xfrm>
            <a:off x="5112060"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8" name="流程圖: 決策 467"/>
          <p:cNvSpPr/>
          <p:nvPr/>
        </p:nvSpPr>
        <p:spPr>
          <a:xfrm>
            <a:off x="5166066" y="531921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69" name="流程圖: 決策 468"/>
          <p:cNvSpPr/>
          <p:nvPr/>
        </p:nvSpPr>
        <p:spPr>
          <a:xfrm>
            <a:off x="5274078"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0" name="流程圖: 決策 469"/>
          <p:cNvSpPr/>
          <p:nvPr/>
        </p:nvSpPr>
        <p:spPr>
          <a:xfrm>
            <a:off x="4409982" y="488716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1" name="流程圖: 決策 470"/>
          <p:cNvSpPr/>
          <p:nvPr/>
        </p:nvSpPr>
        <p:spPr>
          <a:xfrm>
            <a:off x="3653898"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2" name="流程圖: 決策 471"/>
          <p:cNvSpPr/>
          <p:nvPr/>
        </p:nvSpPr>
        <p:spPr>
          <a:xfrm>
            <a:off x="4572000" y="531921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3" name="流程圖: 決策 472"/>
          <p:cNvSpPr/>
          <p:nvPr/>
        </p:nvSpPr>
        <p:spPr>
          <a:xfrm>
            <a:off x="4788024" y="4671138"/>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4" name="流程圖: 決策 473"/>
          <p:cNvSpPr/>
          <p:nvPr/>
        </p:nvSpPr>
        <p:spPr>
          <a:xfrm>
            <a:off x="5652120" y="531921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5" name="流程圖: 決策 474"/>
          <p:cNvSpPr/>
          <p:nvPr/>
        </p:nvSpPr>
        <p:spPr>
          <a:xfrm>
            <a:off x="5436096" y="477915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6" name="流程圖: 決策 475"/>
          <p:cNvSpPr/>
          <p:nvPr/>
        </p:nvSpPr>
        <p:spPr>
          <a:xfrm>
            <a:off x="5706126" y="5427222"/>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7" name="流程圖: 決策 476"/>
          <p:cNvSpPr/>
          <p:nvPr/>
        </p:nvSpPr>
        <p:spPr>
          <a:xfrm>
            <a:off x="3450450" y="5331786"/>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8" name="流程圖: 決策 477"/>
          <p:cNvSpPr/>
          <p:nvPr/>
        </p:nvSpPr>
        <p:spPr>
          <a:xfrm>
            <a:off x="5328084" y="4509120"/>
            <a:ext cx="108012" cy="108012"/>
          </a:xfrm>
          <a:prstGeom prst="flowChartDecisi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79" name="手繪多邊形 478"/>
          <p:cNvSpPr/>
          <p:nvPr/>
        </p:nvSpPr>
        <p:spPr>
          <a:xfrm>
            <a:off x="3228585" y="4276857"/>
            <a:ext cx="1606463" cy="995819"/>
          </a:xfrm>
          <a:custGeom>
            <a:avLst/>
            <a:gdLst>
              <a:gd name="connsiteX0" fmla="*/ 2141951 w 2141951"/>
              <a:gd name="connsiteY0" fmla="*/ 0 h 1327759"/>
              <a:gd name="connsiteX1" fmla="*/ 1478071 w 2141951"/>
              <a:gd name="connsiteY1" fmla="*/ 187890 h 1327759"/>
              <a:gd name="connsiteX2" fmla="*/ 1215025 w 2141951"/>
              <a:gd name="connsiteY2" fmla="*/ 864296 h 1327759"/>
              <a:gd name="connsiteX3" fmla="*/ 889348 w 2141951"/>
              <a:gd name="connsiteY3" fmla="*/ 1290181 h 1327759"/>
              <a:gd name="connsiteX4" fmla="*/ 0 w 2141951"/>
              <a:gd name="connsiteY4" fmla="*/ 1089764 h 132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1951" h="1327759">
                <a:moveTo>
                  <a:pt x="2141951" y="0"/>
                </a:moveTo>
                <a:cubicBezTo>
                  <a:pt x="1887255" y="21920"/>
                  <a:pt x="1632559" y="43841"/>
                  <a:pt x="1478071" y="187890"/>
                </a:cubicBezTo>
                <a:cubicBezTo>
                  <a:pt x="1323583" y="331939"/>
                  <a:pt x="1313145" y="680581"/>
                  <a:pt x="1215025" y="864296"/>
                </a:cubicBezTo>
                <a:cubicBezTo>
                  <a:pt x="1116905" y="1048011"/>
                  <a:pt x="1091852" y="1252603"/>
                  <a:pt x="889348" y="1290181"/>
                </a:cubicBezTo>
                <a:cubicBezTo>
                  <a:pt x="686844" y="1327759"/>
                  <a:pt x="343422" y="1208761"/>
                  <a:pt x="0" y="1089764"/>
                </a:cubicBezTo>
              </a:path>
            </a:pathLst>
          </a:cu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480" name="手繪多邊形 479"/>
          <p:cNvSpPr/>
          <p:nvPr/>
        </p:nvSpPr>
        <p:spPr>
          <a:xfrm>
            <a:off x="4224403" y="4662032"/>
            <a:ext cx="1371600" cy="883085"/>
          </a:xfrm>
          <a:custGeom>
            <a:avLst/>
            <a:gdLst>
              <a:gd name="connsiteX0" fmla="*/ 0 w 1828800"/>
              <a:gd name="connsiteY0" fmla="*/ 0 h 1177447"/>
              <a:gd name="connsiteX1" fmla="*/ 450937 w 1828800"/>
              <a:gd name="connsiteY1" fmla="*/ 200417 h 1177447"/>
              <a:gd name="connsiteX2" fmla="*/ 864296 w 1828800"/>
              <a:gd name="connsiteY2" fmla="*/ 601249 h 1177447"/>
              <a:gd name="connsiteX3" fmla="*/ 1528175 w 1828800"/>
              <a:gd name="connsiteY3" fmla="*/ 764088 h 1177447"/>
              <a:gd name="connsiteX4" fmla="*/ 1828800 w 1828800"/>
              <a:gd name="connsiteY4" fmla="*/ 1177447 h 117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177447">
                <a:moveTo>
                  <a:pt x="0" y="0"/>
                </a:moveTo>
                <a:cubicBezTo>
                  <a:pt x="153444" y="50104"/>
                  <a:pt x="306888" y="100209"/>
                  <a:pt x="450937" y="200417"/>
                </a:cubicBezTo>
                <a:cubicBezTo>
                  <a:pt x="594986" y="300625"/>
                  <a:pt x="684756" y="507304"/>
                  <a:pt x="864296" y="601249"/>
                </a:cubicBezTo>
                <a:cubicBezTo>
                  <a:pt x="1043836" y="695194"/>
                  <a:pt x="1367425" y="668055"/>
                  <a:pt x="1528175" y="764088"/>
                </a:cubicBezTo>
                <a:cubicBezTo>
                  <a:pt x="1688925" y="860121"/>
                  <a:pt x="1758862" y="1018784"/>
                  <a:pt x="1828800" y="1177447"/>
                </a:cubicBezTo>
              </a:path>
            </a:pathLst>
          </a:cu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481" name="橢圓 480"/>
          <p:cNvSpPr/>
          <p:nvPr/>
        </p:nvSpPr>
        <p:spPr>
          <a:xfrm>
            <a:off x="4950042" y="2186862"/>
            <a:ext cx="972108" cy="1026114"/>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82" name="手繪多邊形 481"/>
          <p:cNvSpPr/>
          <p:nvPr/>
        </p:nvSpPr>
        <p:spPr>
          <a:xfrm>
            <a:off x="5394022" y="3000767"/>
            <a:ext cx="1438927" cy="646656"/>
          </a:xfrm>
          <a:custGeom>
            <a:avLst/>
            <a:gdLst>
              <a:gd name="connsiteX0" fmla="*/ 144049 w 1918569"/>
              <a:gd name="connsiteY0" fmla="*/ 599162 h 862208"/>
              <a:gd name="connsiteX1" fmla="*/ 807928 w 1918569"/>
              <a:gd name="connsiteY1" fmla="*/ 10438 h 862208"/>
              <a:gd name="connsiteX2" fmla="*/ 1810010 w 1918569"/>
              <a:gd name="connsiteY2" fmla="*/ 536531 h 862208"/>
              <a:gd name="connsiteX3" fmla="*/ 1459282 w 1918569"/>
              <a:gd name="connsiteY3" fmla="*/ 824630 h 862208"/>
              <a:gd name="connsiteX4" fmla="*/ 219205 w 1918569"/>
              <a:gd name="connsiteY4" fmla="*/ 762000 h 862208"/>
              <a:gd name="connsiteX5" fmla="*/ 144049 w 1918569"/>
              <a:gd name="connsiteY5" fmla="*/ 599162 h 86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8569" h="862208">
                <a:moveTo>
                  <a:pt x="144049" y="599162"/>
                </a:moveTo>
                <a:cubicBezTo>
                  <a:pt x="242170" y="473902"/>
                  <a:pt x="530268" y="20876"/>
                  <a:pt x="807928" y="10438"/>
                </a:cubicBezTo>
                <a:cubicBezTo>
                  <a:pt x="1085588" y="0"/>
                  <a:pt x="1701451" y="400832"/>
                  <a:pt x="1810010" y="536531"/>
                </a:cubicBezTo>
                <a:cubicBezTo>
                  <a:pt x="1918569" y="672230"/>
                  <a:pt x="1724416" y="787052"/>
                  <a:pt x="1459282" y="824630"/>
                </a:cubicBezTo>
                <a:cubicBezTo>
                  <a:pt x="1194148" y="862208"/>
                  <a:pt x="438411" y="801666"/>
                  <a:pt x="219205" y="762000"/>
                </a:cubicBezTo>
                <a:cubicBezTo>
                  <a:pt x="0" y="722334"/>
                  <a:pt x="45929" y="724422"/>
                  <a:pt x="144049" y="599162"/>
                </a:cubicBezTo>
                <a:close/>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83" name="手繪多邊形 482"/>
          <p:cNvSpPr/>
          <p:nvPr/>
        </p:nvSpPr>
        <p:spPr>
          <a:xfrm>
            <a:off x="6028150" y="2355676"/>
            <a:ext cx="1454585" cy="1066278"/>
          </a:xfrm>
          <a:custGeom>
            <a:avLst/>
            <a:gdLst>
              <a:gd name="connsiteX0" fmla="*/ 137787 w 1939446"/>
              <a:gd name="connsiteY0" fmla="*/ 56367 h 1421704"/>
              <a:gd name="connsiteX1" fmla="*/ 50104 w 1939446"/>
              <a:gd name="connsiteY1" fmla="*/ 231732 h 1421704"/>
              <a:gd name="connsiteX2" fmla="*/ 438411 w 1939446"/>
              <a:gd name="connsiteY2" fmla="*/ 908137 h 1421704"/>
              <a:gd name="connsiteX3" fmla="*/ 1678488 w 1939446"/>
              <a:gd name="connsiteY3" fmla="*/ 1359074 h 1421704"/>
              <a:gd name="connsiteX4" fmla="*/ 1929008 w 1939446"/>
              <a:gd name="connsiteY4" fmla="*/ 1283918 h 1421704"/>
              <a:gd name="connsiteX5" fmla="*/ 1741118 w 1939446"/>
              <a:gd name="connsiteY5" fmla="*/ 682669 h 1421704"/>
              <a:gd name="connsiteX6" fmla="*/ 1503124 w 1939446"/>
              <a:gd name="connsiteY6" fmla="*/ 306888 h 1421704"/>
              <a:gd name="connsiteX7" fmla="*/ 538619 w 1939446"/>
              <a:gd name="connsiteY7" fmla="*/ 43841 h 1421704"/>
              <a:gd name="connsiteX8" fmla="*/ 137787 w 1939446"/>
              <a:gd name="connsiteY8" fmla="*/ 56367 h 142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446" h="1421704">
                <a:moveTo>
                  <a:pt x="137787" y="56367"/>
                </a:moveTo>
                <a:cubicBezTo>
                  <a:pt x="56368" y="87682"/>
                  <a:pt x="0" y="89771"/>
                  <a:pt x="50104" y="231732"/>
                </a:cubicBezTo>
                <a:cubicBezTo>
                  <a:pt x="100208" y="373693"/>
                  <a:pt x="167014" y="720247"/>
                  <a:pt x="438411" y="908137"/>
                </a:cubicBezTo>
                <a:cubicBezTo>
                  <a:pt x="709808" y="1096027"/>
                  <a:pt x="1430055" y="1296444"/>
                  <a:pt x="1678488" y="1359074"/>
                </a:cubicBezTo>
                <a:cubicBezTo>
                  <a:pt x="1926921" y="1421704"/>
                  <a:pt x="1918570" y="1396652"/>
                  <a:pt x="1929008" y="1283918"/>
                </a:cubicBezTo>
                <a:cubicBezTo>
                  <a:pt x="1939446" y="1171184"/>
                  <a:pt x="1812099" y="845507"/>
                  <a:pt x="1741118" y="682669"/>
                </a:cubicBezTo>
                <a:cubicBezTo>
                  <a:pt x="1670137" y="519831"/>
                  <a:pt x="1703540" y="413359"/>
                  <a:pt x="1503124" y="306888"/>
                </a:cubicBezTo>
                <a:cubicBezTo>
                  <a:pt x="1302708" y="200417"/>
                  <a:pt x="768263" y="87682"/>
                  <a:pt x="538619" y="43841"/>
                </a:cubicBezTo>
                <a:cubicBezTo>
                  <a:pt x="308975" y="0"/>
                  <a:pt x="219206" y="25052"/>
                  <a:pt x="137787" y="56367"/>
                </a:cubicBezTo>
                <a:close/>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177113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Machine learning structure</a:t>
            </a:r>
            <a:endParaRPr lang="zh-TW" altLang="en-US" b="1" dirty="0"/>
          </a:p>
        </p:txBody>
      </p:sp>
      <p:sp>
        <p:nvSpPr>
          <p:cNvPr id="4" name="內容版面配置區 3"/>
          <p:cNvSpPr>
            <a:spLocks noGrp="1"/>
          </p:cNvSpPr>
          <p:nvPr>
            <p:ph idx="1"/>
          </p:nvPr>
        </p:nvSpPr>
        <p:spPr>
          <a:xfrm>
            <a:off x="628650" y="1371600"/>
            <a:ext cx="7886700" cy="4118373"/>
          </a:xfrm>
        </p:spPr>
        <p:txBody>
          <a:bodyPr/>
          <a:lstStyle/>
          <a:p>
            <a:r>
              <a:rPr lang="en-US" altLang="zh-TW" dirty="0"/>
              <a:t>Supervised learning</a:t>
            </a:r>
            <a:endParaRPr lang="zh-TW" altLang="en-US" dirty="0"/>
          </a:p>
        </p:txBody>
      </p:sp>
      <p:sp>
        <p:nvSpPr>
          <p:cNvPr id="3" name="Slide Number Placeholder 2">
            <a:extLst>
              <a:ext uri="{FF2B5EF4-FFF2-40B4-BE49-F238E27FC236}">
                <a16:creationId xmlns:a16="http://schemas.microsoft.com/office/drawing/2014/main" id="{40303F34-FAD5-47BC-A293-AE7D9A308EE3}"/>
              </a:ext>
            </a:extLst>
          </p:cNvPr>
          <p:cNvSpPr>
            <a:spLocks noGrp="1"/>
          </p:cNvSpPr>
          <p:nvPr>
            <p:ph type="sldNum" sz="quarter" idx="12"/>
          </p:nvPr>
        </p:nvSpPr>
        <p:spPr/>
        <p:txBody>
          <a:bodyPr/>
          <a:lstStyle/>
          <a:p>
            <a:fld id="{722B575E-21D9-4F81-9A86-37E23FE3D5CC}" type="slidenum">
              <a:rPr lang="zh-TW" altLang="en-US" smtClean="0"/>
              <a:t>25</a:t>
            </a:fld>
            <a:endParaRPr lang="zh-TW" altLang="en-US"/>
          </a:p>
        </p:txBody>
      </p:sp>
      <p:pic>
        <p:nvPicPr>
          <p:cNvPr id="2050" name="Picture 2" descr="C:\Users\Ian\Desktop\superv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977645"/>
            <a:ext cx="6716667" cy="411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490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6DE9332B-8147-4A8E-8827-5ED686268B32}"/>
              </a:ext>
            </a:extLst>
          </p:cNvPr>
          <p:cNvSpPr>
            <a:spLocks noGrp="1" noChangeArrowheads="1"/>
          </p:cNvSpPr>
          <p:nvPr>
            <p:ph type="title"/>
          </p:nvPr>
        </p:nvSpPr>
        <p:spPr>
          <a:xfrm>
            <a:off x="633966" y="228600"/>
            <a:ext cx="6150817" cy="719519"/>
          </a:xfrm>
        </p:spPr>
        <p:txBody>
          <a:bodyPr>
            <a:normAutofit fontScale="90000"/>
          </a:bodyPr>
          <a:lstStyle/>
          <a:p>
            <a:pPr eaLnBrk="1" hangingPunct="1"/>
            <a:r>
              <a:rPr lang="tr-TR" altLang="hi-IN" b="1" dirty="0"/>
              <a:t>Supervised Learning: Uses</a:t>
            </a:r>
          </a:p>
        </p:txBody>
      </p:sp>
      <p:sp>
        <p:nvSpPr>
          <p:cNvPr id="18436" name="Rectangle 3">
            <a:extLst>
              <a:ext uri="{FF2B5EF4-FFF2-40B4-BE49-F238E27FC236}">
                <a16:creationId xmlns:a16="http://schemas.microsoft.com/office/drawing/2014/main" id="{B847294E-7A32-4555-BBA5-A7BA636D4C25}"/>
              </a:ext>
            </a:extLst>
          </p:cNvPr>
          <p:cNvSpPr>
            <a:spLocks noGrp="1" noChangeArrowheads="1"/>
          </p:cNvSpPr>
          <p:nvPr>
            <p:ph type="body" idx="1"/>
          </p:nvPr>
        </p:nvSpPr>
        <p:spPr>
          <a:xfrm>
            <a:off x="628650" y="2594753"/>
            <a:ext cx="7886700" cy="2895219"/>
          </a:xfrm>
        </p:spPr>
        <p:txBody>
          <a:bodyPr>
            <a:normAutofit fontScale="85000" lnSpcReduction="20000"/>
          </a:bodyPr>
          <a:lstStyle/>
          <a:p>
            <a:pPr eaLnBrk="1" hangingPunct="1"/>
            <a:r>
              <a:rPr lang="tr-TR" altLang="hi-IN" dirty="0"/>
              <a:t>Prediction of future cases: Use the rule to predict the output for future inputs</a:t>
            </a:r>
          </a:p>
          <a:p>
            <a:pPr eaLnBrk="1" hangingPunct="1"/>
            <a:r>
              <a:rPr lang="tr-TR" altLang="hi-IN" dirty="0"/>
              <a:t>Knowledge extraction: The rule is easy to understand</a:t>
            </a:r>
          </a:p>
          <a:p>
            <a:pPr eaLnBrk="1" hangingPunct="1"/>
            <a:r>
              <a:rPr lang="tr-TR" altLang="hi-IN" dirty="0"/>
              <a:t>Compression: The rule is simpler than the data it explains</a:t>
            </a:r>
          </a:p>
          <a:p>
            <a:pPr eaLnBrk="1" hangingPunct="1"/>
            <a:r>
              <a:rPr lang="tr-TR" altLang="hi-IN" dirty="0"/>
              <a:t>Outlier detection: Exceptions that are not covered by the rule, e.g., fraud</a:t>
            </a:r>
          </a:p>
        </p:txBody>
      </p:sp>
      <p:sp>
        <p:nvSpPr>
          <p:cNvPr id="18437" name="TextBox 4">
            <a:extLst>
              <a:ext uri="{FF2B5EF4-FFF2-40B4-BE49-F238E27FC236}">
                <a16:creationId xmlns:a16="http://schemas.microsoft.com/office/drawing/2014/main" id="{967993CF-A928-4682-86DB-A3AB7B945A48}"/>
              </a:ext>
            </a:extLst>
          </p:cNvPr>
          <p:cNvSpPr txBox="1">
            <a:spLocks noChangeArrowheads="1"/>
          </p:cNvSpPr>
          <p:nvPr/>
        </p:nvSpPr>
        <p:spPr bwMode="auto">
          <a:xfrm>
            <a:off x="628650" y="1875235"/>
            <a:ext cx="79819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en-US" altLang="hi-IN" dirty="0">
                <a:latin typeface="Calibri" panose="020F0502020204030204" pitchFamily="34" charset="0"/>
                <a:cs typeface="Calibri" panose="020F0502020204030204" pitchFamily="34" charset="0"/>
              </a:rPr>
              <a:t>Example: Decision trees tools that create rules</a:t>
            </a:r>
          </a:p>
        </p:txBody>
      </p:sp>
      <p:sp>
        <p:nvSpPr>
          <p:cNvPr id="2" name="Slide Number Placeholder 1">
            <a:extLst>
              <a:ext uri="{FF2B5EF4-FFF2-40B4-BE49-F238E27FC236}">
                <a16:creationId xmlns:a16="http://schemas.microsoft.com/office/drawing/2014/main" id="{77559397-8FA8-465F-A913-6FCF33E0DE7C}"/>
              </a:ext>
            </a:extLst>
          </p:cNvPr>
          <p:cNvSpPr>
            <a:spLocks noGrp="1"/>
          </p:cNvSpPr>
          <p:nvPr>
            <p:ph type="sldNum" sz="quarter" idx="12"/>
          </p:nvPr>
        </p:nvSpPr>
        <p:spPr/>
        <p:txBody>
          <a:bodyPr/>
          <a:lstStyle/>
          <a:p>
            <a:fld id="{652A9C23-950F-4010-829B-E9AAD80F8BCB}" type="slidenum">
              <a:rPr lang="hi-IN" smtClean="0"/>
              <a:t>26</a:t>
            </a:fld>
            <a:endParaRPr lang="hi-IN"/>
          </a:p>
        </p:txBody>
      </p:sp>
    </p:spTree>
    <p:extLst>
      <p:ext uri="{BB962C8B-B14F-4D97-AF65-F5344CB8AC3E}">
        <p14:creationId xmlns:p14="http://schemas.microsoft.com/office/powerpoint/2010/main" val="1424564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Machine learning structure</a:t>
            </a:r>
            <a:endParaRPr lang="zh-TW" altLang="en-US" b="1" dirty="0"/>
          </a:p>
        </p:txBody>
      </p:sp>
      <p:sp>
        <p:nvSpPr>
          <p:cNvPr id="4" name="內容版面配置區 3"/>
          <p:cNvSpPr>
            <a:spLocks noGrp="1"/>
          </p:cNvSpPr>
          <p:nvPr>
            <p:ph idx="1"/>
          </p:nvPr>
        </p:nvSpPr>
        <p:spPr>
          <a:xfrm>
            <a:off x="628650" y="1560702"/>
            <a:ext cx="7886700" cy="4459098"/>
          </a:xfrm>
        </p:spPr>
        <p:txBody>
          <a:bodyPr/>
          <a:lstStyle/>
          <a:p>
            <a:r>
              <a:rPr lang="en-US" altLang="zh-TW" dirty="0"/>
              <a:t>Unsupervised learning</a:t>
            </a:r>
            <a:endParaRPr lang="zh-TW" altLang="en-US" dirty="0"/>
          </a:p>
        </p:txBody>
      </p:sp>
      <p:sp>
        <p:nvSpPr>
          <p:cNvPr id="3" name="Slide Number Placeholder 2">
            <a:extLst>
              <a:ext uri="{FF2B5EF4-FFF2-40B4-BE49-F238E27FC236}">
                <a16:creationId xmlns:a16="http://schemas.microsoft.com/office/drawing/2014/main" id="{113DDA7F-383B-403C-A686-FCFCD90FDEA8}"/>
              </a:ext>
            </a:extLst>
          </p:cNvPr>
          <p:cNvSpPr>
            <a:spLocks noGrp="1"/>
          </p:cNvSpPr>
          <p:nvPr>
            <p:ph type="sldNum" sz="quarter" idx="12"/>
          </p:nvPr>
        </p:nvSpPr>
        <p:spPr/>
        <p:txBody>
          <a:bodyPr/>
          <a:lstStyle/>
          <a:p>
            <a:fld id="{722B575E-21D9-4F81-9A86-37E23FE3D5CC}" type="slidenum">
              <a:rPr lang="zh-TW" altLang="en-US" smtClean="0"/>
              <a:t>27</a:t>
            </a:fld>
            <a:endParaRPr lang="zh-TW" altLang="en-US"/>
          </a:p>
        </p:txBody>
      </p:sp>
      <p:pic>
        <p:nvPicPr>
          <p:cNvPr id="3074" name="Picture 2" descr="C:\Users\Ian\Desktop\unsuperv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10897"/>
            <a:ext cx="7032013" cy="4072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499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3B627DF2-FD72-4F94-9A25-61D52D43C263}"/>
              </a:ext>
            </a:extLst>
          </p:cNvPr>
          <p:cNvSpPr>
            <a:spLocks noGrp="1" noChangeArrowheads="1"/>
          </p:cNvSpPr>
          <p:nvPr>
            <p:ph type="title"/>
          </p:nvPr>
        </p:nvSpPr>
        <p:spPr/>
        <p:txBody>
          <a:bodyPr/>
          <a:lstStyle/>
          <a:p>
            <a:pPr eaLnBrk="1" hangingPunct="1"/>
            <a:r>
              <a:rPr lang="tr-TR" altLang="hi-IN" b="1" dirty="0"/>
              <a:t>Unsupervised Learning</a:t>
            </a:r>
          </a:p>
        </p:txBody>
      </p:sp>
      <p:sp>
        <p:nvSpPr>
          <p:cNvPr id="19460" name="Rectangle 3">
            <a:extLst>
              <a:ext uri="{FF2B5EF4-FFF2-40B4-BE49-F238E27FC236}">
                <a16:creationId xmlns:a16="http://schemas.microsoft.com/office/drawing/2014/main" id="{9835F852-EB56-48B0-B5B3-0E8D9BADEBFB}"/>
              </a:ext>
            </a:extLst>
          </p:cNvPr>
          <p:cNvSpPr>
            <a:spLocks noGrp="1" noChangeArrowheads="1"/>
          </p:cNvSpPr>
          <p:nvPr>
            <p:ph type="body" idx="1"/>
          </p:nvPr>
        </p:nvSpPr>
        <p:spPr/>
        <p:txBody>
          <a:bodyPr/>
          <a:lstStyle/>
          <a:p>
            <a:pPr eaLnBrk="1" hangingPunct="1"/>
            <a:r>
              <a:rPr lang="tr-TR" altLang="hi-IN" dirty="0"/>
              <a:t>Learning “what normally happens”</a:t>
            </a:r>
          </a:p>
          <a:p>
            <a:pPr eaLnBrk="1" hangingPunct="1"/>
            <a:r>
              <a:rPr lang="tr-TR" altLang="hi-IN" dirty="0"/>
              <a:t>No output</a:t>
            </a:r>
          </a:p>
          <a:p>
            <a:pPr eaLnBrk="1" hangingPunct="1"/>
            <a:r>
              <a:rPr lang="tr-TR" altLang="hi-IN" dirty="0"/>
              <a:t>Clustering: Grouping similar instances</a:t>
            </a:r>
            <a:endParaRPr lang="en-US" altLang="hi-IN" dirty="0"/>
          </a:p>
          <a:p>
            <a:pPr eaLnBrk="1" hangingPunct="1"/>
            <a:r>
              <a:rPr lang="en-US" altLang="hi-IN" dirty="0"/>
              <a:t>Other applications: Summarization, Association Analysis</a:t>
            </a:r>
            <a:endParaRPr lang="tr-TR" altLang="hi-IN" dirty="0"/>
          </a:p>
          <a:p>
            <a:pPr eaLnBrk="1" hangingPunct="1"/>
            <a:r>
              <a:rPr lang="tr-TR" altLang="hi-IN" dirty="0"/>
              <a:t>Example applications</a:t>
            </a:r>
          </a:p>
          <a:p>
            <a:pPr lvl="1" eaLnBrk="1" hangingPunct="1"/>
            <a:r>
              <a:rPr lang="tr-TR" altLang="hi-IN" dirty="0"/>
              <a:t>Customer segmentation in C</a:t>
            </a:r>
            <a:r>
              <a:rPr lang="en-US" altLang="hi-IN" dirty="0" err="1"/>
              <a:t>ustomer</a:t>
            </a:r>
            <a:r>
              <a:rPr lang="en-US" altLang="hi-IN" dirty="0"/>
              <a:t> </a:t>
            </a:r>
            <a:r>
              <a:rPr lang="tr-TR" altLang="hi-IN" dirty="0"/>
              <a:t>R</a:t>
            </a:r>
            <a:r>
              <a:rPr lang="en-US" altLang="hi-IN" dirty="0" err="1"/>
              <a:t>elationship</a:t>
            </a:r>
            <a:r>
              <a:rPr lang="en-US" altLang="hi-IN" dirty="0"/>
              <a:t> </a:t>
            </a:r>
            <a:r>
              <a:rPr lang="tr-TR" altLang="hi-IN" dirty="0"/>
              <a:t>M</a:t>
            </a:r>
            <a:r>
              <a:rPr lang="en-US" altLang="hi-IN" dirty="0" err="1"/>
              <a:t>anagement</a:t>
            </a:r>
            <a:endParaRPr lang="tr-TR" altLang="hi-IN" dirty="0"/>
          </a:p>
          <a:p>
            <a:pPr lvl="1" eaLnBrk="1" hangingPunct="1"/>
            <a:r>
              <a:rPr lang="tr-TR" altLang="hi-IN" dirty="0"/>
              <a:t>Image compression: Color quantization</a:t>
            </a:r>
          </a:p>
          <a:p>
            <a:pPr lvl="1" eaLnBrk="1" hangingPunct="1"/>
            <a:r>
              <a:rPr lang="tr-TR" altLang="hi-IN" dirty="0"/>
              <a:t>Bioinformatics: Learning motifs</a:t>
            </a:r>
            <a:r>
              <a:rPr lang="en-US" altLang="hi-IN" dirty="0"/>
              <a:t> (patterns)</a:t>
            </a:r>
            <a:endParaRPr lang="tr-TR" altLang="hi-IN" dirty="0"/>
          </a:p>
        </p:txBody>
      </p:sp>
      <p:sp>
        <p:nvSpPr>
          <p:cNvPr id="2" name="Slide Number Placeholder 1">
            <a:extLst>
              <a:ext uri="{FF2B5EF4-FFF2-40B4-BE49-F238E27FC236}">
                <a16:creationId xmlns:a16="http://schemas.microsoft.com/office/drawing/2014/main" id="{BD8DABC8-276B-4F82-9332-3B9AFA549DA0}"/>
              </a:ext>
            </a:extLst>
          </p:cNvPr>
          <p:cNvSpPr>
            <a:spLocks noGrp="1"/>
          </p:cNvSpPr>
          <p:nvPr>
            <p:ph type="sldNum" sz="quarter" idx="12"/>
          </p:nvPr>
        </p:nvSpPr>
        <p:spPr/>
        <p:txBody>
          <a:bodyPr/>
          <a:lstStyle/>
          <a:p>
            <a:fld id="{652A9C23-950F-4010-829B-E9AAD80F8BCB}" type="slidenum">
              <a:rPr lang="hi-IN" smtClean="0"/>
              <a:t>28</a:t>
            </a:fld>
            <a:endParaRPr lang="hi-IN"/>
          </a:p>
        </p:txBody>
      </p:sp>
    </p:spTree>
    <p:extLst>
      <p:ext uri="{BB962C8B-B14F-4D97-AF65-F5344CB8AC3E}">
        <p14:creationId xmlns:p14="http://schemas.microsoft.com/office/powerpoint/2010/main" val="3590255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CFC7BCCC-A33E-47B8-BD5D-707C8BDC91CC}"/>
              </a:ext>
            </a:extLst>
          </p:cNvPr>
          <p:cNvSpPr>
            <a:spLocks noGrp="1" noChangeArrowheads="1"/>
          </p:cNvSpPr>
          <p:nvPr>
            <p:ph type="title"/>
          </p:nvPr>
        </p:nvSpPr>
        <p:spPr/>
        <p:txBody>
          <a:bodyPr/>
          <a:lstStyle/>
          <a:p>
            <a:pPr eaLnBrk="1" hangingPunct="1"/>
            <a:r>
              <a:rPr lang="tr-TR" altLang="hi-IN" b="1" dirty="0"/>
              <a:t>Reinforcement Learning</a:t>
            </a:r>
          </a:p>
        </p:txBody>
      </p:sp>
      <p:sp>
        <p:nvSpPr>
          <p:cNvPr id="20484" name="Rectangle 3">
            <a:extLst>
              <a:ext uri="{FF2B5EF4-FFF2-40B4-BE49-F238E27FC236}">
                <a16:creationId xmlns:a16="http://schemas.microsoft.com/office/drawing/2014/main" id="{D56AC6E3-B74C-4E59-82C3-FF657B3F80F7}"/>
              </a:ext>
            </a:extLst>
          </p:cNvPr>
          <p:cNvSpPr>
            <a:spLocks noGrp="1" noChangeArrowheads="1"/>
          </p:cNvSpPr>
          <p:nvPr>
            <p:ph type="body" idx="1"/>
          </p:nvPr>
        </p:nvSpPr>
        <p:spPr>
          <a:xfrm>
            <a:off x="628650" y="1600200"/>
            <a:ext cx="7886700" cy="3906441"/>
          </a:xfrm>
        </p:spPr>
        <p:txBody>
          <a:bodyPr>
            <a:normAutofit fontScale="77500" lnSpcReduction="20000"/>
          </a:bodyPr>
          <a:lstStyle/>
          <a:p>
            <a:pPr eaLnBrk="1" hangingPunct="1"/>
            <a:r>
              <a:rPr lang="en-US" altLang="hi-IN" dirty="0"/>
              <a:t>Topics:</a:t>
            </a:r>
          </a:p>
          <a:p>
            <a:pPr lvl="1" eaLnBrk="1" hangingPunct="1"/>
            <a:r>
              <a:rPr lang="en-US" altLang="hi-IN" dirty="0"/>
              <a:t>Policies</a:t>
            </a:r>
            <a:r>
              <a:rPr lang="tr-TR" altLang="hi-IN" dirty="0"/>
              <a:t>: </a:t>
            </a:r>
            <a:r>
              <a:rPr lang="en-US" altLang="hi-IN" dirty="0"/>
              <a:t>what actions should an agent take in a particular situation</a:t>
            </a:r>
          </a:p>
          <a:p>
            <a:pPr lvl="1" eaLnBrk="1" hangingPunct="1"/>
            <a:r>
              <a:rPr lang="en-US" altLang="hi-IN" dirty="0"/>
              <a:t>Utility estimation: how good is a state (</a:t>
            </a:r>
            <a:r>
              <a:rPr lang="en-US" altLang="hi-IN" dirty="0">
                <a:sym typeface="Wingdings" panose="05000000000000000000" pitchFamily="2" charset="2"/>
              </a:rPr>
              <a:t>used by policy)</a:t>
            </a:r>
            <a:endParaRPr lang="tr-TR" altLang="hi-IN" dirty="0"/>
          </a:p>
          <a:p>
            <a:pPr eaLnBrk="1" hangingPunct="1"/>
            <a:r>
              <a:rPr lang="tr-TR" altLang="hi-IN" dirty="0"/>
              <a:t>No supervised output but delayed reward</a:t>
            </a:r>
          </a:p>
          <a:p>
            <a:pPr eaLnBrk="1" hangingPunct="1"/>
            <a:r>
              <a:rPr lang="tr-TR" altLang="hi-IN" dirty="0"/>
              <a:t>Credit assignment problem</a:t>
            </a:r>
            <a:r>
              <a:rPr lang="en-US" altLang="hi-IN" dirty="0"/>
              <a:t> (what was responsible for the outcome) </a:t>
            </a:r>
          </a:p>
          <a:p>
            <a:pPr eaLnBrk="1" hangingPunct="1"/>
            <a:r>
              <a:rPr lang="en-US" altLang="hi-IN" dirty="0"/>
              <a:t>Applications: </a:t>
            </a:r>
            <a:endParaRPr lang="tr-TR" altLang="hi-IN" dirty="0"/>
          </a:p>
          <a:p>
            <a:pPr lvl="1" eaLnBrk="1" hangingPunct="1"/>
            <a:r>
              <a:rPr lang="tr-TR" altLang="hi-IN" dirty="0"/>
              <a:t>Game playing</a:t>
            </a:r>
          </a:p>
          <a:p>
            <a:pPr lvl="1" eaLnBrk="1" hangingPunct="1"/>
            <a:r>
              <a:rPr lang="tr-TR" altLang="hi-IN" dirty="0"/>
              <a:t>Robot in a maze</a:t>
            </a:r>
          </a:p>
          <a:p>
            <a:pPr lvl="1" eaLnBrk="1" hangingPunct="1"/>
            <a:r>
              <a:rPr lang="tr-TR" altLang="hi-IN" dirty="0"/>
              <a:t>Multiple agents, partial observability, ...</a:t>
            </a:r>
          </a:p>
        </p:txBody>
      </p:sp>
      <p:sp>
        <p:nvSpPr>
          <p:cNvPr id="2" name="Slide Number Placeholder 1">
            <a:extLst>
              <a:ext uri="{FF2B5EF4-FFF2-40B4-BE49-F238E27FC236}">
                <a16:creationId xmlns:a16="http://schemas.microsoft.com/office/drawing/2014/main" id="{AFFB2F0A-88FF-45EB-9BF3-CD816529FD8D}"/>
              </a:ext>
            </a:extLst>
          </p:cNvPr>
          <p:cNvSpPr>
            <a:spLocks noGrp="1"/>
          </p:cNvSpPr>
          <p:nvPr>
            <p:ph type="sldNum" sz="quarter" idx="12"/>
          </p:nvPr>
        </p:nvSpPr>
        <p:spPr/>
        <p:txBody>
          <a:bodyPr/>
          <a:lstStyle/>
          <a:p>
            <a:fld id="{652A9C23-950F-4010-829B-E9AAD80F8BCB}" type="slidenum">
              <a:rPr lang="hi-IN" smtClean="0"/>
              <a:t>29</a:t>
            </a:fld>
            <a:endParaRPr lang="hi-IN"/>
          </a:p>
        </p:txBody>
      </p:sp>
    </p:spTree>
    <p:extLst>
      <p:ext uri="{BB962C8B-B14F-4D97-AF65-F5344CB8AC3E}">
        <p14:creationId xmlns:p14="http://schemas.microsoft.com/office/powerpoint/2010/main" val="883810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Important concepts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r>
              <a:rPr lang="en-US" dirty="0"/>
              <a:t>The TF.IDF (</a:t>
            </a:r>
            <a:r>
              <a:rPr lang="en-IN" dirty="0"/>
              <a:t>Term Frequency times Inverse Document Frequency) a </a:t>
            </a:r>
            <a:r>
              <a:rPr lang="en-US" dirty="0"/>
              <a:t>measure of word importance.</a:t>
            </a:r>
          </a:p>
          <a:p>
            <a:pPr algn="just"/>
            <a:r>
              <a:rPr lang="en-US" dirty="0"/>
              <a:t>Hash functions and their use.</a:t>
            </a:r>
          </a:p>
          <a:p>
            <a:pPr algn="just"/>
            <a:r>
              <a:rPr lang="en-US" dirty="0"/>
              <a:t>Secondary storage (disk) and its effect on running time of algorithms.</a:t>
            </a:r>
          </a:p>
          <a:p>
            <a:pPr algn="just"/>
            <a:r>
              <a:rPr lang="en-US" dirty="0"/>
              <a:t>The base e of natural logarithms and identities involving that constant.</a:t>
            </a:r>
          </a:p>
          <a:p>
            <a:pPr algn="just"/>
            <a:r>
              <a:rPr lang="en-US" dirty="0"/>
              <a:t>Power laws</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30</a:t>
            </a:fld>
            <a:endParaRPr lang="en-US"/>
          </a:p>
        </p:txBody>
      </p:sp>
    </p:spTree>
    <p:extLst>
      <p:ext uri="{BB962C8B-B14F-4D97-AF65-F5344CB8AC3E}">
        <p14:creationId xmlns:p14="http://schemas.microsoft.com/office/powerpoint/2010/main" val="2085623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TF.IDF Measure</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Problem of categorizing documents (sequences of words) by their topic</a:t>
            </a:r>
          </a:p>
          <a:p>
            <a:pPr algn="just"/>
            <a:r>
              <a:rPr lang="en-US" dirty="0"/>
              <a:t>Used to find important words in a document and then characterize documents based on these words</a:t>
            </a:r>
          </a:p>
          <a:p>
            <a:pPr algn="just"/>
            <a:r>
              <a:rPr lang="en-IN" dirty="0"/>
              <a:t>TF-IDF measures the importance of a word based on its frequency in a document and its rarity across the document collection.</a:t>
            </a:r>
          </a:p>
          <a:p>
            <a:pPr algn="just"/>
            <a:r>
              <a:rPr lang="en-US" dirty="0"/>
              <a:t>TF.IDF - Term Frequency times Inverse Document Frequency</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31</a:t>
            </a:fld>
            <a:endParaRPr lang="en-US"/>
          </a:p>
        </p:txBody>
      </p:sp>
    </p:spTree>
    <p:extLst>
      <p:ext uri="{BB962C8B-B14F-4D97-AF65-F5344CB8AC3E}">
        <p14:creationId xmlns:p14="http://schemas.microsoft.com/office/powerpoint/2010/main" val="3129588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TF (Term Frequency)</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Term frequency of term </a:t>
            </a:r>
            <a:r>
              <a:rPr lang="en-US" dirty="0" err="1"/>
              <a:t>i</a:t>
            </a:r>
            <a:r>
              <a:rPr lang="en-US" dirty="0"/>
              <a:t> in document j is </a:t>
            </a:r>
            <a:r>
              <a:rPr lang="en-US" dirty="0" err="1"/>
              <a:t>fij</a:t>
            </a:r>
            <a:r>
              <a:rPr lang="en-US" dirty="0"/>
              <a:t> normalized by dividing it by the maximum number of occurrences of any term (perhaps excluding stop words) in the same document.</a:t>
            </a:r>
          </a:p>
          <a:p>
            <a:pPr algn="just"/>
            <a:endParaRPr lang="en-US" dirty="0"/>
          </a:p>
          <a:p>
            <a:pPr algn="just"/>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32</a:t>
            </a:fld>
            <a:endParaRPr lang="en-US"/>
          </a:p>
        </p:txBody>
      </p:sp>
      <p:pic>
        <p:nvPicPr>
          <p:cNvPr id="7" name="Picture 6">
            <a:extLst>
              <a:ext uri="{FF2B5EF4-FFF2-40B4-BE49-F238E27FC236}">
                <a16:creationId xmlns:a16="http://schemas.microsoft.com/office/drawing/2014/main" id="{D7D5135B-71ED-9C11-8A78-9FDEE58C9C1F}"/>
              </a:ext>
            </a:extLst>
          </p:cNvPr>
          <p:cNvPicPr>
            <a:picLocks noChangeAspect="1"/>
          </p:cNvPicPr>
          <p:nvPr/>
        </p:nvPicPr>
        <p:blipFill>
          <a:blip r:embed="rId3"/>
          <a:stretch>
            <a:fillRect/>
          </a:stretch>
        </p:blipFill>
        <p:spPr>
          <a:xfrm>
            <a:off x="3200400" y="3897796"/>
            <a:ext cx="2505425" cy="971686"/>
          </a:xfrm>
          <a:prstGeom prst="rect">
            <a:avLst/>
          </a:prstGeom>
        </p:spPr>
      </p:pic>
    </p:spTree>
    <p:extLst>
      <p:ext uri="{BB962C8B-B14F-4D97-AF65-F5344CB8AC3E}">
        <p14:creationId xmlns:p14="http://schemas.microsoft.com/office/powerpoint/2010/main" val="3546436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normAutofit fontScale="90000"/>
          </a:bodyPr>
          <a:lstStyle/>
          <a:p>
            <a:r>
              <a:rPr lang="en-IN" dirty="0"/>
              <a:t>IDF (Inverse Document Frequency)</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IN" dirty="0"/>
              <a:t>IDF is a measure of how many documents of the whole collection the word appears.</a:t>
            </a:r>
          </a:p>
          <a:p>
            <a:pPr algn="just"/>
            <a:r>
              <a:rPr lang="en-IN" dirty="0"/>
              <a:t>If there are N documents we need to characterize and we are looking for term </a:t>
            </a:r>
            <a:r>
              <a:rPr lang="en-IN" dirty="0" err="1"/>
              <a:t>i</a:t>
            </a:r>
            <a:r>
              <a:rPr lang="en-IN" dirty="0"/>
              <a:t> then IDF can be defined as follows:</a:t>
            </a:r>
          </a:p>
          <a:p>
            <a:pPr algn="just"/>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33</a:t>
            </a:fld>
            <a:endParaRPr lang="en-US"/>
          </a:p>
        </p:txBody>
      </p:sp>
      <p:pic>
        <p:nvPicPr>
          <p:cNvPr id="7" name="Picture 6">
            <a:extLst>
              <a:ext uri="{FF2B5EF4-FFF2-40B4-BE49-F238E27FC236}">
                <a16:creationId xmlns:a16="http://schemas.microsoft.com/office/drawing/2014/main" id="{DD7D8300-A6A0-70DE-5E6D-4CA536A74471}"/>
              </a:ext>
            </a:extLst>
          </p:cNvPr>
          <p:cNvPicPr>
            <a:picLocks noChangeAspect="1"/>
          </p:cNvPicPr>
          <p:nvPr/>
        </p:nvPicPr>
        <p:blipFill>
          <a:blip r:embed="rId3"/>
          <a:stretch>
            <a:fillRect/>
          </a:stretch>
        </p:blipFill>
        <p:spPr>
          <a:xfrm>
            <a:off x="2133600" y="4191000"/>
            <a:ext cx="3719684" cy="676306"/>
          </a:xfrm>
          <a:prstGeom prst="rect">
            <a:avLst/>
          </a:prstGeom>
        </p:spPr>
      </p:pic>
    </p:spTree>
    <p:extLst>
      <p:ext uri="{BB962C8B-B14F-4D97-AF65-F5344CB8AC3E}">
        <p14:creationId xmlns:p14="http://schemas.microsoft.com/office/powerpoint/2010/main" val="872006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1 </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Suppose our repository consists of 2</a:t>
            </a:r>
            <a:r>
              <a:rPr lang="en-US" baseline="30000" dirty="0"/>
              <a:t>20</a:t>
            </a:r>
            <a:r>
              <a:rPr lang="en-US" dirty="0"/>
              <a:t> = 1,048,576 documents. Suppose word w appears in 2</a:t>
            </a:r>
            <a:r>
              <a:rPr lang="en-US" baseline="30000" dirty="0"/>
              <a:t>10</a:t>
            </a:r>
            <a:r>
              <a:rPr lang="en-US" dirty="0"/>
              <a:t> = 1024 of these documents. Calculate IDF for word w.</a:t>
            </a:r>
          </a:p>
          <a:p>
            <a:pPr algn="just"/>
            <a:r>
              <a:rPr lang="en-US" dirty="0"/>
              <a:t>Ans: </a:t>
            </a:r>
            <a:r>
              <a:rPr lang="en-US" dirty="0">
                <a:solidFill>
                  <a:schemeClr val="bg1"/>
                </a:solidFill>
              </a:rPr>
              <a:t>10</a:t>
            </a:r>
            <a:endParaRPr lang="en-IN" dirty="0">
              <a:solidFill>
                <a:schemeClr val="bg1"/>
              </a:solidFill>
            </a:endParaRPr>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3787864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1 </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Suppose our repository consists of 2</a:t>
            </a:r>
            <a:r>
              <a:rPr lang="en-US" baseline="30000" dirty="0"/>
              <a:t>20</a:t>
            </a:r>
            <a:r>
              <a:rPr lang="en-US" dirty="0"/>
              <a:t> = 1,048,576 documents. Suppose word w appears in 2</a:t>
            </a:r>
            <a:r>
              <a:rPr lang="en-US" baseline="30000" dirty="0"/>
              <a:t>10</a:t>
            </a:r>
            <a:r>
              <a:rPr lang="en-US" dirty="0"/>
              <a:t> = 1024 of these documents. Calculate IDF for word w.</a:t>
            </a:r>
          </a:p>
          <a:p>
            <a:pPr algn="just"/>
            <a:r>
              <a:rPr lang="en-US" dirty="0"/>
              <a:t>Ans: 10</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19503578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2</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Consider a document j in which w appears 20 times, and that is the maximum number of times in which any word appears (perhaps after eliminating stop words). TF</a:t>
            </a:r>
            <a:r>
              <a:rPr lang="en-US" baseline="-25000" dirty="0"/>
              <a:t>wj</a:t>
            </a:r>
            <a:r>
              <a:rPr lang="en-US" dirty="0"/>
              <a:t> = 1. Calculate TF.IDF score for w in document j.</a:t>
            </a:r>
          </a:p>
          <a:p>
            <a:pPr algn="just"/>
            <a:r>
              <a:rPr lang="en-US" dirty="0"/>
              <a:t>Ans:</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36</a:t>
            </a:fld>
            <a:endParaRPr lang="en-US"/>
          </a:p>
        </p:txBody>
      </p:sp>
    </p:spTree>
    <p:extLst>
      <p:ext uri="{BB962C8B-B14F-4D97-AF65-F5344CB8AC3E}">
        <p14:creationId xmlns:p14="http://schemas.microsoft.com/office/powerpoint/2010/main" val="1507304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2</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Consider a document j in which w appears 20 times, and that is the maximum number of times in which any word appears (perhaps after eliminating stop words). TF</a:t>
            </a:r>
            <a:r>
              <a:rPr lang="en-US" baseline="-25000" dirty="0"/>
              <a:t>wj</a:t>
            </a:r>
            <a:r>
              <a:rPr lang="en-US" dirty="0"/>
              <a:t> = 1. Calculate TF.IDF score for w in document j.</a:t>
            </a:r>
          </a:p>
          <a:p>
            <a:pPr algn="just"/>
            <a:r>
              <a:rPr lang="en-US" dirty="0"/>
              <a:t>Ans: 10</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28072259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3</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For the same problem 2, Calculate </a:t>
            </a:r>
            <a:r>
              <a:rPr lang="en-US" dirty="0" err="1"/>
              <a:t>TF</a:t>
            </a:r>
            <a:r>
              <a:rPr lang="en-US" baseline="-25000" dirty="0" err="1"/>
              <a:t>wk</a:t>
            </a:r>
            <a:r>
              <a:rPr lang="en-US" dirty="0"/>
              <a:t> and TF.IDF</a:t>
            </a:r>
            <a:r>
              <a:rPr lang="en-US" baseline="-25000" dirty="0"/>
              <a:t>wk</a:t>
            </a:r>
            <a:r>
              <a:rPr lang="en-US" dirty="0"/>
              <a:t> score for w in document k if the number of occurrences of word w is one in document k.</a:t>
            </a:r>
          </a:p>
          <a:p>
            <a:pPr algn="just"/>
            <a:r>
              <a:rPr lang="en-US" dirty="0"/>
              <a:t>Ans: </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38</a:t>
            </a:fld>
            <a:endParaRPr lang="en-US"/>
          </a:p>
        </p:txBody>
      </p:sp>
    </p:spTree>
    <p:extLst>
      <p:ext uri="{BB962C8B-B14F-4D97-AF65-F5344CB8AC3E}">
        <p14:creationId xmlns:p14="http://schemas.microsoft.com/office/powerpoint/2010/main" val="2412646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Problem 3</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For the same problem 2, Calculate </a:t>
            </a:r>
            <a:r>
              <a:rPr lang="en-US" dirty="0" err="1"/>
              <a:t>TF</a:t>
            </a:r>
            <a:r>
              <a:rPr lang="en-US" baseline="-25000" dirty="0" err="1"/>
              <a:t>wk</a:t>
            </a:r>
            <a:r>
              <a:rPr lang="en-US" dirty="0"/>
              <a:t> and TF.IDF</a:t>
            </a:r>
            <a:r>
              <a:rPr lang="en-US" baseline="-25000" dirty="0"/>
              <a:t>wk</a:t>
            </a:r>
            <a:r>
              <a:rPr lang="en-US" dirty="0"/>
              <a:t> score for w in document k if the number of occurrences of word w is one in document k.</a:t>
            </a:r>
          </a:p>
          <a:p>
            <a:pPr algn="just"/>
            <a:r>
              <a:rPr lang="en-US" dirty="0"/>
              <a:t>Ans: 1/20, 1/2</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39</a:t>
            </a:fld>
            <a:endParaRPr lang="en-US"/>
          </a:p>
        </p:txBody>
      </p:sp>
    </p:spTree>
    <p:extLst>
      <p:ext uri="{BB962C8B-B14F-4D97-AF65-F5344CB8AC3E}">
        <p14:creationId xmlns:p14="http://schemas.microsoft.com/office/powerpoint/2010/main" val="1846028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Hash Functions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a:bodyPr>
          <a:lstStyle/>
          <a:p>
            <a:pPr algn="just"/>
            <a:r>
              <a:rPr lang="en-US" dirty="0"/>
              <a:t>Hash functions that make hash tables feasible.</a:t>
            </a:r>
          </a:p>
          <a:p>
            <a:pPr algn="just"/>
            <a:r>
              <a:rPr lang="en-IN" dirty="0"/>
              <a:t>For data-mining purposes, hash table takes a different form</a:t>
            </a:r>
          </a:p>
          <a:p>
            <a:pPr algn="just"/>
            <a:r>
              <a:rPr lang="en-US" dirty="0"/>
              <a:t>Hash function h takes a hash-key value as an argument and produces a bucket number as a result.</a:t>
            </a:r>
          </a:p>
          <a:p>
            <a:pPr algn="just"/>
            <a:r>
              <a:rPr lang="en-US" dirty="0"/>
              <a:t>Bucket number is an integer, normally in the range 0 to B-1 (B is no. of buckets)</a:t>
            </a:r>
          </a:p>
          <a:p>
            <a:pPr algn="just"/>
            <a:r>
              <a:rPr lang="en-US" dirty="0"/>
              <a:t>Hash-keys can be of any type</a:t>
            </a:r>
          </a:p>
          <a:p>
            <a:pPr algn="just"/>
            <a:r>
              <a:rPr lang="en-US" dirty="0"/>
              <a:t>Hash function “randomize” hash-keys</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dirty="0"/>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40</a:t>
            </a:fld>
            <a:endParaRPr lang="en-US"/>
          </a:p>
        </p:txBody>
      </p:sp>
    </p:spTree>
    <p:extLst>
      <p:ext uri="{BB962C8B-B14F-4D97-AF65-F5344CB8AC3E}">
        <p14:creationId xmlns:p14="http://schemas.microsoft.com/office/powerpoint/2010/main" val="6299199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Hash Functions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If hash-keys are drawn randomly from a reasonable population of possible hash-keys, then h will send approximately equal numbers of hash-keys to each of the B buckets. </a:t>
            </a:r>
          </a:p>
          <a:p>
            <a:pPr algn="just"/>
            <a:r>
              <a:rPr lang="en-US" dirty="0"/>
              <a:t>If the population of possible hash-keys were smaller than B then that population would not be “reasonable.”</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41</a:t>
            </a:fld>
            <a:endParaRPr lang="en-US"/>
          </a:p>
        </p:txBody>
      </p:sp>
    </p:spTree>
    <p:extLst>
      <p:ext uri="{BB962C8B-B14F-4D97-AF65-F5344CB8AC3E}">
        <p14:creationId xmlns:p14="http://schemas.microsoft.com/office/powerpoint/2010/main" val="2234418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Hash Functions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fontScale="92500" lnSpcReduction="20000"/>
          </a:bodyPr>
          <a:lstStyle/>
          <a:p>
            <a:pPr algn="just"/>
            <a:r>
              <a:rPr lang="en-US" dirty="0"/>
              <a:t>If hash-keys are strings, convert each character to its ASCII or Unicode equivalent, which can be interpreted as a small integer.</a:t>
            </a:r>
          </a:p>
          <a:p>
            <a:pPr algn="just"/>
            <a:r>
              <a:rPr lang="en-US" dirty="0"/>
              <a:t>Sum the integers before dividing by B. Incase B is smaller than the typical sum of character codes for the population of strings, the distribution into buckets will be relatively uniform. </a:t>
            </a:r>
          </a:p>
          <a:p>
            <a:pPr algn="just"/>
            <a:r>
              <a:rPr lang="en-US" dirty="0"/>
              <a:t>If B is larger, then we can partition the characters of a string into groups of several characters each. Treat the concatenation of the codes for the characters of a group as a single integer. Sum the integers associated with all the groups of a string, and divide by B as before.</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42</a:t>
            </a:fld>
            <a:endParaRPr lang="en-US"/>
          </a:p>
        </p:txBody>
      </p:sp>
    </p:spTree>
    <p:extLst>
      <p:ext uri="{BB962C8B-B14F-4D97-AF65-F5344CB8AC3E}">
        <p14:creationId xmlns:p14="http://schemas.microsoft.com/office/powerpoint/2010/main" val="1286325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Hash Functions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fontScale="85000" lnSpcReduction="10000"/>
          </a:bodyPr>
          <a:lstStyle/>
          <a:p>
            <a:pPr algn="just"/>
            <a:r>
              <a:rPr lang="en-US" dirty="0"/>
              <a:t>For more complex data types, we can extend the idea used for converting strings to integers, recursively.</a:t>
            </a:r>
          </a:p>
          <a:p>
            <a:pPr algn="just"/>
            <a:r>
              <a:rPr lang="en-US" dirty="0"/>
              <a:t>For a type that is a record, each of whose components has its own type, recursively convert the value of each component to an integer, using the algorithm appropriate for the type of that component. Sum the integers for the components, and convert the integer sum to buckets by dividing by B.</a:t>
            </a:r>
          </a:p>
          <a:p>
            <a:pPr algn="just"/>
            <a:r>
              <a:rPr lang="en-US" dirty="0"/>
              <a:t>For a type that is an array, set, or bag of elements of some one type, convert the values of the elements’ type to integers, sum the integers, and divide by B.</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43</a:t>
            </a:fld>
            <a:endParaRPr lang="en-US"/>
          </a:p>
        </p:txBody>
      </p:sp>
    </p:spTree>
    <p:extLst>
      <p:ext uri="{BB962C8B-B14F-4D97-AF65-F5344CB8AC3E}">
        <p14:creationId xmlns:p14="http://schemas.microsoft.com/office/powerpoint/2010/main" val="25578231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Indexes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a:bodyPr>
          <a:lstStyle/>
          <a:p>
            <a:pPr algn="just"/>
            <a:r>
              <a:rPr lang="en-US" dirty="0"/>
              <a:t>Data structure that makes it efficient to retrieve objects given the value of one or more elements of those objects.</a:t>
            </a:r>
          </a:p>
          <a:p>
            <a:pPr algn="just"/>
            <a:r>
              <a:rPr lang="en-US" dirty="0"/>
              <a:t>most common situation is one where the objects are records, and the index is on one of the fields of that record. </a:t>
            </a:r>
          </a:p>
          <a:p>
            <a:pPr algn="just"/>
            <a:r>
              <a:rPr lang="en-US" dirty="0"/>
              <a:t>Given a value v for that field, the index lets us retrieve all the records with value v in that field, without having to retrieve all the records in the file.</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44</a:t>
            </a:fld>
            <a:endParaRPr lang="en-US"/>
          </a:p>
        </p:txBody>
      </p:sp>
    </p:spTree>
    <p:extLst>
      <p:ext uri="{BB962C8B-B14F-4D97-AF65-F5344CB8AC3E}">
        <p14:creationId xmlns:p14="http://schemas.microsoft.com/office/powerpoint/2010/main" val="200296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Indexes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US" dirty="0"/>
              <a:t>A hash table is one simple way to build an index.</a:t>
            </a:r>
          </a:p>
          <a:p>
            <a:pPr algn="just"/>
            <a:r>
              <a:rPr lang="en-IN" dirty="0"/>
              <a:t>The field </a:t>
            </a:r>
            <a:r>
              <a:rPr lang="en-US" dirty="0"/>
              <a:t>or fields on which the index is based form the hash-key for a hash function.</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dirty="0"/>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45</a:t>
            </a:fld>
            <a:endParaRPr lang="en-US"/>
          </a:p>
        </p:txBody>
      </p:sp>
      <p:pic>
        <p:nvPicPr>
          <p:cNvPr id="7" name="Picture 6">
            <a:extLst>
              <a:ext uri="{FF2B5EF4-FFF2-40B4-BE49-F238E27FC236}">
                <a16:creationId xmlns:a16="http://schemas.microsoft.com/office/drawing/2014/main" id="{337DC72D-4F5B-A7D3-95BB-66D6641BDD30}"/>
              </a:ext>
            </a:extLst>
          </p:cNvPr>
          <p:cNvPicPr>
            <a:picLocks noChangeAspect="1"/>
          </p:cNvPicPr>
          <p:nvPr/>
        </p:nvPicPr>
        <p:blipFill>
          <a:blip r:embed="rId3"/>
          <a:stretch>
            <a:fillRect/>
          </a:stretch>
        </p:blipFill>
        <p:spPr>
          <a:xfrm>
            <a:off x="838200" y="3328334"/>
            <a:ext cx="7239000" cy="3375941"/>
          </a:xfrm>
          <a:prstGeom prst="rect">
            <a:avLst/>
          </a:prstGeom>
        </p:spPr>
      </p:pic>
    </p:spTree>
    <p:extLst>
      <p:ext uri="{BB962C8B-B14F-4D97-AF65-F5344CB8AC3E}">
        <p14:creationId xmlns:p14="http://schemas.microsoft.com/office/powerpoint/2010/main" val="3251068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Secondary Storage</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fontScale="92500"/>
          </a:bodyPr>
          <a:lstStyle/>
          <a:p>
            <a:pPr algn="just"/>
            <a:r>
              <a:rPr lang="en-US" dirty="0"/>
              <a:t>Knowledge of time taken to perform computations when the data is initially on disk is important</a:t>
            </a:r>
          </a:p>
          <a:p>
            <a:pPr algn="just"/>
            <a:r>
              <a:rPr lang="en-US" dirty="0"/>
              <a:t>Disks are organized into blocks, which are the minimum units that the operating system uses to move data between main memory and disk.</a:t>
            </a:r>
          </a:p>
          <a:p>
            <a:pPr algn="just"/>
            <a:r>
              <a:rPr lang="en-US" dirty="0"/>
              <a:t>The Windows operating system uses blocks of 64K bytes. It takes approximately ten milliseconds to access (move the disk head to the track of the block and wait for the block to rotate under the head) and read a disk block.</a:t>
            </a:r>
          </a:p>
          <a:p>
            <a:pPr marL="118872" indent="0" algn="just">
              <a:buNone/>
            </a:pP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10223699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Secondary Storage</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Autofit/>
          </a:bodyPr>
          <a:lstStyle/>
          <a:p>
            <a:pPr algn="just"/>
            <a:r>
              <a:rPr lang="en-US" sz="2200" dirty="0"/>
              <a:t>This access time is at least five orders of magnitude (a factor of 10</a:t>
            </a:r>
            <a:r>
              <a:rPr lang="en-US" sz="2200" baseline="30000" dirty="0"/>
              <a:t>5</a:t>
            </a:r>
            <a:r>
              <a:rPr lang="en-US" sz="2200" dirty="0"/>
              <a:t>) slower than the time taken to read a word from main memory.</a:t>
            </a:r>
          </a:p>
          <a:p>
            <a:pPr algn="just"/>
            <a:r>
              <a:rPr lang="en-US" sz="2200" dirty="0"/>
              <a:t>If we want to do something simple to every byte of a disk block, e.g., treat the block as a bucket of a hash table and search for a particular value of the hash-key among all the records in that bucket, then the time taken to move the block from disk to main memory will be far larger than the time taken to do the computation.</a:t>
            </a:r>
          </a:p>
          <a:p>
            <a:pPr algn="just"/>
            <a:r>
              <a:rPr lang="en-US" sz="2200" dirty="0"/>
              <a:t>By organizing our data so that related data is on a single cylinder (the collection of blocks reachable at a fixed radius from the center of the disk, and therefore accessible without moving the disk head), we can read all the blocks on the cylinder into main memory in considerably less than 10 milliseconds per block. You can assume that a disk cannot transfer data to main memory at more than a hundred million bytes per second, no matter how that data is organized.</a:t>
            </a:r>
            <a:endParaRPr lang="en-IN" sz="2200"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47</a:t>
            </a:fld>
            <a:endParaRPr lang="en-US"/>
          </a:p>
        </p:txBody>
      </p:sp>
    </p:spTree>
    <p:extLst>
      <p:ext uri="{BB962C8B-B14F-4D97-AF65-F5344CB8AC3E}">
        <p14:creationId xmlns:p14="http://schemas.microsoft.com/office/powerpoint/2010/main" val="491750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Base of Natural Logarithms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r>
              <a:rPr lang="en-IN" dirty="0"/>
              <a:t>Constant e has special properties.</a:t>
            </a:r>
          </a:p>
          <a:p>
            <a:r>
              <a:rPr lang="en-IN" dirty="0"/>
              <a:t>You get e, for                 when x tends to infinity</a:t>
            </a:r>
          </a:p>
          <a:p>
            <a:r>
              <a:rPr lang="en-IN" dirty="0"/>
              <a:t>We can approximate complex expressions using the above expression</a:t>
            </a:r>
          </a:p>
          <a:p>
            <a:r>
              <a:rPr lang="en-IN" dirty="0"/>
              <a:t>Consider                   for approximation</a:t>
            </a:r>
          </a:p>
          <a:p>
            <a:r>
              <a:rPr lang="en-IN" dirty="0"/>
              <a:t>Rewrite as: </a:t>
            </a:r>
          </a:p>
          <a:p>
            <a:r>
              <a:rPr lang="en-IN" dirty="0"/>
              <a:t>Substitute: a=1/x and 1/a=x.</a:t>
            </a:r>
          </a:p>
          <a:p>
            <a:endParaRPr lang="en-IN" dirty="0"/>
          </a:p>
          <a:p>
            <a:pPr marL="118872" indent="0">
              <a:buNone/>
            </a:pPr>
            <a:r>
              <a:rPr lang="en-IN" dirty="0"/>
              <a:t> Final :</a:t>
            </a:r>
          </a:p>
          <a:p>
            <a:endParaRPr lang="en-IN" dirty="0"/>
          </a:p>
          <a:p>
            <a:endParaRPr lang="en-IN" dirty="0"/>
          </a:p>
          <a:p>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48</a:t>
            </a:fld>
            <a:endParaRPr lang="en-US"/>
          </a:p>
        </p:txBody>
      </p:sp>
      <p:pic>
        <p:nvPicPr>
          <p:cNvPr id="7" name="Picture 6">
            <a:extLst>
              <a:ext uri="{FF2B5EF4-FFF2-40B4-BE49-F238E27FC236}">
                <a16:creationId xmlns:a16="http://schemas.microsoft.com/office/drawing/2014/main" id="{4B7D28ED-9FEB-1DF4-F139-B46251989A78}"/>
              </a:ext>
            </a:extLst>
          </p:cNvPr>
          <p:cNvPicPr>
            <a:picLocks noChangeAspect="1"/>
          </p:cNvPicPr>
          <p:nvPr/>
        </p:nvPicPr>
        <p:blipFill>
          <a:blip r:embed="rId3"/>
          <a:stretch>
            <a:fillRect/>
          </a:stretch>
        </p:blipFill>
        <p:spPr>
          <a:xfrm>
            <a:off x="3219166" y="1828800"/>
            <a:ext cx="1385964" cy="566437"/>
          </a:xfrm>
          <a:prstGeom prst="rect">
            <a:avLst/>
          </a:prstGeom>
        </p:spPr>
      </p:pic>
      <p:pic>
        <p:nvPicPr>
          <p:cNvPr id="9" name="Picture 8">
            <a:extLst>
              <a:ext uri="{FF2B5EF4-FFF2-40B4-BE49-F238E27FC236}">
                <a16:creationId xmlns:a16="http://schemas.microsoft.com/office/drawing/2014/main" id="{81546635-E206-2F2B-8FF8-4BBF438A6114}"/>
              </a:ext>
            </a:extLst>
          </p:cNvPr>
          <p:cNvPicPr>
            <a:picLocks noChangeAspect="1"/>
          </p:cNvPicPr>
          <p:nvPr/>
        </p:nvPicPr>
        <p:blipFill>
          <a:blip r:embed="rId4"/>
          <a:stretch>
            <a:fillRect/>
          </a:stretch>
        </p:blipFill>
        <p:spPr>
          <a:xfrm>
            <a:off x="2640595" y="3282134"/>
            <a:ext cx="1356815" cy="566437"/>
          </a:xfrm>
          <a:prstGeom prst="rect">
            <a:avLst/>
          </a:prstGeom>
        </p:spPr>
      </p:pic>
      <p:pic>
        <p:nvPicPr>
          <p:cNvPr id="11" name="Picture 10">
            <a:extLst>
              <a:ext uri="{FF2B5EF4-FFF2-40B4-BE49-F238E27FC236}">
                <a16:creationId xmlns:a16="http://schemas.microsoft.com/office/drawing/2014/main" id="{7C1E1897-C34D-BF1B-FABC-99E120DDD41B}"/>
              </a:ext>
            </a:extLst>
          </p:cNvPr>
          <p:cNvPicPr>
            <a:picLocks noChangeAspect="1"/>
          </p:cNvPicPr>
          <p:nvPr/>
        </p:nvPicPr>
        <p:blipFill>
          <a:blip r:embed="rId5"/>
          <a:stretch>
            <a:fillRect/>
          </a:stretch>
        </p:blipFill>
        <p:spPr>
          <a:xfrm>
            <a:off x="2938022" y="3811741"/>
            <a:ext cx="1862578" cy="457662"/>
          </a:xfrm>
          <a:prstGeom prst="rect">
            <a:avLst/>
          </a:prstGeom>
        </p:spPr>
      </p:pic>
      <p:pic>
        <p:nvPicPr>
          <p:cNvPr id="13" name="Picture 12">
            <a:extLst>
              <a:ext uri="{FF2B5EF4-FFF2-40B4-BE49-F238E27FC236}">
                <a16:creationId xmlns:a16="http://schemas.microsoft.com/office/drawing/2014/main" id="{8B01D506-62AD-37A3-F916-C48B4E6D1BCB}"/>
              </a:ext>
            </a:extLst>
          </p:cNvPr>
          <p:cNvPicPr>
            <a:picLocks noChangeAspect="1"/>
          </p:cNvPicPr>
          <p:nvPr/>
        </p:nvPicPr>
        <p:blipFill>
          <a:blip r:embed="rId6"/>
          <a:stretch>
            <a:fillRect/>
          </a:stretch>
        </p:blipFill>
        <p:spPr>
          <a:xfrm>
            <a:off x="5715000" y="4269404"/>
            <a:ext cx="1587405" cy="521734"/>
          </a:xfrm>
          <a:prstGeom prst="rect">
            <a:avLst/>
          </a:prstGeom>
        </p:spPr>
      </p:pic>
      <p:pic>
        <p:nvPicPr>
          <p:cNvPr id="15" name="Picture 14">
            <a:extLst>
              <a:ext uri="{FF2B5EF4-FFF2-40B4-BE49-F238E27FC236}">
                <a16:creationId xmlns:a16="http://schemas.microsoft.com/office/drawing/2014/main" id="{71D151EB-630F-C6E5-B945-1BDA6C1C30FC}"/>
              </a:ext>
            </a:extLst>
          </p:cNvPr>
          <p:cNvPicPr>
            <a:picLocks noChangeAspect="1"/>
          </p:cNvPicPr>
          <p:nvPr/>
        </p:nvPicPr>
        <p:blipFill>
          <a:blip r:embed="rId7"/>
          <a:stretch>
            <a:fillRect/>
          </a:stretch>
        </p:blipFill>
        <p:spPr>
          <a:xfrm>
            <a:off x="2938022" y="4791138"/>
            <a:ext cx="1862578" cy="817957"/>
          </a:xfrm>
          <a:prstGeom prst="rect">
            <a:avLst/>
          </a:prstGeom>
        </p:spPr>
      </p:pic>
      <p:pic>
        <p:nvPicPr>
          <p:cNvPr id="17" name="Picture 16">
            <a:extLst>
              <a:ext uri="{FF2B5EF4-FFF2-40B4-BE49-F238E27FC236}">
                <a16:creationId xmlns:a16="http://schemas.microsoft.com/office/drawing/2014/main" id="{EE28E62B-6F48-524C-7BE0-34925631173F}"/>
              </a:ext>
            </a:extLst>
          </p:cNvPr>
          <p:cNvPicPr>
            <a:picLocks noChangeAspect="1"/>
          </p:cNvPicPr>
          <p:nvPr/>
        </p:nvPicPr>
        <p:blipFill>
          <a:blip r:embed="rId8"/>
          <a:stretch>
            <a:fillRect/>
          </a:stretch>
        </p:blipFill>
        <p:spPr>
          <a:xfrm>
            <a:off x="1828800" y="5341390"/>
            <a:ext cx="815997" cy="535409"/>
          </a:xfrm>
          <a:prstGeom prst="rect">
            <a:avLst/>
          </a:prstGeom>
        </p:spPr>
      </p:pic>
    </p:spTree>
    <p:extLst>
      <p:ext uri="{BB962C8B-B14F-4D97-AF65-F5344CB8AC3E}">
        <p14:creationId xmlns:p14="http://schemas.microsoft.com/office/powerpoint/2010/main" val="250173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Base of Natural Logarithms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fontScale="92500"/>
          </a:bodyPr>
          <a:lstStyle/>
          <a:p>
            <a:r>
              <a:rPr lang="en-IN" dirty="0"/>
              <a:t>Taylor series</a:t>
            </a:r>
          </a:p>
          <a:p>
            <a:endParaRPr lang="en-IN" dirty="0"/>
          </a:p>
          <a:p>
            <a:endParaRPr lang="en-IN" dirty="0"/>
          </a:p>
          <a:p>
            <a:endParaRPr lang="en-IN" dirty="0"/>
          </a:p>
          <a:p>
            <a:endParaRPr lang="en-IN" dirty="0"/>
          </a:p>
          <a:p>
            <a:r>
              <a:rPr lang="en-US" dirty="0"/>
              <a:t>When x is large, the above series converges slowly, although it does converge because n! grows faster than x</a:t>
            </a:r>
            <a:r>
              <a:rPr lang="en-US" baseline="30000" dirty="0"/>
              <a:t>n</a:t>
            </a:r>
            <a:r>
              <a:rPr lang="en-US" dirty="0"/>
              <a:t> for any constant x. However, when x is small, either positive or negative, the series converges rapidly, and only a few terms are necessary to get a good approximation.</a:t>
            </a:r>
            <a:endParaRPr lang="en-IN" dirty="0"/>
          </a:p>
          <a:p>
            <a:endParaRPr lang="en-IN" dirty="0"/>
          </a:p>
          <a:p>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49</a:t>
            </a:fld>
            <a:endParaRPr lang="en-US"/>
          </a:p>
        </p:txBody>
      </p:sp>
      <p:pic>
        <p:nvPicPr>
          <p:cNvPr id="7" name="Picture 6">
            <a:extLst>
              <a:ext uri="{FF2B5EF4-FFF2-40B4-BE49-F238E27FC236}">
                <a16:creationId xmlns:a16="http://schemas.microsoft.com/office/drawing/2014/main" id="{777E225B-FC1A-C2E9-B1E2-CE1C749FC4D6}"/>
              </a:ext>
            </a:extLst>
          </p:cNvPr>
          <p:cNvPicPr>
            <a:picLocks noChangeAspect="1"/>
          </p:cNvPicPr>
          <p:nvPr/>
        </p:nvPicPr>
        <p:blipFill>
          <a:blip r:embed="rId3"/>
          <a:stretch>
            <a:fillRect/>
          </a:stretch>
        </p:blipFill>
        <p:spPr>
          <a:xfrm>
            <a:off x="95757" y="2057400"/>
            <a:ext cx="8620860" cy="914400"/>
          </a:xfrm>
          <a:prstGeom prst="rect">
            <a:avLst/>
          </a:prstGeom>
        </p:spPr>
      </p:pic>
    </p:spTree>
    <p:extLst>
      <p:ext uri="{BB962C8B-B14F-4D97-AF65-F5344CB8AC3E}">
        <p14:creationId xmlns:p14="http://schemas.microsoft.com/office/powerpoint/2010/main" val="1724679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Power Laws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pPr algn="just"/>
            <a:r>
              <a:rPr lang="en-IN" dirty="0"/>
              <a:t>One important law where so many applications are there.</a:t>
            </a:r>
          </a:p>
          <a:p>
            <a:pPr algn="just"/>
            <a:r>
              <a:rPr lang="en-US" dirty="0"/>
              <a:t>Power law is a linear relationship between the logarithms of the variables.</a:t>
            </a:r>
          </a:p>
          <a:p>
            <a:pPr algn="just"/>
            <a:r>
              <a:rPr lang="en-IN" dirty="0"/>
              <a:t>General form:</a:t>
            </a:r>
          </a:p>
          <a:p>
            <a:pPr algn="just"/>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50</a:t>
            </a:fld>
            <a:endParaRPr lang="en-US"/>
          </a:p>
        </p:txBody>
      </p:sp>
      <p:pic>
        <p:nvPicPr>
          <p:cNvPr id="7" name="Picture 6">
            <a:extLst>
              <a:ext uri="{FF2B5EF4-FFF2-40B4-BE49-F238E27FC236}">
                <a16:creationId xmlns:a16="http://schemas.microsoft.com/office/drawing/2014/main" id="{14300AAB-673F-3F40-10C6-0F6D0A51E3AB}"/>
              </a:ext>
            </a:extLst>
          </p:cNvPr>
          <p:cNvPicPr>
            <a:picLocks noChangeAspect="1"/>
          </p:cNvPicPr>
          <p:nvPr/>
        </p:nvPicPr>
        <p:blipFill>
          <a:blip r:embed="rId3"/>
          <a:stretch>
            <a:fillRect/>
          </a:stretch>
        </p:blipFill>
        <p:spPr>
          <a:xfrm>
            <a:off x="2743200" y="4191000"/>
            <a:ext cx="3718554" cy="533400"/>
          </a:xfrm>
          <a:prstGeom prst="rect">
            <a:avLst/>
          </a:prstGeom>
        </p:spPr>
      </p:pic>
    </p:spTree>
    <p:extLst>
      <p:ext uri="{BB962C8B-B14F-4D97-AF65-F5344CB8AC3E}">
        <p14:creationId xmlns:p14="http://schemas.microsoft.com/office/powerpoint/2010/main" val="18417326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Power Laws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lstStyle/>
          <a:p>
            <a:r>
              <a:rPr lang="en-IN" dirty="0"/>
              <a:t>Ranking of books based on their selling figures</a:t>
            </a:r>
          </a:p>
          <a:p>
            <a:endParaRPr lang="en-IN" dirty="0"/>
          </a:p>
          <a:p>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51</a:t>
            </a:fld>
            <a:endParaRPr lang="en-US"/>
          </a:p>
        </p:txBody>
      </p:sp>
      <p:pic>
        <p:nvPicPr>
          <p:cNvPr id="9" name="Picture 8">
            <a:extLst>
              <a:ext uri="{FF2B5EF4-FFF2-40B4-BE49-F238E27FC236}">
                <a16:creationId xmlns:a16="http://schemas.microsoft.com/office/drawing/2014/main" id="{666DAFCB-4359-495D-AB17-E54FC5C9319C}"/>
              </a:ext>
            </a:extLst>
          </p:cNvPr>
          <p:cNvPicPr>
            <a:picLocks noChangeAspect="1"/>
          </p:cNvPicPr>
          <p:nvPr/>
        </p:nvPicPr>
        <p:blipFill>
          <a:blip r:embed="rId3"/>
          <a:stretch>
            <a:fillRect/>
          </a:stretch>
        </p:blipFill>
        <p:spPr>
          <a:xfrm>
            <a:off x="3428999" y="2291374"/>
            <a:ext cx="4181899" cy="4162235"/>
          </a:xfrm>
          <a:prstGeom prst="rect">
            <a:avLst/>
          </a:prstGeom>
        </p:spPr>
      </p:pic>
      <p:pic>
        <p:nvPicPr>
          <p:cNvPr id="11" name="Picture 10">
            <a:extLst>
              <a:ext uri="{FF2B5EF4-FFF2-40B4-BE49-F238E27FC236}">
                <a16:creationId xmlns:a16="http://schemas.microsoft.com/office/drawing/2014/main" id="{CCC1BAA5-1EEC-06DA-A62C-B904DFFEECF7}"/>
              </a:ext>
            </a:extLst>
          </p:cNvPr>
          <p:cNvPicPr>
            <a:picLocks noChangeAspect="1"/>
          </p:cNvPicPr>
          <p:nvPr/>
        </p:nvPicPr>
        <p:blipFill>
          <a:blip r:embed="rId4"/>
          <a:stretch>
            <a:fillRect/>
          </a:stretch>
        </p:blipFill>
        <p:spPr>
          <a:xfrm>
            <a:off x="914400" y="3709957"/>
            <a:ext cx="2667372" cy="428685"/>
          </a:xfrm>
          <a:prstGeom prst="rect">
            <a:avLst/>
          </a:prstGeom>
        </p:spPr>
      </p:pic>
    </p:spTree>
    <p:extLst>
      <p:ext uri="{BB962C8B-B14F-4D97-AF65-F5344CB8AC3E}">
        <p14:creationId xmlns:p14="http://schemas.microsoft.com/office/powerpoint/2010/main" val="1721335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r>
              <a:rPr lang="en-IN" dirty="0"/>
              <a:t>Other real-world applications</a:t>
            </a:r>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p:txBody>
          <a:bodyPr>
            <a:normAutofit lnSpcReduction="10000"/>
          </a:bodyPr>
          <a:lstStyle/>
          <a:p>
            <a:pPr algn="just"/>
            <a:r>
              <a:rPr lang="en-US" dirty="0"/>
              <a:t>Node Degrees in the Web Graph: Order all pages by the number of </a:t>
            </a:r>
            <a:r>
              <a:rPr lang="en-US" dirty="0" err="1"/>
              <a:t>inlinks</a:t>
            </a:r>
            <a:r>
              <a:rPr lang="en-US" dirty="0"/>
              <a:t> to that page.</a:t>
            </a:r>
          </a:p>
          <a:p>
            <a:pPr algn="just"/>
            <a:r>
              <a:rPr lang="en-US" dirty="0"/>
              <a:t>Sales of Products: Order products, say books at Amazon.com, by their sales over the past year.</a:t>
            </a:r>
          </a:p>
          <a:p>
            <a:pPr algn="just"/>
            <a:r>
              <a:rPr lang="en-US" dirty="0"/>
              <a:t>Sizes of Web Sites: Count the number of pages at Web sites, and order sites by the number of their pages.</a:t>
            </a:r>
          </a:p>
          <a:p>
            <a:pPr algn="just"/>
            <a:r>
              <a:rPr lang="en-US" dirty="0" err="1"/>
              <a:t>Zipf</a:t>
            </a:r>
            <a:r>
              <a:rPr lang="en-US" dirty="0"/>
              <a:t> ’s Law: This power law originally referred to the frequency of words in a collection of documents.</a:t>
            </a:r>
            <a:endParaRPr lang="en-IN" dirty="0"/>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52</a:t>
            </a:fld>
            <a:endParaRPr lang="en-US"/>
          </a:p>
        </p:txBody>
      </p:sp>
    </p:spTree>
    <p:extLst>
      <p:ext uri="{BB962C8B-B14F-4D97-AF65-F5344CB8AC3E}">
        <p14:creationId xmlns:p14="http://schemas.microsoft.com/office/powerpoint/2010/main" val="13419074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D8F97-E6F7-4AC2-FCF5-349FFE50EA3F}"/>
              </a:ext>
            </a:extLst>
          </p:cNvPr>
          <p:cNvSpPr>
            <a:spLocks noGrp="1"/>
          </p:cNvSpPr>
          <p:nvPr>
            <p:ph type="title"/>
          </p:nvPr>
        </p:nvSpPr>
        <p:spPr/>
        <p:txBody>
          <a:bodyPr/>
          <a:lstStyle/>
          <a:p>
            <a:r>
              <a:rPr lang="en-US" dirty="0"/>
              <a:t>Exercises</a:t>
            </a:r>
            <a:endParaRPr lang="en-IN" dirty="0"/>
          </a:p>
        </p:txBody>
      </p:sp>
      <p:pic>
        <p:nvPicPr>
          <p:cNvPr id="7" name="Content Placeholder 6">
            <a:extLst>
              <a:ext uri="{FF2B5EF4-FFF2-40B4-BE49-F238E27FC236}">
                <a16:creationId xmlns:a16="http://schemas.microsoft.com/office/drawing/2014/main" id="{918878BC-CD32-C949-B756-9D227D039062}"/>
              </a:ext>
            </a:extLst>
          </p:cNvPr>
          <p:cNvPicPr>
            <a:picLocks noGrp="1" noChangeAspect="1"/>
          </p:cNvPicPr>
          <p:nvPr>
            <p:ph idx="1"/>
          </p:nvPr>
        </p:nvPicPr>
        <p:blipFill>
          <a:blip r:embed="rId3"/>
          <a:stretch>
            <a:fillRect/>
          </a:stretch>
        </p:blipFill>
        <p:spPr>
          <a:xfrm>
            <a:off x="228600" y="1219200"/>
            <a:ext cx="8229600" cy="2413252"/>
          </a:xfrm>
        </p:spPr>
      </p:pic>
      <p:sp>
        <p:nvSpPr>
          <p:cNvPr id="4" name="Footer Placeholder 3">
            <a:extLst>
              <a:ext uri="{FF2B5EF4-FFF2-40B4-BE49-F238E27FC236}">
                <a16:creationId xmlns:a16="http://schemas.microsoft.com/office/drawing/2014/main" id="{7DDE5E25-7385-9E63-FD8B-9C5D34C0EAF8}"/>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ECFADBC8-7A37-DD8E-927A-389BBBD97CAC}"/>
              </a:ext>
            </a:extLst>
          </p:cNvPr>
          <p:cNvSpPr>
            <a:spLocks noGrp="1"/>
          </p:cNvSpPr>
          <p:nvPr>
            <p:ph type="sldNum" sz="quarter" idx="12"/>
          </p:nvPr>
        </p:nvSpPr>
        <p:spPr/>
        <p:txBody>
          <a:bodyPr/>
          <a:lstStyle/>
          <a:p>
            <a:fld id="{19B12225-5612-419B-A8D5-4B8EEE4C217E}" type="slidenum">
              <a:rPr lang="en-US" smtClean="0"/>
              <a:pPr/>
              <a:t>53</a:t>
            </a:fld>
            <a:endParaRPr lang="en-US"/>
          </a:p>
        </p:txBody>
      </p:sp>
      <p:pic>
        <p:nvPicPr>
          <p:cNvPr id="9" name="Picture 8">
            <a:extLst>
              <a:ext uri="{FF2B5EF4-FFF2-40B4-BE49-F238E27FC236}">
                <a16:creationId xmlns:a16="http://schemas.microsoft.com/office/drawing/2014/main" id="{DBDFA19D-1172-F634-D6CD-4F37AFB2AE84}"/>
              </a:ext>
            </a:extLst>
          </p:cNvPr>
          <p:cNvPicPr>
            <a:picLocks noChangeAspect="1"/>
          </p:cNvPicPr>
          <p:nvPr/>
        </p:nvPicPr>
        <p:blipFill>
          <a:blip r:embed="rId4"/>
          <a:stretch>
            <a:fillRect/>
          </a:stretch>
        </p:blipFill>
        <p:spPr>
          <a:xfrm>
            <a:off x="261731" y="3841064"/>
            <a:ext cx="6139070" cy="1107865"/>
          </a:xfrm>
          <a:prstGeom prst="rect">
            <a:avLst/>
          </a:prstGeom>
        </p:spPr>
      </p:pic>
    </p:spTree>
    <p:extLst>
      <p:ext uri="{BB962C8B-B14F-4D97-AF65-F5344CB8AC3E}">
        <p14:creationId xmlns:p14="http://schemas.microsoft.com/office/powerpoint/2010/main" val="2123667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4CC9-EC2E-E635-F627-479D311E21C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8879617-CEA8-DDF5-E9A7-0AAF46D42CEE}"/>
              </a:ext>
            </a:extLst>
          </p:cNvPr>
          <p:cNvSpPr>
            <a:spLocks noGrp="1"/>
          </p:cNvSpPr>
          <p:nvPr>
            <p:ph idx="1"/>
          </p:nvPr>
        </p:nvSpPr>
        <p:spPr>
          <a:xfrm>
            <a:off x="304800" y="3382618"/>
            <a:ext cx="8229600" cy="987553"/>
          </a:xfrm>
        </p:spPr>
        <p:txBody>
          <a:bodyPr/>
          <a:lstStyle/>
          <a:p>
            <a:pPr marL="118872" indent="0" algn="ctr">
              <a:buNone/>
            </a:pPr>
            <a:r>
              <a:rPr lang="en-IN" dirty="0"/>
              <a:t>THANK YOU</a:t>
            </a:r>
          </a:p>
        </p:txBody>
      </p:sp>
      <p:sp>
        <p:nvSpPr>
          <p:cNvPr id="4" name="Footer Placeholder 3">
            <a:extLst>
              <a:ext uri="{FF2B5EF4-FFF2-40B4-BE49-F238E27FC236}">
                <a16:creationId xmlns:a16="http://schemas.microsoft.com/office/drawing/2014/main" id="{1024176D-21CB-7F19-C451-1E3E4E8D75DB}"/>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944F610-9C8A-CD2B-D9F8-75633FDD99BF}"/>
              </a:ext>
            </a:extLst>
          </p:cNvPr>
          <p:cNvSpPr>
            <a:spLocks noGrp="1"/>
          </p:cNvSpPr>
          <p:nvPr>
            <p:ph type="sldNum" sz="quarter" idx="12"/>
          </p:nvPr>
        </p:nvSpPr>
        <p:spPr/>
        <p:txBody>
          <a:bodyPr/>
          <a:lstStyle/>
          <a:p>
            <a:fld id="{19B12225-5612-419B-A8D5-4B8EEE4C217E}" type="slidenum">
              <a:rPr lang="en-US" smtClean="0"/>
              <a:pPr/>
              <a:t>54</a:t>
            </a:fld>
            <a:endParaRPr lang="en-US"/>
          </a:p>
        </p:txBody>
      </p:sp>
    </p:spTree>
    <p:extLst>
      <p:ext uri="{BB962C8B-B14F-4D97-AF65-F5344CB8AC3E}">
        <p14:creationId xmlns:p14="http://schemas.microsoft.com/office/powerpoint/2010/main" val="21686740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28560</TotalTime>
  <Words>6264</Words>
  <Application>Microsoft Office PowerPoint</Application>
  <PresentationFormat>On-screen Show (4:3)</PresentationFormat>
  <Paragraphs>682</Paragraphs>
  <Slides>54</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Corbel</vt:lpstr>
      <vt:lpstr>Segoe UI</vt:lpstr>
      <vt:lpstr>Wingdings</vt:lpstr>
      <vt:lpstr>Wingdings 2</vt:lpstr>
      <vt:lpstr>Module</vt:lpstr>
      <vt:lpstr> Mining of Massive Datasets: Course Introduction</vt:lpstr>
      <vt:lpstr>What is Data Mining? Knowledge discovery from data </vt:lpstr>
      <vt:lpstr>PowerPoint Presentation</vt:lpstr>
      <vt:lpstr>PowerPoint Presentation</vt:lpstr>
      <vt:lpstr>“Data is the New Oil”  – World Economic Forum</vt:lpstr>
      <vt:lpstr>Data Mining</vt:lpstr>
      <vt:lpstr>What is Data Mining?</vt:lpstr>
      <vt:lpstr>Data Mining Tasks</vt:lpstr>
      <vt:lpstr>Computational Approaches to Data Mining</vt:lpstr>
      <vt:lpstr>Meaningfulness of Analytic Answers</vt:lpstr>
      <vt:lpstr>Meaningfulness of Analytic Answers</vt:lpstr>
      <vt:lpstr>What matters when dealing with data?</vt:lpstr>
      <vt:lpstr>Data Mining: Cultures</vt:lpstr>
      <vt:lpstr>Data Mining</vt:lpstr>
      <vt:lpstr>What will we learn?</vt:lpstr>
      <vt:lpstr>What will we learn?</vt:lpstr>
      <vt:lpstr>How It All Fits Together</vt:lpstr>
      <vt:lpstr>Types of Learning</vt:lpstr>
      <vt:lpstr>Learning Algorithms</vt:lpstr>
      <vt:lpstr>Types: Supervised Learning</vt:lpstr>
      <vt:lpstr>Types: Unsupervised Learning</vt:lpstr>
      <vt:lpstr>Types: Semi-supervised Learning</vt:lpstr>
      <vt:lpstr>Types: Reinforcement Learning</vt:lpstr>
      <vt:lpstr>Algorithms</vt:lpstr>
      <vt:lpstr>Machine learning structure</vt:lpstr>
      <vt:lpstr>Supervised Learning: Uses</vt:lpstr>
      <vt:lpstr>Machine learning structure</vt:lpstr>
      <vt:lpstr>Unsupervised Learning</vt:lpstr>
      <vt:lpstr>Reinforcement Learning</vt:lpstr>
      <vt:lpstr>Important concepts</vt:lpstr>
      <vt:lpstr>TF.IDF Measure</vt:lpstr>
      <vt:lpstr>TF (Term Frequency)</vt:lpstr>
      <vt:lpstr>IDF (Inverse Document Frequency)</vt:lpstr>
      <vt:lpstr>Problem 1 </vt:lpstr>
      <vt:lpstr>Problem 1 </vt:lpstr>
      <vt:lpstr>Problem 2</vt:lpstr>
      <vt:lpstr>Problem 2</vt:lpstr>
      <vt:lpstr>Problem 3</vt:lpstr>
      <vt:lpstr>Problem 3</vt:lpstr>
      <vt:lpstr>Hash Functions</vt:lpstr>
      <vt:lpstr>Hash Functions</vt:lpstr>
      <vt:lpstr>Hash Functions</vt:lpstr>
      <vt:lpstr>Hash Functions</vt:lpstr>
      <vt:lpstr>Indexes</vt:lpstr>
      <vt:lpstr>Indexes</vt:lpstr>
      <vt:lpstr>Secondary Storage</vt:lpstr>
      <vt:lpstr>Secondary Storage</vt:lpstr>
      <vt:lpstr>Base of Natural Logarithms</vt:lpstr>
      <vt:lpstr>Base of Natural Logarithms</vt:lpstr>
      <vt:lpstr>Power Laws</vt:lpstr>
      <vt:lpstr>Power Laws</vt:lpstr>
      <vt:lpstr>Other real-world applications</vt:lpstr>
      <vt:lpstr>Exercises</vt:lpstr>
      <vt:lpstr>PowerPoint Presentation</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niharika panda</cp:lastModifiedBy>
  <cp:revision>1376</cp:revision>
  <cp:lastPrinted>2011-10-20T04:01:43Z</cp:lastPrinted>
  <dcterms:created xsi:type="dcterms:W3CDTF">2009-06-12T17:14:38Z</dcterms:created>
  <dcterms:modified xsi:type="dcterms:W3CDTF">2026-07-28T03:53:33Z</dcterms:modified>
</cp:coreProperties>
</file>